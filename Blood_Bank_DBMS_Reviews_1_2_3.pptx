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c60ac3c-f20d-65a8-5fc4-8ab3276f2924}">
          <p14:sldIdLst>
            <p14:sldId id="256"/>
            <p14:sldId id="257"/>
          </p14:sldIdLst>
        </p14:section>
        <p14:section name="Review 1" id="{0757f80e-0c45-568a-2fdd-879f35ed4df5}">
          <p14:sldIdLst>
            <p14:sldId id="258"/>
            <p14:sldId id="259"/>
            <p14:sldId id="260"/>
            <p14:sldId id="261"/>
            <p14:sldId id="262"/>
          </p14:sldIdLst>
        </p14:section>
        <p14:section name="Review 2" id="{3e23dde5-3879-b3f9-1f57-21829e5ea004}">
          <p14:sldIdLst>
            <p14:sldId id="263"/>
            <p14:sldId id="264"/>
            <p14:sldId id="265"/>
            <p14:sldId id="266"/>
            <p14:sldId id="267"/>
          </p14:sldIdLst>
        </p14:section>
        <p14:section name="Review 3" id="{c3711f2c-fb71-5bfa-0714-fed8d2833be6}">
          <p14:sldIdLst>
            <p14:sldId id="268"/>
            <p14:sldId id="269"/>
          </p14:sldIdLst>
        </p14:section>
        <p14:section name="Wrap-up" id="{4a4a0d70-7da0-47c9-3f49-83e4c02c5119}">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relational database for blood donors, donations, blood unit inventory, hospital requests and issues. This deck covers Review 1 (design), Review 2 (normalisation, SQL, prototype) and Review 3 (application and final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reviews at 5 marks each. Review 1 is design, Review 2 is database implementation, Review 3 is the working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 and spreadsheet records cause fragmented donor data, unknown stock, expiry wastage and slow request handling. The five objectives address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is one blood bank. Four user types: administrator, blood bank staff, hospital representative and donor (record subject).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functional requirements covering donors, donations, inventory, hospitals, requests, issuing and reporting.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DONOR donates (1:N) DONATION; a DONATION yields (1:N) BLOOD_UNITs; a HOSPITAL raises (1:N) BLOOD_REQUESTs; a request is fulfilled by (1:N) BLOOD_ISSUE rows; each BLOOD_UNIT is issued in at most one BLOOD_ISSUE (1:0..1).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tables with proposed data types. PK primary key, FK foreign key, UQ unique. BLOOD_ISSUE.unit_id is FK and UNIQUE so a unit is issued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six tables are in 1NF, 2NF and 3NF. Every non-key attribute depends on the key, the whole key and nothing but the key. Blood group is stored only on DONOR and reached by joins, and last donation date is computed from DONATION rather than stored.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concise dictionary of the most important columns, their types, constraints and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Excerpts of the DDL. Constraints: UNIQUE phone and licence number, CHECK ranges for groups, volume and haemoglobin, UNIQUE unit_id so a unit cannot be issued twice, and a cap on units per request. CHECK constraints are enforced in MySQL 8.0.16 and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representative queries: a join for donor history, an aggregate for stock by blood group and component, a subquery for donor eligibility and a view for units close to expiry. Further queries cover request fulfilment and hospital summaries.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Progress so far and the prototype demo. Screenshots are of the running RedLife Bank Flask application: the reports page with GROUP BY aggregates, the blood requests page and the blood issues ledger.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tiers: browser, Flask and MySQL. Eight modules cover registration, donations, inventory, requests, issuing, search, reports and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order: CRUD on donors, search, a validation failure, the reports, and a deliberate error. Then show the submission package: code, database script, test data, output screens, report, viva.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database and application together make a complete blood bank donation and issue management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p:spPr>
      </p:sp>
      <p:sp>
        <p:nvSpPr>
          <p:cNvPr id="3" name="Text 1"/>
          <p:cNvSpPr/>
          <p:nvPr>
            <p:ph idx="101" type="title" hasCustomPrompt="1"/>
          </p:nvPr>
        </p:nvSpPr>
        <p:spPr>
          <a:xfrm>
            <a:off x="731520" y="1828800"/>
            <a:ext cx="6949440" cy="265176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73152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nvSpPr>
        <p:spPr>
          <a:xfrm>
            <a:off x="548640" y="6473952"/>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Blood Bank Donation and Issue Management System  |  DBMS PBL  |  Reviews 1 to 3</a:t>
            </a:r>
            <a:endParaRPr lang="en-US" sz="1000" dirty="0"/>
          </a:p>
        </p:txBody>
      </p:sp>
      <p:sp>
        <p:nvSpPr>
          <p:cNvPr id="25" name="Slide Number Placeholder 0"/>
          <p:cNvSpPr>
            <a:spLocks noGrp="1"/>
          </p:cNvSpPr>
          <p:nvPr>
            <p:ph type="sldNum" sz="quarter" idx="4294967295"/>
          </p:nvPr>
        </p:nvSpPr>
        <p:spPr>
          <a:xfrm>
            <a:off x="11064240" y="647395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p:spPr>
      </p:sp>
      <p:sp>
        <p:nvSpPr>
          <p:cNvPr id="3" name="Text 1"/>
          <p:cNvSpPr/>
          <p:nvPr>
            <p:ph idx="101" type="title" hasCustomPrompt="1"/>
          </p:nvPr>
        </p:nvSpPr>
        <p:spPr>
          <a:xfrm>
            <a:off x="548640" y="274320"/>
            <a:ext cx="11091672" cy="73152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7395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3.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slideLayout" Target="../slideLayouts/slideLayout3.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3.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slideLayout" Target="../slideLayouts/slideLayout3.xml"/><Relationship Id="rId1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051560"/>
            <a:ext cx="6400800" cy="365760"/>
          </a:xfrm>
          <a:prstGeom prst="rect">
            <a:avLst/>
          </a:prstGeom>
          <a:noFill/>
          <a:ln/>
        </p:spPr>
        <p:txBody>
          <a:bodyPr wrap="square" lIns="0" tIns="0" rIns="0" bIns="0" rtlCol="0" anchor="t"/>
          <a:lstStyle/>
          <a:p>
            <a:pPr indent="0" marL="0">
              <a:buNone/>
            </a:pPr>
            <a:r>
              <a:rPr lang="en-US" sz="1400" b="1" spc="400" kern="0" dirty="0">
                <a:solidFill>
                  <a:schemeClr val="accent4"/>
                </a:solidFill>
              </a:rPr>
              <a:t>DBMS PBL  |  REVIEWS 1, 2 AND 3</a:t>
            </a:r>
            <a:endParaRPr lang="en-US" sz="1400" dirty="0"/>
          </a:p>
        </p:txBody>
      </p:sp>
      <p:sp>
        <p:nvSpPr>
          <p:cNvPr id="3" name="Text 1"/>
          <p:cNvSpPr/>
          <p:nvPr>
            <p:ph idx="101" type="title" hasCustomPrompt="1"/>
          </p:nvPr>
        </p:nvSpPr>
        <p:spPr>
          <a:xfrm>
            <a:off x="731520" y="1828800"/>
            <a:ext cx="6949440" cy="2651760"/>
          </a:xfrm>
          <a:prstGeom prst="rect">
            <a:avLst/>
          </a:prstGeom>
          <a:noFill/>
          <a:ln/>
        </p:spPr>
        <p:txBody>
          <a:bodyPr wrap="square" lIns="0" tIns="0" rIns="0" bIns="0" rtlCol="0" anchor="t"/>
          <a:lstStyle/>
          <a:p>
            <a:pPr algn="l" indent="0" marL="0">
              <a:buNone/>
            </a:pPr>
            <a:r>
              <a:rPr lang="en-US" sz="3400" b="1" dirty="0">
                <a:solidFill>
                  <a:schemeClr val="bg1"/>
                </a:solidFill>
              </a:rPr>
              <a:t>Design and Implementation of a Database Management System for Blood Bank Donation and Issue Management</a:t>
            </a:r>
            <a:endParaRPr lang="en-US" sz="3400" dirty="0"/>
          </a:p>
        </p:txBody>
      </p:sp>
      <p:sp>
        <p:nvSpPr>
          <p:cNvPr id="4" name="Presenter details"/>
          <p:cNvSpPr txBox="1"/>
          <p:nvPr/>
        </p:nvSpPr>
        <p:spPr>
          <a:xfrm>
            <a:off x="731520" y="4846320"/>
            <a:ext cx="6949440" cy="1188720"/>
          </a:xfrm>
          <a:prstGeom prst="rect">
            <a:avLst/>
          </a:prstGeom>
          <a:noFill/>
          <a:ln/>
        </p:spPr>
        <p:txBody>
          <a:bodyPr wrap="square" lIns="0" tIns="0" rIns="0" bIns="0" rtlCol="0" anchor="t"/>
          <a:lstStyle/>
          <a:p>
            <a:pPr indent="0" marL="0">
              <a:buNone/>
            </a:pPr>
            <a:r>
              <a:rPr lang="en-US" sz="2000" b="1" dirty="0">
                <a:solidFill>
                  <a:schemeClr val="bg1"/>
                </a:solidFill>
              </a:rPr>
              <a:t>Andrew Devasani</a:t>
            </a:r>
            <a:endParaRPr lang="en-US" sz="1400" dirty="0"/>
          </a:p>
          <a:p>
            <a:pPr indent="0" marL="0">
              <a:buNone/>
            </a:pPr>
            <a:r>
              <a:rPr lang="en-US" sz="1400" dirty="0">
                <a:solidFill>
                  <a:schemeClr val="bg1"/>
                </a:solidFill>
              </a:rPr>
              <a:t>Roll No. 25WU0102067  |  B.Tech CSE, Rhinos AI/ML</a:t>
            </a:r>
            <a:endParaRPr lang="en-US" sz="1400" dirty="0"/>
          </a:p>
          <a:p>
            <a:pPr indent="0" marL="0">
              <a:buNone/>
            </a:pPr>
            <a:r>
              <a:rPr lang="en-US" sz="1400" dirty="0">
                <a:solidFill>
                  <a:schemeClr val="bg1"/>
                </a:solidFill>
              </a:rPr>
              <a:t>Guide: Prof. Sahiti  |  Woxsen University</a:t>
            </a:r>
            <a:endParaRPr lang="en-US" sz="1400" dirty="0"/>
          </a:p>
        </p:txBody>
      </p:sp>
      <p:sp>
        <p:nvSpPr>
          <p:cNvPr id="5" name="Hero circle"/>
          <p:cNvSpPr/>
          <p:nvPr/>
        </p:nvSpPr>
        <p:spPr>
          <a:xfrm>
            <a:off x="8412480" y="1463040"/>
            <a:ext cx="3383280" cy="3383280"/>
          </a:xfrm>
          <a:prstGeom prst="ellipse">
            <a:avLst/>
          </a:prstGeom>
          <a:solidFill>
            <a:schemeClr val="accent1"/>
          </a:solidFill>
          <a:ln w="12700">
            <a:solidFill>
              <a:schemeClr val="accent1"/>
            </a:solidFill>
            <a:prstDash val="solid"/>
          </a:ln>
        </p:spPr>
      </p:sp>
      <p:pic>
        <p:nvPicPr>
          <p:cNvPr id="6" name="Image 0" descr="Blood drop icon">    </p:cNvPr>
          <p:cNvPicPr>
            <a:picLocks noChangeAspect="1"/>
          </p:cNvPicPr>
          <p:nvPr/>
        </p:nvPicPr>
        <p:blipFill>
          <a:blip r:embed="rId1"/>
          <a:stretch>
            <a:fillRect/>
          </a:stretch>
        </p:blipFill>
        <p:spPr>
          <a:xfrm>
            <a:off x="9418320" y="2377440"/>
            <a:ext cx="1371600" cy="1371600"/>
          </a:xfrm>
          <a:prstGeom prst="rect">
            <a:avLst/>
          </a:prstGeom>
        </p:spPr>
      </p:pic>
      <p:sp>
        <p:nvSpPr>
          <p:cNvPr id="7" name="Orbit circle"/>
          <p:cNvSpPr/>
          <p:nvPr/>
        </p:nvSpPr>
        <p:spPr>
          <a:xfrm>
            <a:off x="8092440" y="4343400"/>
            <a:ext cx="914400" cy="914400"/>
          </a:xfrm>
          <a:prstGeom prst="ellipse">
            <a:avLst/>
          </a:prstGeom>
          <a:solidFill>
            <a:schemeClr val="bg1"/>
          </a:solidFill>
          <a:ln w="12700">
            <a:solidFill>
              <a:schemeClr val="bg1"/>
            </a:solidFill>
            <a:prstDash val="solid"/>
          </a:ln>
        </p:spPr>
      </p:sp>
      <p:pic>
        <p:nvPicPr>
          <p:cNvPr id="8" name="Image 1" descr="icon">    </p:cNvPr>
          <p:cNvPicPr>
            <a:picLocks noChangeAspect="1"/>
          </p:cNvPicPr>
          <p:nvPr/>
        </p:nvPicPr>
        <p:blipFill>
          <a:blip r:embed="rId2"/>
          <a:stretch>
            <a:fillRect/>
          </a:stretch>
        </p:blipFill>
        <p:spPr>
          <a:xfrm>
            <a:off x="8339328" y="4590288"/>
            <a:ext cx="420624" cy="420624"/>
          </a:xfrm>
          <a:prstGeom prst="rect">
            <a:avLst/>
          </a:prstGeom>
        </p:spPr>
      </p:pic>
      <p:sp>
        <p:nvSpPr>
          <p:cNvPr id="9" name="Orbit circle"/>
          <p:cNvSpPr/>
          <p:nvPr/>
        </p:nvSpPr>
        <p:spPr>
          <a:xfrm>
            <a:off x="10881360" y="914400"/>
            <a:ext cx="914400" cy="914400"/>
          </a:xfrm>
          <a:prstGeom prst="ellipse">
            <a:avLst/>
          </a:prstGeom>
          <a:solidFill>
            <a:schemeClr val="bg1"/>
          </a:solidFill>
          <a:ln w="12700">
            <a:solidFill>
              <a:schemeClr val="bg1"/>
            </a:solidFill>
            <a:prstDash val="solid"/>
          </a:ln>
        </p:spPr>
      </p:sp>
      <p:pic>
        <p:nvPicPr>
          <p:cNvPr id="10" name="Image 2" descr="icon">    </p:cNvPr>
          <p:cNvPicPr>
            <a:picLocks noChangeAspect="1"/>
          </p:cNvPicPr>
          <p:nvPr/>
        </p:nvPicPr>
        <p:blipFill>
          <a:blip r:embed="rId3"/>
          <a:stretch>
            <a:fillRect/>
          </a:stretch>
        </p:blipFill>
        <p:spPr>
          <a:xfrm>
            <a:off x="11128248" y="1161288"/>
            <a:ext cx="420624" cy="420624"/>
          </a:xfrm>
          <a:prstGeom prst="rect">
            <a:avLst/>
          </a:prstGeom>
        </p:spPr>
      </p:pic>
      <p:sp>
        <p:nvSpPr>
          <p:cNvPr id="11" name="Orbit circle"/>
          <p:cNvSpPr/>
          <p:nvPr/>
        </p:nvSpPr>
        <p:spPr>
          <a:xfrm>
            <a:off x="10972800" y="4572000"/>
            <a:ext cx="914400" cy="914400"/>
          </a:xfrm>
          <a:prstGeom prst="ellipse">
            <a:avLst/>
          </a:prstGeom>
          <a:solidFill>
            <a:schemeClr val="bg1"/>
          </a:solidFill>
          <a:ln w="12700">
            <a:solidFill>
              <a:schemeClr val="bg1"/>
            </a:solidFill>
            <a:prstDash val="solid"/>
          </a:ln>
        </p:spPr>
      </p:sp>
      <p:pic>
        <p:nvPicPr>
          <p:cNvPr id="12" name="Image 3" descr="icon">    </p:cNvPr>
          <p:cNvPicPr>
            <a:picLocks noChangeAspect="1"/>
          </p:cNvPicPr>
          <p:nvPr/>
        </p:nvPicPr>
        <p:blipFill>
          <a:blip r:embed="rId4"/>
          <a:stretch>
            <a:fillRect/>
          </a:stretch>
        </p:blipFill>
        <p:spPr>
          <a:xfrm>
            <a:off x="11219688" y="4818888"/>
            <a:ext cx="420624" cy="42062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731520"/>
          </a:xfrm>
          <a:prstGeom prst="rect">
            <a:avLst/>
          </a:prstGeom>
          <a:noFill/>
          <a:ln/>
        </p:spPr>
        <p:txBody>
          <a:bodyPr wrap="square" lIns="0" tIns="0" rIns="0" bIns="0" rtlCol="0" anchor="ctr"/>
          <a:lstStyle/>
          <a:p>
            <a:pPr algn="l" indent="0" marL="0">
              <a:buNone/>
            </a:pPr>
            <a:r>
              <a:rPr lang="en-US" sz="3400" b="1" dirty="0">
                <a:solidFill>
                  <a:schemeClr val="tx2"/>
                </a:solidFill>
              </a:rPr>
              <a:t>Review Roadmap</a:t>
            </a:r>
            <a:endParaRPr lang="en-US" sz="3400" dirty="0"/>
          </a:p>
        </p:txBody>
      </p:sp>
      <p:sp>
        <p:nvSpPr>
          <p:cNvPr id="3" name="Roadmap card 1"/>
          <p:cNvSpPr/>
          <p:nvPr/>
        </p:nvSpPr>
        <p:spPr>
          <a:xfrm>
            <a:off x="548640" y="1325880"/>
            <a:ext cx="3566160" cy="3931920"/>
          </a:xfrm>
          <a:prstGeom prst="roundRect">
            <a:avLst>
              <a:gd name="adj" fmla="val 2564"/>
            </a:avLst>
          </a:prstGeom>
          <a:solidFill>
            <a:schemeClr val="bg2"/>
          </a:solidFill>
          <a:ln w="12700">
            <a:solidFill>
              <a:schemeClr val="bg2"/>
            </a:solidFill>
            <a:prstDash val="solid"/>
          </a:ln>
        </p:spPr>
      </p:sp>
      <p:sp>
        <p:nvSpPr>
          <p:cNvPr id="4" name="Analysis and Design circle"/>
          <p:cNvSpPr/>
          <p:nvPr/>
        </p:nvSpPr>
        <p:spPr>
          <a:xfrm>
            <a:off x="868680" y="1645920"/>
            <a:ext cx="868680" cy="868680"/>
          </a:xfrm>
          <a:prstGeom prst="ellipse">
            <a:avLst/>
          </a:prstGeom>
          <a:solidFill>
            <a:schemeClr val="accent1"/>
          </a:solidFill>
          <a:ln w="12700">
            <a:solidFill>
              <a:schemeClr val="accent1"/>
            </a:solidFill>
            <a:prstDash val="solid"/>
          </a:ln>
        </p:spPr>
      </p:sp>
      <p:pic>
        <p:nvPicPr>
          <p:cNvPr id="5" name="Image 0" descr="Analysis and Design">    </p:cNvPr>
          <p:cNvPicPr>
            <a:picLocks noChangeAspect="1"/>
          </p:cNvPicPr>
          <p:nvPr/>
        </p:nvPicPr>
        <p:blipFill>
          <a:blip r:embed="rId1"/>
          <a:stretch>
            <a:fillRect/>
          </a:stretch>
        </p:blipFill>
        <p:spPr>
          <a:xfrm>
            <a:off x="1085850" y="1863090"/>
            <a:ext cx="434340" cy="434340"/>
          </a:xfrm>
          <a:prstGeom prst="rect">
            <a:avLst/>
          </a:prstGeom>
        </p:spPr>
      </p:pic>
      <p:sp>
        <p:nvSpPr>
          <p:cNvPr id="6" name="Text 3"/>
          <p:cNvSpPr txBox="1"/>
          <p:nvPr/>
        </p:nvSpPr>
        <p:spPr>
          <a:xfrm>
            <a:off x="2560320" y="1645920"/>
            <a:ext cx="1280160" cy="868680"/>
          </a:xfrm>
          <a:prstGeom prst="rect">
            <a:avLst/>
          </a:prstGeom>
          <a:noFill/>
          <a:ln/>
        </p:spPr>
        <p:txBody>
          <a:bodyPr wrap="square" lIns="0" tIns="0" rIns="0" bIns="0" rtlCol="0" anchor="ctr"/>
          <a:lstStyle/>
          <a:p>
            <a:pPr algn="r" indent="0" marL="0">
              <a:buNone/>
            </a:pPr>
            <a:r>
              <a:rPr lang="en-US" sz="1800" b="1" dirty="0">
                <a:solidFill>
                  <a:schemeClr val="accent1"/>
                </a:solidFill>
              </a:rPr>
              <a:t>5 marks</a:t>
            </a:r>
            <a:endParaRPr lang="en-US" sz="1800" dirty="0"/>
          </a:p>
        </p:txBody>
      </p:sp>
      <p:sp>
        <p:nvSpPr>
          <p:cNvPr id="7" name="Text 4"/>
          <p:cNvSpPr txBox="1"/>
          <p:nvPr/>
        </p:nvSpPr>
        <p:spPr>
          <a:xfrm>
            <a:off x="868680" y="2743200"/>
            <a:ext cx="301752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REVIEW 1  |  WEEK 7</a:t>
            </a:r>
            <a:endParaRPr lang="en-US" sz="1200" dirty="0"/>
          </a:p>
        </p:txBody>
      </p:sp>
      <p:sp>
        <p:nvSpPr>
          <p:cNvPr id="8" name="Text 5"/>
          <p:cNvSpPr txBox="1"/>
          <p:nvPr/>
        </p:nvSpPr>
        <p:spPr>
          <a:xfrm>
            <a:off x="868680" y="3063240"/>
            <a:ext cx="3017520" cy="457200"/>
          </a:xfrm>
          <a:prstGeom prst="rect">
            <a:avLst/>
          </a:prstGeom>
          <a:noFill/>
          <a:ln/>
        </p:spPr>
        <p:txBody>
          <a:bodyPr wrap="square" lIns="0" tIns="0" rIns="0" bIns="0" rtlCol="0" anchor="t"/>
          <a:lstStyle/>
          <a:p>
            <a:pPr indent="0" marL="0">
              <a:buNone/>
            </a:pPr>
            <a:r>
              <a:rPr lang="en-US" sz="2000" b="1" dirty="0">
                <a:solidFill>
                  <a:schemeClr val="tx2"/>
                </a:solidFill>
              </a:rPr>
              <a:t>Analysis and Design</a:t>
            </a:r>
            <a:endParaRPr lang="en-US" sz="2000" dirty="0"/>
          </a:p>
        </p:txBody>
      </p:sp>
      <p:sp>
        <p:nvSpPr>
          <p:cNvPr id="9" name="Text 6"/>
          <p:cNvSpPr txBox="1"/>
          <p:nvPr/>
        </p:nvSpPr>
        <p:spPr>
          <a:xfrm>
            <a:off x="868680" y="3657600"/>
            <a:ext cx="3017520"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Problem, scope, objectives, users</a:t>
            </a:r>
            <a:endParaRPr lang="en-US" sz="1400" dirty="0"/>
          </a:p>
          <a:p>
            <a:pPr marL="342900" indent="-342900">
              <a:spcAft>
                <a:spcPts val="600"/>
              </a:spcAft>
              <a:buSzPct val="100000"/>
              <a:buChar char="•"/>
            </a:pPr>
            <a:r>
              <a:rPr lang="en-US" sz="1400" dirty="0">
                <a:solidFill>
                  <a:schemeClr val="tx1"/>
                </a:solidFill>
              </a:rPr>
              <a:t>Functional requirements</a:t>
            </a:r>
            <a:endParaRPr lang="en-US" sz="1400" dirty="0"/>
          </a:p>
          <a:p>
            <a:pPr marL="342900" indent="-342900">
              <a:spcAft>
                <a:spcPts val="600"/>
              </a:spcAft>
              <a:buSzPct val="100000"/>
              <a:buChar char="•"/>
            </a:pPr>
            <a:r>
              <a:rPr lang="en-US" sz="1400" dirty="0">
                <a:solidFill>
                  <a:schemeClr val="tx1"/>
                </a:solidFill>
              </a:rPr>
              <a:t>ER diagram and initial schema</a:t>
            </a:r>
            <a:endParaRPr lang="en-US" sz="1400" dirty="0"/>
          </a:p>
        </p:txBody>
      </p:sp>
      <p:sp>
        <p:nvSpPr>
          <p:cNvPr id="10" name="Roadmap card 2"/>
          <p:cNvSpPr/>
          <p:nvPr/>
        </p:nvSpPr>
        <p:spPr>
          <a:xfrm>
            <a:off x="4311396" y="1325880"/>
            <a:ext cx="3566160" cy="3931920"/>
          </a:xfrm>
          <a:prstGeom prst="roundRect">
            <a:avLst>
              <a:gd name="adj" fmla="val 2564"/>
            </a:avLst>
          </a:prstGeom>
          <a:solidFill>
            <a:schemeClr val="bg2"/>
          </a:solidFill>
          <a:ln w="12700">
            <a:solidFill>
              <a:schemeClr val="bg2"/>
            </a:solidFill>
            <a:prstDash val="solid"/>
          </a:ln>
        </p:spPr>
      </p:sp>
      <p:sp>
        <p:nvSpPr>
          <p:cNvPr id="11" name="Normalisation and SQL circle"/>
          <p:cNvSpPr/>
          <p:nvPr/>
        </p:nvSpPr>
        <p:spPr>
          <a:xfrm>
            <a:off x="4631436" y="1645920"/>
            <a:ext cx="868680" cy="868680"/>
          </a:xfrm>
          <a:prstGeom prst="ellipse">
            <a:avLst/>
          </a:prstGeom>
          <a:solidFill>
            <a:schemeClr val="accent1"/>
          </a:solidFill>
          <a:ln w="12700">
            <a:solidFill>
              <a:schemeClr val="accent1"/>
            </a:solidFill>
            <a:prstDash val="solid"/>
          </a:ln>
        </p:spPr>
      </p:sp>
      <p:pic>
        <p:nvPicPr>
          <p:cNvPr id="12" name="Image 1" descr="Normalisation and SQL">    </p:cNvPr>
          <p:cNvPicPr>
            <a:picLocks noChangeAspect="1"/>
          </p:cNvPicPr>
          <p:nvPr/>
        </p:nvPicPr>
        <p:blipFill>
          <a:blip r:embed="rId2"/>
          <a:stretch>
            <a:fillRect/>
          </a:stretch>
        </p:blipFill>
        <p:spPr>
          <a:xfrm>
            <a:off x="4848606" y="1863090"/>
            <a:ext cx="434340" cy="434340"/>
          </a:xfrm>
          <a:prstGeom prst="rect">
            <a:avLst/>
          </a:prstGeom>
        </p:spPr>
      </p:pic>
      <p:sp>
        <p:nvSpPr>
          <p:cNvPr id="13" name="Text 9"/>
          <p:cNvSpPr txBox="1"/>
          <p:nvPr/>
        </p:nvSpPr>
        <p:spPr>
          <a:xfrm>
            <a:off x="6323076" y="1645920"/>
            <a:ext cx="1280160" cy="868680"/>
          </a:xfrm>
          <a:prstGeom prst="rect">
            <a:avLst/>
          </a:prstGeom>
          <a:noFill/>
          <a:ln/>
        </p:spPr>
        <p:txBody>
          <a:bodyPr wrap="square" lIns="0" tIns="0" rIns="0" bIns="0" rtlCol="0" anchor="ctr"/>
          <a:lstStyle/>
          <a:p>
            <a:pPr algn="r" indent="0" marL="0">
              <a:buNone/>
            </a:pPr>
            <a:r>
              <a:rPr lang="en-US" sz="1800" b="1" dirty="0">
                <a:solidFill>
                  <a:schemeClr val="accent1"/>
                </a:solidFill>
              </a:rPr>
              <a:t>5 marks</a:t>
            </a:r>
            <a:endParaRPr lang="en-US" sz="1800" dirty="0"/>
          </a:p>
        </p:txBody>
      </p:sp>
      <p:sp>
        <p:nvSpPr>
          <p:cNvPr id="14" name="Text 10"/>
          <p:cNvSpPr txBox="1"/>
          <p:nvPr/>
        </p:nvSpPr>
        <p:spPr>
          <a:xfrm>
            <a:off x="4631436" y="2743200"/>
            <a:ext cx="301752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REVIEW 2  |  WEEK 11</a:t>
            </a:r>
            <a:endParaRPr lang="en-US" sz="1200" dirty="0"/>
          </a:p>
        </p:txBody>
      </p:sp>
      <p:sp>
        <p:nvSpPr>
          <p:cNvPr id="15" name="Text 11"/>
          <p:cNvSpPr txBox="1"/>
          <p:nvPr/>
        </p:nvSpPr>
        <p:spPr>
          <a:xfrm>
            <a:off x="4631436" y="3063240"/>
            <a:ext cx="3017520" cy="457200"/>
          </a:xfrm>
          <a:prstGeom prst="rect">
            <a:avLst/>
          </a:prstGeom>
          <a:noFill/>
          <a:ln/>
        </p:spPr>
        <p:txBody>
          <a:bodyPr wrap="square" lIns="0" tIns="0" rIns="0" bIns="0" rtlCol="0" anchor="t"/>
          <a:lstStyle/>
          <a:p>
            <a:pPr indent="0" marL="0">
              <a:buNone/>
            </a:pPr>
            <a:r>
              <a:rPr lang="en-US" sz="2000" b="1" dirty="0">
                <a:solidFill>
                  <a:schemeClr val="tx2"/>
                </a:solidFill>
              </a:rPr>
              <a:t>Normalisation and SQL</a:t>
            </a:r>
            <a:endParaRPr lang="en-US" sz="2000" dirty="0"/>
          </a:p>
        </p:txBody>
      </p:sp>
      <p:sp>
        <p:nvSpPr>
          <p:cNvPr id="16" name="Text 12"/>
          <p:cNvSpPr txBox="1"/>
          <p:nvPr/>
        </p:nvSpPr>
        <p:spPr>
          <a:xfrm>
            <a:off x="4631436" y="3657600"/>
            <a:ext cx="3017520"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3NF design and data dictionary</a:t>
            </a:r>
            <a:endParaRPr lang="en-US" sz="1400" dirty="0"/>
          </a:p>
          <a:p>
            <a:pPr marL="342900" indent="-342900">
              <a:spcAft>
                <a:spcPts val="600"/>
              </a:spcAft>
              <a:buSzPct val="100000"/>
              <a:buChar char="•"/>
            </a:pPr>
            <a:r>
              <a:rPr lang="en-US" sz="1400" dirty="0">
                <a:solidFill>
                  <a:schemeClr val="tx1"/>
                </a:solidFill>
              </a:rPr>
              <a:t>DDL with integrity constraints</a:t>
            </a:r>
            <a:endParaRPr lang="en-US" sz="1400" dirty="0"/>
          </a:p>
          <a:p>
            <a:pPr marL="342900" indent="-342900">
              <a:spcAft>
                <a:spcPts val="600"/>
              </a:spcAft>
              <a:buSzPct val="100000"/>
              <a:buChar char="•"/>
            </a:pPr>
            <a:r>
              <a:rPr lang="en-US" sz="1400" dirty="0">
                <a:solidFill>
                  <a:schemeClr val="tx1"/>
                </a:solidFill>
              </a:rPr>
              <a:t>Sample data, queries, views, prototype</a:t>
            </a:r>
            <a:endParaRPr lang="en-US" sz="1400" dirty="0"/>
          </a:p>
        </p:txBody>
      </p:sp>
      <p:sp>
        <p:nvSpPr>
          <p:cNvPr id="17" name="Roadmap card 3"/>
          <p:cNvSpPr/>
          <p:nvPr/>
        </p:nvSpPr>
        <p:spPr>
          <a:xfrm>
            <a:off x="8074152" y="1325880"/>
            <a:ext cx="3566160" cy="3931920"/>
          </a:xfrm>
          <a:prstGeom prst="roundRect">
            <a:avLst>
              <a:gd name="adj" fmla="val 2564"/>
            </a:avLst>
          </a:prstGeom>
          <a:solidFill>
            <a:schemeClr val="bg2"/>
          </a:solidFill>
          <a:ln w="12700">
            <a:solidFill>
              <a:schemeClr val="bg2"/>
            </a:solidFill>
            <a:prstDash val="solid"/>
          </a:ln>
        </p:spPr>
      </p:sp>
      <p:sp>
        <p:nvSpPr>
          <p:cNvPr id="18" name="Application and Demo circle"/>
          <p:cNvSpPr/>
          <p:nvPr/>
        </p:nvSpPr>
        <p:spPr>
          <a:xfrm>
            <a:off x="8394192" y="1645920"/>
            <a:ext cx="868680" cy="868680"/>
          </a:xfrm>
          <a:prstGeom prst="ellipse">
            <a:avLst/>
          </a:prstGeom>
          <a:solidFill>
            <a:schemeClr val="accent1"/>
          </a:solidFill>
          <a:ln w="12700">
            <a:solidFill>
              <a:schemeClr val="accent1"/>
            </a:solidFill>
            <a:prstDash val="solid"/>
          </a:ln>
        </p:spPr>
      </p:sp>
      <p:pic>
        <p:nvPicPr>
          <p:cNvPr id="19" name="Image 2" descr="Application and Demo">    </p:cNvPr>
          <p:cNvPicPr>
            <a:picLocks noChangeAspect="1"/>
          </p:cNvPicPr>
          <p:nvPr/>
        </p:nvPicPr>
        <p:blipFill>
          <a:blip r:embed="rId3"/>
          <a:stretch>
            <a:fillRect/>
          </a:stretch>
        </p:blipFill>
        <p:spPr>
          <a:xfrm>
            <a:off x="8611362" y="1863090"/>
            <a:ext cx="434340" cy="434340"/>
          </a:xfrm>
          <a:prstGeom prst="rect">
            <a:avLst/>
          </a:prstGeom>
        </p:spPr>
      </p:pic>
      <p:sp>
        <p:nvSpPr>
          <p:cNvPr id="20" name="Text 15"/>
          <p:cNvSpPr txBox="1"/>
          <p:nvPr/>
        </p:nvSpPr>
        <p:spPr>
          <a:xfrm>
            <a:off x="10085832" y="1645920"/>
            <a:ext cx="1280160" cy="868680"/>
          </a:xfrm>
          <a:prstGeom prst="rect">
            <a:avLst/>
          </a:prstGeom>
          <a:noFill/>
          <a:ln/>
        </p:spPr>
        <p:txBody>
          <a:bodyPr wrap="square" lIns="0" tIns="0" rIns="0" bIns="0" rtlCol="0" anchor="ctr"/>
          <a:lstStyle/>
          <a:p>
            <a:pPr algn="r" indent="0" marL="0">
              <a:buNone/>
            </a:pPr>
            <a:r>
              <a:rPr lang="en-US" sz="1800" b="1" dirty="0">
                <a:solidFill>
                  <a:schemeClr val="accent1"/>
                </a:solidFill>
              </a:rPr>
              <a:t>5 marks</a:t>
            </a:r>
            <a:endParaRPr lang="en-US" sz="1800" dirty="0"/>
          </a:p>
        </p:txBody>
      </p:sp>
      <p:sp>
        <p:nvSpPr>
          <p:cNvPr id="21" name="Text 16"/>
          <p:cNvSpPr txBox="1"/>
          <p:nvPr/>
        </p:nvSpPr>
        <p:spPr>
          <a:xfrm>
            <a:off x="8394192" y="2743200"/>
            <a:ext cx="3017520" cy="274320"/>
          </a:xfrm>
          <a:prstGeom prst="rect">
            <a:avLst/>
          </a:prstGeom>
          <a:noFill/>
          <a:ln/>
        </p:spPr>
        <p:txBody>
          <a:bodyPr wrap="square" lIns="0" tIns="0" rIns="0" bIns="0" rtlCol="0" anchor="t"/>
          <a:lstStyle/>
          <a:p>
            <a:pPr indent="0" marL="0">
              <a:buNone/>
            </a:pPr>
            <a:r>
              <a:rPr lang="en-US" sz="1200" b="1" spc="200" kern="0" dirty="0">
                <a:solidFill>
                  <a:schemeClr val="accent5"/>
                </a:solidFill>
              </a:rPr>
              <a:t>REVIEW 3  |  WEEK 16</a:t>
            </a:r>
            <a:endParaRPr lang="en-US" sz="1200" dirty="0"/>
          </a:p>
        </p:txBody>
      </p:sp>
      <p:sp>
        <p:nvSpPr>
          <p:cNvPr id="22" name="Text 17"/>
          <p:cNvSpPr txBox="1"/>
          <p:nvPr/>
        </p:nvSpPr>
        <p:spPr>
          <a:xfrm>
            <a:off x="8394192" y="3063240"/>
            <a:ext cx="3017520" cy="457200"/>
          </a:xfrm>
          <a:prstGeom prst="rect">
            <a:avLst/>
          </a:prstGeom>
          <a:noFill/>
          <a:ln/>
        </p:spPr>
        <p:txBody>
          <a:bodyPr wrap="square" lIns="0" tIns="0" rIns="0" bIns="0" rtlCol="0" anchor="t"/>
          <a:lstStyle/>
          <a:p>
            <a:pPr indent="0" marL="0">
              <a:buNone/>
            </a:pPr>
            <a:r>
              <a:rPr lang="en-US" sz="2000" b="1" dirty="0">
                <a:solidFill>
                  <a:schemeClr val="tx2"/>
                </a:solidFill>
              </a:rPr>
              <a:t>Application and Demo</a:t>
            </a:r>
            <a:endParaRPr lang="en-US" sz="2000" dirty="0"/>
          </a:p>
        </p:txBody>
      </p:sp>
      <p:sp>
        <p:nvSpPr>
          <p:cNvPr id="23" name="Text 18"/>
          <p:cNvSpPr txBox="1"/>
          <p:nvPr/>
        </p:nvSpPr>
        <p:spPr>
          <a:xfrm>
            <a:off x="8394192" y="3657600"/>
            <a:ext cx="3017520"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Flask and MySQL application</a:t>
            </a:r>
            <a:endParaRPr lang="en-US" sz="1400" dirty="0"/>
          </a:p>
          <a:p>
            <a:pPr marL="342900" indent="-342900">
              <a:spcAft>
                <a:spcPts val="600"/>
              </a:spcAft>
              <a:buSzPct val="100000"/>
              <a:buChar char="•"/>
            </a:pPr>
            <a:r>
              <a:rPr lang="en-US" sz="1400" dirty="0">
                <a:solidFill>
                  <a:schemeClr val="tx1"/>
                </a:solidFill>
              </a:rPr>
              <a:t>CRUD, search, validation, reports</a:t>
            </a:r>
            <a:endParaRPr lang="en-US" sz="1400" dirty="0"/>
          </a:p>
          <a:p>
            <a:pPr marL="342900" indent="-342900">
              <a:spcAft>
                <a:spcPts val="600"/>
              </a:spcAft>
              <a:buSzPct val="100000"/>
              <a:buChar char="•"/>
            </a:pPr>
            <a:r>
              <a:rPr lang="en-US" sz="1400" dirty="0">
                <a:solidFill>
                  <a:schemeClr val="tx1"/>
                </a:solidFill>
              </a:rPr>
              <a:t>Source code, report and viva</a:t>
            </a:r>
            <a:endParaRPr lang="en-US" sz="1400" dirty="0"/>
          </a:p>
        </p:txBody>
      </p:sp>
      <p:sp>
        <p:nvSpPr>
          <p:cNvPr id="24" name="Total chip"/>
          <p:cNvSpPr/>
          <p:nvPr/>
        </p:nvSpPr>
        <p:spPr>
          <a:xfrm>
            <a:off x="548640" y="5577840"/>
            <a:ext cx="4937760" cy="548640"/>
          </a:xfrm>
          <a:prstGeom prst="roundRect">
            <a:avLst>
              <a:gd name="adj" fmla="val 50000"/>
            </a:avLst>
          </a:prstGeom>
          <a:solidFill>
            <a:schemeClr val="accent1"/>
          </a:solidFill>
          <a:ln w="12700">
            <a:solidFill>
              <a:schemeClr val="accent1"/>
            </a:solidFill>
            <a:prstDash val="solid"/>
          </a:ln>
        </p:spPr>
      </p:sp>
      <p:sp>
        <p:nvSpPr>
          <p:cNvPr id="25" name="Text 20"/>
          <p:cNvSpPr txBox="1"/>
          <p:nvPr/>
        </p:nvSpPr>
        <p:spPr>
          <a:xfrm>
            <a:off x="548640" y="5577840"/>
            <a:ext cx="4937760" cy="548640"/>
          </a:xfrm>
          <a:prstGeom prst="rect">
            <a:avLst/>
          </a:prstGeom>
          <a:noFill/>
          <a:ln/>
        </p:spPr>
        <p:txBody>
          <a:bodyPr wrap="square" lIns="0" tIns="0" rIns="0" bIns="0" rtlCol="0" anchor="ctr"/>
          <a:lstStyle/>
          <a:p>
            <a:pPr algn="ctr" indent="0" marL="0">
              <a:buNone/>
            </a:pPr>
            <a:r>
              <a:rPr lang="en-US" sz="1600" b="1" dirty="0">
                <a:solidFill>
                  <a:schemeClr val="bg1"/>
                </a:solidFill>
              </a:rPr>
              <a:t>3 reviews  |  15 slides  |  15 marks in total</a:t>
            </a:r>
            <a:endParaRPr lang="en-US" sz="1600" dirty="0"/>
          </a:p>
        </p:txBody>
      </p:sp>
      <p:sp>
        <p:nvSpPr>
          <p:cNvPr id="25" name="Slide Number Placeholder 0"/>
          <p:cNvSpPr>
            <a:spLocks noGrp="1"/>
          </p:cNvSpPr>
          <p:nvPr>
            <p:ph type="sldNum" sz="quarter" idx="4294967295"/>
          </p:nvPr>
        </p:nvSpPr>
        <p:spPr>
          <a:xfrm>
            <a:off x="11064240" y="647395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731520"/>
          </a:xfrm>
          <a:prstGeom prst="rect">
            <a:avLst/>
          </a:prstGeom>
          <a:noFill/>
          <a:ln/>
        </p:spPr>
        <p:txBody>
          <a:bodyPr wrap="square" lIns="0" tIns="0" rIns="0" bIns="0" rtlCol="0" anchor="ctr"/>
          <a:lstStyle/>
          <a:p>
            <a:pPr algn="l" indent="0" marL="0">
              <a:buNone/>
            </a:pPr>
            <a:r>
              <a:rPr lang="en-US" sz="3400" b="1" dirty="0">
                <a:solidFill>
                  <a:schemeClr val="tx2"/>
                </a:solidFill>
              </a:rPr>
              <a:t>Problem and Objectives</a:t>
            </a:r>
            <a:endParaRPr lang="en-US" sz="3400" dirty="0"/>
          </a:p>
        </p:txBody>
      </p:sp>
      <p:sp>
        <p:nvSpPr>
          <p:cNvPr id="3" name="Review tag"/>
          <p:cNvSpPr/>
          <p:nvPr/>
        </p:nvSpPr>
        <p:spPr>
          <a:xfrm>
            <a:off x="9079992" y="420624"/>
            <a:ext cx="2560320" cy="329184"/>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9079992" y="420624"/>
            <a:ext cx="2560320" cy="329184"/>
          </a:xfrm>
          <a:prstGeom prst="rect">
            <a:avLst/>
          </a:prstGeom>
          <a:noFill/>
          <a:ln/>
        </p:spPr>
        <p:txBody>
          <a:bodyPr wrap="square" lIns="0" tIns="0" rIns="0" bIns="0" rtlCol="0" anchor="ctr"/>
          <a:lstStyle/>
          <a:p>
            <a:pPr algn="ctr" indent="0" marL="0">
              <a:buNone/>
            </a:pPr>
            <a:r>
              <a:rPr lang="en-US" sz="1200" b="1" spc="100" kern="0" dirty="0">
                <a:solidFill>
                  <a:schemeClr val="accent1"/>
                </a:solidFill>
              </a:rPr>
              <a:t>REVIEW 1  |  WEEK 7</a:t>
            </a:r>
            <a:endParaRPr lang="en-US" sz="1200" dirty="0"/>
          </a:p>
        </p:txBody>
      </p:sp>
      <p:sp>
        <p:nvSpPr>
          <p:cNvPr id="5" name="Text 3"/>
          <p:cNvSpPr txBox="1"/>
          <p:nvPr/>
        </p:nvSpPr>
        <p:spPr>
          <a:xfrm>
            <a:off x="548640" y="1188720"/>
            <a:ext cx="5303520" cy="320040"/>
          </a:xfrm>
          <a:prstGeom prst="rect">
            <a:avLst/>
          </a:prstGeom>
          <a:noFill/>
          <a:ln/>
        </p:spPr>
        <p:txBody>
          <a:bodyPr wrap="square" lIns="0" tIns="0" rIns="0" bIns="0" rtlCol="0" anchor="t"/>
          <a:lstStyle/>
          <a:p>
            <a:pPr indent="0" marL="0">
              <a:buNone/>
            </a:pPr>
            <a:r>
              <a:rPr lang="en-US" sz="1400" b="1" spc="200" kern="0" dirty="0">
                <a:solidFill>
                  <a:schemeClr val="accent5"/>
                </a:solidFill>
              </a:rPr>
              <a:t>THE PROBLEM</a:t>
            </a:r>
            <a:endParaRPr lang="en-US" sz="1400" dirty="0"/>
          </a:p>
        </p:txBody>
      </p:sp>
      <p:sp>
        <p:nvSpPr>
          <p:cNvPr id="6" name="Text 4"/>
          <p:cNvSpPr txBox="1"/>
          <p:nvPr/>
        </p:nvSpPr>
        <p:spPr>
          <a:xfrm>
            <a:off x="6309360" y="1188720"/>
            <a:ext cx="5303520" cy="320040"/>
          </a:xfrm>
          <a:prstGeom prst="rect">
            <a:avLst/>
          </a:prstGeom>
          <a:noFill/>
          <a:ln/>
        </p:spPr>
        <p:txBody>
          <a:bodyPr wrap="square" lIns="0" tIns="0" rIns="0" bIns="0" rtlCol="0" anchor="t"/>
          <a:lstStyle/>
          <a:p>
            <a:pPr indent="0" marL="0">
              <a:buNone/>
            </a:pPr>
            <a:r>
              <a:rPr lang="en-US" sz="1400" b="1" spc="200" kern="0" dirty="0">
                <a:solidFill>
                  <a:schemeClr val="accent1"/>
                </a:solidFill>
              </a:rPr>
              <a:t>OBJECTIVES</a:t>
            </a:r>
            <a:endParaRPr lang="en-US" sz="1400" dirty="0"/>
          </a:p>
        </p:txBody>
      </p:sp>
      <p:sp>
        <p:nvSpPr>
          <p:cNvPr id="7" name="Problem 1"/>
          <p:cNvSpPr/>
          <p:nvPr/>
        </p:nvSpPr>
        <p:spPr>
          <a:xfrm>
            <a:off x="548640" y="1645920"/>
            <a:ext cx="5303520" cy="914400"/>
          </a:xfrm>
          <a:prstGeom prst="roundRect">
            <a:avLst>
              <a:gd name="adj" fmla="val 10000"/>
            </a:avLst>
          </a:prstGeom>
          <a:solidFill>
            <a:schemeClr val="bg2"/>
          </a:solidFill>
          <a:ln w="12700">
            <a:solidFill>
              <a:schemeClr val="bg2"/>
            </a:solidFill>
            <a:prstDash val="solid"/>
          </a:ln>
        </p:spPr>
      </p:sp>
      <p:sp>
        <p:nvSpPr>
          <p:cNvPr id="8" name="Text 6"/>
          <p:cNvSpPr txBox="1"/>
          <p:nvPr/>
        </p:nvSpPr>
        <p:spPr>
          <a:xfrm>
            <a:off x="777240" y="1645920"/>
            <a:ext cx="4846320" cy="914400"/>
          </a:xfrm>
          <a:prstGeom prst="rect">
            <a:avLst/>
          </a:prstGeom>
          <a:noFill/>
          <a:ln/>
        </p:spPr>
        <p:txBody>
          <a:bodyPr wrap="square" lIns="0" tIns="0" rIns="0" bIns="0" rtlCol="0" anchor="ctr"/>
          <a:lstStyle/>
          <a:p>
            <a:pPr indent="0" marL="0">
              <a:buNone/>
            </a:pPr>
            <a:r>
              <a:rPr lang="en-US" sz="1400" dirty="0">
                <a:solidFill>
                  <a:schemeClr val="tx1"/>
                </a:solidFill>
              </a:rPr>
              <a:t>Donor and donation records are scattered across registers and sheets</a:t>
            </a:r>
            <a:endParaRPr lang="en-US" sz="1400" dirty="0"/>
          </a:p>
        </p:txBody>
      </p:sp>
      <p:sp>
        <p:nvSpPr>
          <p:cNvPr id="9" name="Problem 2"/>
          <p:cNvSpPr/>
          <p:nvPr/>
        </p:nvSpPr>
        <p:spPr>
          <a:xfrm>
            <a:off x="548640" y="2743200"/>
            <a:ext cx="5303520" cy="914400"/>
          </a:xfrm>
          <a:prstGeom prst="roundRect">
            <a:avLst>
              <a:gd name="adj" fmla="val 10000"/>
            </a:avLst>
          </a:prstGeom>
          <a:solidFill>
            <a:schemeClr val="bg2"/>
          </a:solidFill>
          <a:ln w="12700">
            <a:solidFill>
              <a:schemeClr val="bg2"/>
            </a:solidFill>
            <a:prstDash val="solid"/>
          </a:ln>
        </p:spPr>
      </p:sp>
      <p:sp>
        <p:nvSpPr>
          <p:cNvPr id="10" name="Text 8"/>
          <p:cNvSpPr txBox="1"/>
          <p:nvPr/>
        </p:nvSpPr>
        <p:spPr>
          <a:xfrm>
            <a:off x="777240" y="2743200"/>
            <a:ext cx="4846320" cy="914400"/>
          </a:xfrm>
          <a:prstGeom prst="rect">
            <a:avLst/>
          </a:prstGeom>
          <a:noFill/>
          <a:ln/>
        </p:spPr>
        <p:txBody>
          <a:bodyPr wrap="square" lIns="0" tIns="0" rIns="0" bIns="0" rtlCol="0" anchor="ctr"/>
          <a:lstStyle/>
          <a:p>
            <a:pPr indent="0" marL="0">
              <a:buNone/>
            </a:pPr>
            <a:r>
              <a:rPr lang="en-US" sz="1400" dirty="0">
                <a:solidFill>
                  <a:schemeClr val="tx1"/>
                </a:solidFill>
              </a:rPr>
              <a:t>No live view of stock by blood group and component</a:t>
            </a:r>
            <a:endParaRPr lang="en-US" sz="1400" dirty="0"/>
          </a:p>
        </p:txBody>
      </p:sp>
      <p:sp>
        <p:nvSpPr>
          <p:cNvPr id="11" name="Problem 3"/>
          <p:cNvSpPr/>
          <p:nvPr/>
        </p:nvSpPr>
        <p:spPr>
          <a:xfrm>
            <a:off x="548640" y="3840480"/>
            <a:ext cx="5303520" cy="914400"/>
          </a:xfrm>
          <a:prstGeom prst="roundRect">
            <a:avLst>
              <a:gd name="adj" fmla="val 10000"/>
            </a:avLst>
          </a:prstGeom>
          <a:solidFill>
            <a:schemeClr val="bg2"/>
          </a:solidFill>
          <a:ln w="12700">
            <a:solidFill>
              <a:schemeClr val="bg2"/>
            </a:solidFill>
            <a:prstDash val="solid"/>
          </a:ln>
        </p:spPr>
      </p:sp>
      <p:sp>
        <p:nvSpPr>
          <p:cNvPr id="12" name="Text 10"/>
          <p:cNvSpPr txBox="1"/>
          <p:nvPr/>
        </p:nvSpPr>
        <p:spPr>
          <a:xfrm>
            <a:off x="777240" y="3840480"/>
            <a:ext cx="4846320" cy="914400"/>
          </a:xfrm>
          <a:prstGeom prst="rect">
            <a:avLst/>
          </a:prstGeom>
          <a:noFill/>
          <a:ln/>
        </p:spPr>
        <p:txBody>
          <a:bodyPr wrap="square" lIns="0" tIns="0" rIns="0" bIns="0" rtlCol="0" anchor="ctr"/>
          <a:lstStyle/>
          <a:p>
            <a:pPr indent="0" marL="0">
              <a:buNone/>
            </a:pPr>
            <a:r>
              <a:rPr lang="en-US" sz="1400" dirty="0">
                <a:solidFill>
                  <a:schemeClr val="tx1"/>
                </a:solidFill>
              </a:rPr>
              <a:t>Expired units are found late, so blood is wasted</a:t>
            </a:r>
            <a:endParaRPr lang="en-US" sz="1400" dirty="0"/>
          </a:p>
        </p:txBody>
      </p:sp>
      <p:sp>
        <p:nvSpPr>
          <p:cNvPr id="13" name="Problem 4"/>
          <p:cNvSpPr/>
          <p:nvPr/>
        </p:nvSpPr>
        <p:spPr>
          <a:xfrm>
            <a:off x="548640" y="4937760"/>
            <a:ext cx="5303520" cy="914400"/>
          </a:xfrm>
          <a:prstGeom prst="roundRect">
            <a:avLst>
              <a:gd name="adj" fmla="val 10000"/>
            </a:avLst>
          </a:prstGeom>
          <a:solidFill>
            <a:schemeClr val="bg2"/>
          </a:solidFill>
          <a:ln w="12700">
            <a:solidFill>
              <a:schemeClr val="bg2"/>
            </a:solidFill>
            <a:prstDash val="solid"/>
          </a:ln>
        </p:spPr>
      </p:sp>
      <p:sp>
        <p:nvSpPr>
          <p:cNvPr id="14" name="Text 12"/>
          <p:cNvSpPr txBox="1"/>
          <p:nvPr/>
        </p:nvSpPr>
        <p:spPr>
          <a:xfrm>
            <a:off x="777240" y="4937760"/>
            <a:ext cx="4846320" cy="914400"/>
          </a:xfrm>
          <a:prstGeom prst="rect">
            <a:avLst/>
          </a:prstGeom>
          <a:noFill/>
          <a:ln/>
        </p:spPr>
        <p:txBody>
          <a:bodyPr wrap="square" lIns="0" tIns="0" rIns="0" bIns="0" rtlCol="0" anchor="ctr"/>
          <a:lstStyle/>
          <a:p>
            <a:pPr indent="0" marL="0">
              <a:buNone/>
            </a:pPr>
            <a:r>
              <a:rPr lang="en-US" sz="1400" dirty="0">
                <a:solidFill>
                  <a:schemeClr val="tx1"/>
                </a:solidFill>
              </a:rPr>
              <a:t>Hospital requests are matched to units slowly and with errors</a:t>
            </a:r>
            <a:endParaRPr lang="en-US" sz="1400" dirty="0"/>
          </a:p>
        </p:txBody>
      </p:sp>
      <p:sp>
        <p:nvSpPr>
          <p:cNvPr id="15" name="Objective number"/>
          <p:cNvSpPr/>
          <p:nvPr/>
        </p:nvSpPr>
        <p:spPr>
          <a:xfrm>
            <a:off x="6309360" y="1691640"/>
            <a:ext cx="548640" cy="548640"/>
          </a:xfrm>
          <a:prstGeom prst="ellipse">
            <a:avLst/>
          </a:prstGeom>
          <a:solidFill>
            <a:schemeClr val="accent1"/>
          </a:solidFill>
          <a:ln w="12700">
            <a:solidFill>
              <a:schemeClr val="accent1"/>
            </a:solidFill>
            <a:prstDash val="solid"/>
          </a:ln>
        </p:spPr>
      </p:sp>
      <p:sp>
        <p:nvSpPr>
          <p:cNvPr id="16" name="Text 14"/>
          <p:cNvSpPr txBox="1"/>
          <p:nvPr/>
        </p:nvSpPr>
        <p:spPr>
          <a:xfrm>
            <a:off x="6309360" y="16916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7" name="Text 15"/>
          <p:cNvSpPr txBox="1"/>
          <p:nvPr/>
        </p:nvSpPr>
        <p:spPr>
          <a:xfrm>
            <a:off x="7086600" y="1645920"/>
            <a:ext cx="4572000" cy="640080"/>
          </a:xfrm>
          <a:prstGeom prst="rect">
            <a:avLst/>
          </a:prstGeom>
          <a:noFill/>
          <a:ln/>
        </p:spPr>
        <p:txBody>
          <a:bodyPr wrap="square" lIns="0" tIns="0" rIns="0" bIns="0" rtlCol="0" anchor="ctr"/>
          <a:lstStyle/>
          <a:p>
            <a:pPr indent="0" marL="0">
              <a:buNone/>
            </a:pPr>
            <a:r>
              <a:rPr lang="en-US" sz="1400" dirty="0">
                <a:solidFill>
                  <a:schemeClr val="tx1"/>
                </a:solidFill>
              </a:rPr>
              <a:t>Model donors, donations, units, hospitals, requests and issues relationally</a:t>
            </a:r>
            <a:endParaRPr lang="en-US" sz="1400" dirty="0"/>
          </a:p>
        </p:txBody>
      </p:sp>
      <p:sp>
        <p:nvSpPr>
          <p:cNvPr id="18" name="Objective number"/>
          <p:cNvSpPr/>
          <p:nvPr/>
        </p:nvSpPr>
        <p:spPr>
          <a:xfrm>
            <a:off x="6309360" y="2569464"/>
            <a:ext cx="548640" cy="548640"/>
          </a:xfrm>
          <a:prstGeom prst="ellipse">
            <a:avLst/>
          </a:prstGeom>
          <a:solidFill>
            <a:schemeClr val="accent1"/>
          </a:solidFill>
          <a:ln w="12700">
            <a:solidFill>
              <a:schemeClr val="accent1"/>
            </a:solidFill>
            <a:prstDash val="solid"/>
          </a:ln>
        </p:spPr>
      </p:sp>
      <p:sp>
        <p:nvSpPr>
          <p:cNvPr id="19" name="Text 17"/>
          <p:cNvSpPr txBox="1"/>
          <p:nvPr/>
        </p:nvSpPr>
        <p:spPr>
          <a:xfrm>
            <a:off x="6309360" y="2569464"/>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20" name="Text 18"/>
          <p:cNvSpPr txBox="1"/>
          <p:nvPr/>
        </p:nvSpPr>
        <p:spPr>
          <a:xfrm>
            <a:off x="7086600" y="2523744"/>
            <a:ext cx="4572000" cy="640080"/>
          </a:xfrm>
          <a:prstGeom prst="rect">
            <a:avLst/>
          </a:prstGeom>
          <a:noFill/>
          <a:ln/>
        </p:spPr>
        <p:txBody>
          <a:bodyPr wrap="square" lIns="0" tIns="0" rIns="0" bIns="0" rtlCol="0" anchor="ctr"/>
          <a:lstStyle/>
          <a:p>
            <a:pPr indent="0" marL="0">
              <a:buNone/>
            </a:pPr>
            <a:r>
              <a:rPr lang="en-US" sz="1400" dirty="0">
                <a:solidFill>
                  <a:schemeClr val="tx1"/>
                </a:solidFill>
              </a:rPr>
              <a:t>Enforce integrity: valid groups, unique IDs, expiry rules, no double issue</a:t>
            </a:r>
            <a:endParaRPr lang="en-US" sz="1400" dirty="0"/>
          </a:p>
        </p:txBody>
      </p:sp>
      <p:sp>
        <p:nvSpPr>
          <p:cNvPr id="21" name="Objective number"/>
          <p:cNvSpPr/>
          <p:nvPr/>
        </p:nvSpPr>
        <p:spPr>
          <a:xfrm>
            <a:off x="6309360" y="3447288"/>
            <a:ext cx="548640" cy="548640"/>
          </a:xfrm>
          <a:prstGeom prst="ellipse">
            <a:avLst/>
          </a:prstGeom>
          <a:solidFill>
            <a:schemeClr val="accent1"/>
          </a:solidFill>
          <a:ln w="12700">
            <a:solidFill>
              <a:schemeClr val="accent1"/>
            </a:solidFill>
            <a:prstDash val="solid"/>
          </a:ln>
        </p:spPr>
      </p:sp>
      <p:sp>
        <p:nvSpPr>
          <p:cNvPr id="22" name="Text 20"/>
          <p:cNvSpPr txBox="1"/>
          <p:nvPr/>
        </p:nvSpPr>
        <p:spPr>
          <a:xfrm>
            <a:off x="6309360" y="3447288"/>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3" name="Text 21"/>
          <p:cNvSpPr txBox="1"/>
          <p:nvPr/>
        </p:nvSpPr>
        <p:spPr>
          <a:xfrm>
            <a:off x="7086600" y="3401568"/>
            <a:ext cx="4572000" cy="640080"/>
          </a:xfrm>
          <a:prstGeom prst="rect">
            <a:avLst/>
          </a:prstGeom>
          <a:noFill/>
          <a:ln/>
        </p:spPr>
        <p:txBody>
          <a:bodyPr wrap="square" lIns="0" tIns="0" rIns="0" bIns="0" rtlCol="0" anchor="ctr"/>
          <a:lstStyle/>
          <a:p>
            <a:pPr indent="0" marL="0">
              <a:buNone/>
            </a:pPr>
            <a:r>
              <a:rPr lang="en-US" sz="1400" dirty="0">
                <a:solidFill>
                  <a:schemeClr val="tx1"/>
                </a:solidFill>
              </a:rPr>
              <a:t>Keep stock accurate by group, component and status</a:t>
            </a:r>
            <a:endParaRPr lang="en-US" sz="1400" dirty="0"/>
          </a:p>
        </p:txBody>
      </p:sp>
      <p:sp>
        <p:nvSpPr>
          <p:cNvPr id="24" name="Objective number"/>
          <p:cNvSpPr/>
          <p:nvPr/>
        </p:nvSpPr>
        <p:spPr>
          <a:xfrm>
            <a:off x="6309360" y="4325112"/>
            <a:ext cx="548640" cy="548640"/>
          </a:xfrm>
          <a:prstGeom prst="ellipse">
            <a:avLst/>
          </a:prstGeom>
          <a:solidFill>
            <a:schemeClr val="accent1"/>
          </a:solidFill>
          <a:ln w="12700">
            <a:solidFill>
              <a:schemeClr val="accent1"/>
            </a:solidFill>
            <a:prstDash val="solid"/>
          </a:ln>
        </p:spPr>
      </p:sp>
      <p:sp>
        <p:nvSpPr>
          <p:cNvPr id="25" name="Text 23"/>
          <p:cNvSpPr txBox="1"/>
          <p:nvPr/>
        </p:nvSpPr>
        <p:spPr>
          <a:xfrm>
            <a:off x="6309360" y="4325112"/>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6" name="Text 24"/>
          <p:cNvSpPr txBox="1"/>
          <p:nvPr/>
        </p:nvSpPr>
        <p:spPr>
          <a:xfrm>
            <a:off x="7086600" y="4279392"/>
            <a:ext cx="4572000" cy="640080"/>
          </a:xfrm>
          <a:prstGeom prst="rect">
            <a:avLst/>
          </a:prstGeom>
          <a:noFill/>
          <a:ln/>
        </p:spPr>
        <p:txBody>
          <a:bodyPr wrap="square" lIns="0" tIns="0" rIns="0" bIns="0" rtlCol="0" anchor="ctr"/>
          <a:lstStyle/>
          <a:p>
            <a:pPr indent="0" marL="0">
              <a:buNone/>
            </a:pPr>
            <a:r>
              <a:rPr lang="en-US" sz="1400" dirty="0">
                <a:solidFill>
                  <a:schemeClr val="tx1"/>
                </a:solidFill>
              </a:rPr>
              <a:t>Provide a Flask and MySQL interface for CRUD, search and reports</a:t>
            </a:r>
            <a:endParaRPr lang="en-US" sz="1400" dirty="0"/>
          </a:p>
        </p:txBody>
      </p:sp>
      <p:sp>
        <p:nvSpPr>
          <p:cNvPr id="27" name="Objective number"/>
          <p:cNvSpPr/>
          <p:nvPr/>
        </p:nvSpPr>
        <p:spPr>
          <a:xfrm>
            <a:off x="6309360" y="5202936"/>
            <a:ext cx="548640" cy="548640"/>
          </a:xfrm>
          <a:prstGeom prst="ellipse">
            <a:avLst/>
          </a:prstGeom>
          <a:solidFill>
            <a:schemeClr val="accent1"/>
          </a:solidFill>
          <a:ln w="12700">
            <a:solidFill>
              <a:schemeClr val="accent1"/>
            </a:solidFill>
            <a:prstDash val="solid"/>
          </a:ln>
        </p:spPr>
      </p:sp>
      <p:sp>
        <p:nvSpPr>
          <p:cNvPr id="28" name="Text 26"/>
          <p:cNvSpPr txBox="1"/>
          <p:nvPr/>
        </p:nvSpPr>
        <p:spPr>
          <a:xfrm>
            <a:off x="6309360" y="5202936"/>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9" name="Text 27"/>
          <p:cNvSpPr txBox="1"/>
          <p:nvPr/>
        </p:nvSpPr>
        <p:spPr>
          <a:xfrm>
            <a:off x="7086600" y="5157216"/>
            <a:ext cx="4572000" cy="640080"/>
          </a:xfrm>
          <a:prstGeom prst="rect">
            <a:avLst/>
          </a:prstGeom>
          <a:noFill/>
          <a:ln/>
        </p:spPr>
        <p:txBody>
          <a:bodyPr wrap="square" lIns="0" tIns="0" rIns="0" bIns="0" rtlCol="0" anchor="ctr"/>
          <a:lstStyle/>
          <a:p>
            <a:pPr indent="0" marL="0">
              <a:buNone/>
            </a:pPr>
            <a:r>
              <a:rPr lang="en-US" sz="1400" dirty="0">
                <a:solidFill>
                  <a:schemeClr val="tx1"/>
                </a:solidFill>
              </a:rPr>
              <a:t>Normalise the design to Third Normal Form</a:t>
            </a:r>
            <a:endParaRPr lang="en-US" sz="1400" dirty="0"/>
          </a:p>
        </p:txBody>
      </p:sp>
      <p:sp>
        <p:nvSpPr>
          <p:cNvPr id="25" name="Slide Number Placeholder 0"/>
          <p:cNvSpPr>
            <a:spLocks noGrp="1"/>
          </p:cNvSpPr>
          <p:nvPr>
            <p:ph type="sldNum" sz="quarter" idx="4294967295"/>
          </p:nvPr>
        </p:nvSpPr>
        <p:spPr>
          <a:xfrm>
            <a:off x="11064240" y="647395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731520"/>
          </a:xfrm>
          <a:prstGeom prst="rect">
            <a:avLst/>
          </a:prstGeom>
          <a:noFill/>
          <a:ln/>
        </p:spPr>
        <p:txBody>
          <a:bodyPr wrap="square" lIns="0" tIns="0" rIns="0" bIns="0" rtlCol="0" anchor="ctr"/>
          <a:lstStyle/>
          <a:p>
            <a:pPr algn="l" indent="0" marL="0">
              <a:buNone/>
            </a:pPr>
            <a:r>
              <a:rPr lang="en-US" sz="3400" b="1" dirty="0">
                <a:solidFill>
                  <a:schemeClr val="tx2"/>
                </a:solidFill>
              </a:rPr>
              <a:t>Scope and Users</a:t>
            </a:r>
            <a:endParaRPr lang="en-US" sz="3400" dirty="0"/>
          </a:p>
        </p:txBody>
      </p:sp>
      <p:sp>
        <p:nvSpPr>
          <p:cNvPr id="3" name="Review tag"/>
          <p:cNvSpPr/>
          <p:nvPr/>
        </p:nvSpPr>
        <p:spPr>
          <a:xfrm>
            <a:off x="9079992" y="420624"/>
            <a:ext cx="2560320" cy="329184"/>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9079992" y="420624"/>
            <a:ext cx="2560320" cy="329184"/>
          </a:xfrm>
          <a:prstGeom prst="rect">
            <a:avLst/>
          </a:prstGeom>
          <a:noFill/>
          <a:ln/>
        </p:spPr>
        <p:txBody>
          <a:bodyPr wrap="square" lIns="0" tIns="0" rIns="0" bIns="0" rtlCol="0" anchor="ctr"/>
          <a:lstStyle/>
          <a:p>
            <a:pPr algn="ctr" indent="0" marL="0">
              <a:buNone/>
            </a:pPr>
            <a:r>
              <a:rPr lang="en-US" sz="1200" b="1" spc="100" kern="0" dirty="0">
                <a:solidFill>
                  <a:schemeClr val="accent1"/>
                </a:solidFill>
              </a:rPr>
              <a:t>REVIEW 1  |  WEEK 7</a:t>
            </a:r>
            <a:endParaRPr lang="en-US" sz="1200" dirty="0"/>
          </a:p>
        </p:txBody>
      </p:sp>
      <p:sp>
        <p:nvSpPr>
          <p:cNvPr id="5" name="In scope card"/>
          <p:cNvSpPr/>
          <p:nvPr/>
        </p:nvSpPr>
        <p:spPr>
          <a:xfrm>
            <a:off x="548640" y="1234440"/>
            <a:ext cx="5486400" cy="3611880"/>
          </a:xfrm>
          <a:prstGeom prst="roundRect">
            <a:avLst>
              <a:gd name="adj" fmla="val 2532"/>
            </a:avLst>
          </a:prstGeom>
          <a:solidFill>
            <a:schemeClr val="bg2"/>
          </a:solidFill>
          <a:ln w="12700">
            <a:solidFill>
              <a:schemeClr val="bg2"/>
            </a:solidFill>
            <a:prstDash val="solid"/>
          </a:ln>
        </p:spPr>
      </p:sp>
      <p:sp>
        <p:nvSpPr>
          <p:cNvPr id="6" name="Text 4"/>
          <p:cNvSpPr txBox="1"/>
          <p:nvPr/>
        </p:nvSpPr>
        <p:spPr>
          <a:xfrm>
            <a:off x="822960" y="1371600"/>
            <a:ext cx="3657600" cy="365760"/>
          </a:xfrm>
          <a:prstGeom prst="rect">
            <a:avLst/>
          </a:prstGeom>
          <a:noFill/>
          <a:ln/>
        </p:spPr>
        <p:txBody>
          <a:bodyPr wrap="square" lIns="0" tIns="0" rIns="0" bIns="0" rtlCol="0" anchor="t"/>
          <a:lstStyle/>
          <a:p>
            <a:pPr indent="0" marL="0">
              <a:buNone/>
            </a:pPr>
            <a:r>
              <a:rPr lang="en-US" sz="2000" b="1" dirty="0">
                <a:solidFill>
                  <a:schemeClr val="accent6"/>
                </a:solidFill>
              </a:rPr>
              <a:t>In scope</a:t>
            </a:r>
            <a:endParaRPr lang="en-US" sz="2000" dirty="0"/>
          </a:p>
        </p:txBody>
      </p:sp>
      <p:sp>
        <p:nvSpPr>
          <p:cNvPr id="7" name="check circle"/>
          <p:cNvSpPr/>
          <p:nvPr/>
        </p:nvSpPr>
        <p:spPr>
          <a:xfrm>
            <a:off x="822960" y="1920240"/>
            <a:ext cx="310896" cy="310896"/>
          </a:xfrm>
          <a:prstGeom prst="ellipse">
            <a:avLst/>
          </a:prstGeom>
          <a:solidFill>
            <a:schemeClr val="bg1"/>
          </a:solidFill>
          <a:ln w="12700">
            <a:solidFill>
              <a:schemeClr val="bg1"/>
            </a:solidFill>
            <a:prstDash val="solid"/>
          </a:ln>
        </p:spPr>
      </p:sp>
      <p:pic>
        <p:nvPicPr>
          <p:cNvPr id="8" name="Image 0" descr="in scope">    </p:cNvPr>
          <p:cNvPicPr>
            <a:picLocks noChangeAspect="1"/>
          </p:cNvPicPr>
          <p:nvPr/>
        </p:nvPicPr>
        <p:blipFill>
          <a:blip r:embed="rId1"/>
          <a:stretch>
            <a:fillRect/>
          </a:stretch>
        </p:blipFill>
        <p:spPr>
          <a:xfrm>
            <a:off x="896112" y="1993392"/>
            <a:ext cx="164592" cy="164592"/>
          </a:xfrm>
          <a:prstGeom prst="rect">
            <a:avLst/>
          </a:prstGeom>
        </p:spPr>
      </p:pic>
      <p:sp>
        <p:nvSpPr>
          <p:cNvPr id="9" name="Text 6"/>
          <p:cNvSpPr txBox="1"/>
          <p:nvPr/>
        </p:nvSpPr>
        <p:spPr>
          <a:xfrm>
            <a:off x="1325880" y="1874520"/>
            <a:ext cx="4572000" cy="402336"/>
          </a:xfrm>
          <a:prstGeom prst="rect">
            <a:avLst/>
          </a:prstGeom>
          <a:noFill/>
          <a:ln/>
        </p:spPr>
        <p:txBody>
          <a:bodyPr wrap="square" lIns="0" tIns="0" rIns="0" bIns="0" rtlCol="0" anchor="ctr"/>
          <a:lstStyle/>
          <a:p>
            <a:pPr indent="0" marL="0">
              <a:buNone/>
            </a:pPr>
            <a:r>
              <a:rPr lang="en-US" sz="1400" dirty="0">
                <a:solidFill>
                  <a:schemeClr val="tx1"/>
                </a:solidFill>
              </a:rPr>
              <a:t>Donor registration, update and search</a:t>
            </a:r>
            <a:endParaRPr lang="en-US" sz="1400" dirty="0"/>
          </a:p>
        </p:txBody>
      </p:sp>
      <p:sp>
        <p:nvSpPr>
          <p:cNvPr id="10" name="check circle"/>
          <p:cNvSpPr/>
          <p:nvPr/>
        </p:nvSpPr>
        <p:spPr>
          <a:xfrm>
            <a:off x="822960" y="2395728"/>
            <a:ext cx="310896" cy="310896"/>
          </a:xfrm>
          <a:prstGeom prst="ellipse">
            <a:avLst/>
          </a:prstGeom>
          <a:solidFill>
            <a:schemeClr val="bg1"/>
          </a:solidFill>
          <a:ln w="12700">
            <a:solidFill>
              <a:schemeClr val="bg1"/>
            </a:solidFill>
            <a:prstDash val="solid"/>
          </a:ln>
        </p:spPr>
      </p:sp>
      <p:pic>
        <p:nvPicPr>
          <p:cNvPr id="11" name="Image 1" descr="in scope">    </p:cNvPr>
          <p:cNvPicPr>
            <a:picLocks noChangeAspect="1"/>
          </p:cNvPicPr>
          <p:nvPr/>
        </p:nvPicPr>
        <p:blipFill>
          <a:blip r:embed="rId2"/>
          <a:stretch>
            <a:fillRect/>
          </a:stretch>
        </p:blipFill>
        <p:spPr>
          <a:xfrm>
            <a:off x="896112" y="2468880"/>
            <a:ext cx="164592" cy="164592"/>
          </a:xfrm>
          <a:prstGeom prst="rect">
            <a:avLst/>
          </a:prstGeom>
        </p:spPr>
      </p:pic>
      <p:sp>
        <p:nvSpPr>
          <p:cNvPr id="12" name="Text 8"/>
          <p:cNvSpPr txBox="1"/>
          <p:nvPr/>
        </p:nvSpPr>
        <p:spPr>
          <a:xfrm>
            <a:off x="1325880" y="2350008"/>
            <a:ext cx="4572000" cy="402336"/>
          </a:xfrm>
          <a:prstGeom prst="rect">
            <a:avLst/>
          </a:prstGeom>
          <a:noFill/>
          <a:ln/>
        </p:spPr>
        <p:txBody>
          <a:bodyPr wrap="square" lIns="0" tIns="0" rIns="0" bIns="0" rtlCol="0" anchor="ctr"/>
          <a:lstStyle/>
          <a:p>
            <a:pPr indent="0" marL="0">
              <a:buNone/>
            </a:pPr>
            <a:r>
              <a:rPr lang="en-US" sz="1400" dirty="0">
                <a:solidFill>
                  <a:schemeClr val="tx1"/>
                </a:solidFill>
              </a:rPr>
              <a:t>Donation recording with screening result</a:t>
            </a:r>
            <a:endParaRPr lang="en-US" sz="1400" dirty="0"/>
          </a:p>
        </p:txBody>
      </p:sp>
      <p:sp>
        <p:nvSpPr>
          <p:cNvPr id="13" name="check circle"/>
          <p:cNvSpPr/>
          <p:nvPr/>
        </p:nvSpPr>
        <p:spPr>
          <a:xfrm>
            <a:off x="822960" y="2871216"/>
            <a:ext cx="310896" cy="310896"/>
          </a:xfrm>
          <a:prstGeom prst="ellipse">
            <a:avLst/>
          </a:prstGeom>
          <a:solidFill>
            <a:schemeClr val="bg1"/>
          </a:solidFill>
          <a:ln w="12700">
            <a:solidFill>
              <a:schemeClr val="bg1"/>
            </a:solidFill>
            <a:prstDash val="solid"/>
          </a:ln>
        </p:spPr>
      </p:sp>
      <p:pic>
        <p:nvPicPr>
          <p:cNvPr id="14" name="Image 2" descr="in scope">    </p:cNvPr>
          <p:cNvPicPr>
            <a:picLocks noChangeAspect="1"/>
          </p:cNvPicPr>
          <p:nvPr/>
        </p:nvPicPr>
        <p:blipFill>
          <a:blip r:embed="rId3"/>
          <a:stretch>
            <a:fillRect/>
          </a:stretch>
        </p:blipFill>
        <p:spPr>
          <a:xfrm>
            <a:off x="896112" y="2944368"/>
            <a:ext cx="164592" cy="164592"/>
          </a:xfrm>
          <a:prstGeom prst="rect">
            <a:avLst/>
          </a:prstGeom>
        </p:spPr>
      </p:pic>
      <p:sp>
        <p:nvSpPr>
          <p:cNvPr id="15" name="Text 10"/>
          <p:cNvSpPr txBox="1"/>
          <p:nvPr/>
        </p:nvSpPr>
        <p:spPr>
          <a:xfrm>
            <a:off x="1325880" y="2825496"/>
            <a:ext cx="4572000" cy="402336"/>
          </a:xfrm>
          <a:prstGeom prst="rect">
            <a:avLst/>
          </a:prstGeom>
          <a:noFill/>
          <a:ln/>
        </p:spPr>
        <p:txBody>
          <a:bodyPr wrap="square" lIns="0" tIns="0" rIns="0" bIns="0" rtlCol="0" anchor="ctr"/>
          <a:lstStyle/>
          <a:p>
            <a:pPr indent="0" marL="0">
              <a:buNone/>
            </a:pPr>
            <a:r>
              <a:rPr lang="en-US" sz="1400" dirty="0">
                <a:solidFill>
                  <a:schemeClr val="tx1"/>
                </a:solidFill>
              </a:rPr>
              <a:t>Blood unit inventory with expiry tracking</a:t>
            </a:r>
            <a:endParaRPr lang="en-US" sz="1400" dirty="0"/>
          </a:p>
        </p:txBody>
      </p:sp>
      <p:sp>
        <p:nvSpPr>
          <p:cNvPr id="16" name="check circle"/>
          <p:cNvSpPr/>
          <p:nvPr/>
        </p:nvSpPr>
        <p:spPr>
          <a:xfrm>
            <a:off x="822960" y="3346704"/>
            <a:ext cx="310896" cy="310896"/>
          </a:xfrm>
          <a:prstGeom prst="ellipse">
            <a:avLst/>
          </a:prstGeom>
          <a:solidFill>
            <a:schemeClr val="bg1"/>
          </a:solidFill>
          <a:ln w="12700">
            <a:solidFill>
              <a:schemeClr val="bg1"/>
            </a:solidFill>
            <a:prstDash val="solid"/>
          </a:ln>
        </p:spPr>
      </p:sp>
      <p:pic>
        <p:nvPicPr>
          <p:cNvPr id="17" name="Image 3" descr="in scope">    </p:cNvPr>
          <p:cNvPicPr>
            <a:picLocks noChangeAspect="1"/>
          </p:cNvPicPr>
          <p:nvPr/>
        </p:nvPicPr>
        <p:blipFill>
          <a:blip r:embed="rId4"/>
          <a:stretch>
            <a:fillRect/>
          </a:stretch>
        </p:blipFill>
        <p:spPr>
          <a:xfrm>
            <a:off x="896112" y="3419856"/>
            <a:ext cx="164592" cy="164592"/>
          </a:xfrm>
          <a:prstGeom prst="rect">
            <a:avLst/>
          </a:prstGeom>
        </p:spPr>
      </p:pic>
      <p:sp>
        <p:nvSpPr>
          <p:cNvPr id="18" name="Text 12"/>
          <p:cNvSpPr txBox="1"/>
          <p:nvPr/>
        </p:nvSpPr>
        <p:spPr>
          <a:xfrm>
            <a:off x="1325880" y="3300984"/>
            <a:ext cx="4572000" cy="402336"/>
          </a:xfrm>
          <a:prstGeom prst="rect">
            <a:avLst/>
          </a:prstGeom>
          <a:noFill/>
          <a:ln/>
        </p:spPr>
        <p:txBody>
          <a:bodyPr wrap="square" lIns="0" tIns="0" rIns="0" bIns="0" rtlCol="0" anchor="ctr"/>
          <a:lstStyle/>
          <a:p>
            <a:pPr indent="0" marL="0">
              <a:buNone/>
            </a:pPr>
            <a:r>
              <a:rPr lang="en-US" sz="1400" dirty="0">
                <a:solidFill>
                  <a:schemeClr val="tx1"/>
                </a:solidFill>
              </a:rPr>
              <a:t>Hospital registry and blood requests</a:t>
            </a:r>
            <a:endParaRPr lang="en-US" sz="1400" dirty="0"/>
          </a:p>
        </p:txBody>
      </p:sp>
      <p:sp>
        <p:nvSpPr>
          <p:cNvPr id="19" name="check circle"/>
          <p:cNvSpPr/>
          <p:nvPr/>
        </p:nvSpPr>
        <p:spPr>
          <a:xfrm>
            <a:off x="822960" y="3822192"/>
            <a:ext cx="310896" cy="310896"/>
          </a:xfrm>
          <a:prstGeom prst="ellipse">
            <a:avLst/>
          </a:prstGeom>
          <a:solidFill>
            <a:schemeClr val="bg1"/>
          </a:solidFill>
          <a:ln w="12700">
            <a:solidFill>
              <a:schemeClr val="bg1"/>
            </a:solidFill>
            <a:prstDash val="solid"/>
          </a:ln>
        </p:spPr>
      </p:sp>
      <p:pic>
        <p:nvPicPr>
          <p:cNvPr id="20" name="Image 4" descr="in scope">    </p:cNvPr>
          <p:cNvPicPr>
            <a:picLocks noChangeAspect="1"/>
          </p:cNvPicPr>
          <p:nvPr/>
        </p:nvPicPr>
        <p:blipFill>
          <a:blip r:embed="rId5"/>
          <a:stretch>
            <a:fillRect/>
          </a:stretch>
        </p:blipFill>
        <p:spPr>
          <a:xfrm>
            <a:off x="896112" y="3895344"/>
            <a:ext cx="164592" cy="164592"/>
          </a:xfrm>
          <a:prstGeom prst="rect">
            <a:avLst/>
          </a:prstGeom>
        </p:spPr>
      </p:pic>
      <p:sp>
        <p:nvSpPr>
          <p:cNvPr id="21" name="Text 14"/>
          <p:cNvSpPr txBox="1"/>
          <p:nvPr/>
        </p:nvSpPr>
        <p:spPr>
          <a:xfrm>
            <a:off x="1325880" y="3776472"/>
            <a:ext cx="4572000" cy="402336"/>
          </a:xfrm>
          <a:prstGeom prst="rect">
            <a:avLst/>
          </a:prstGeom>
          <a:noFill/>
          <a:ln/>
        </p:spPr>
        <p:txBody>
          <a:bodyPr wrap="square" lIns="0" tIns="0" rIns="0" bIns="0" rtlCol="0" anchor="ctr"/>
          <a:lstStyle/>
          <a:p>
            <a:pPr indent="0" marL="0">
              <a:buNone/>
            </a:pPr>
            <a:r>
              <a:rPr lang="en-US" sz="1400" dirty="0">
                <a:solidFill>
                  <a:schemeClr val="tx1"/>
                </a:solidFill>
              </a:rPr>
              <a:t>Issuing units against requests</a:t>
            </a:r>
            <a:endParaRPr lang="en-US" sz="1400" dirty="0"/>
          </a:p>
        </p:txBody>
      </p:sp>
      <p:sp>
        <p:nvSpPr>
          <p:cNvPr id="22" name="check circle"/>
          <p:cNvSpPr/>
          <p:nvPr/>
        </p:nvSpPr>
        <p:spPr>
          <a:xfrm>
            <a:off x="822960" y="4297680"/>
            <a:ext cx="310896" cy="310896"/>
          </a:xfrm>
          <a:prstGeom prst="ellipse">
            <a:avLst/>
          </a:prstGeom>
          <a:solidFill>
            <a:schemeClr val="bg1"/>
          </a:solidFill>
          <a:ln w="12700">
            <a:solidFill>
              <a:schemeClr val="bg1"/>
            </a:solidFill>
            <a:prstDash val="solid"/>
          </a:ln>
        </p:spPr>
      </p:sp>
      <p:pic>
        <p:nvPicPr>
          <p:cNvPr id="23" name="Image 5" descr="in scope">    </p:cNvPr>
          <p:cNvPicPr>
            <a:picLocks noChangeAspect="1"/>
          </p:cNvPicPr>
          <p:nvPr/>
        </p:nvPicPr>
        <p:blipFill>
          <a:blip r:embed="rId6"/>
          <a:stretch>
            <a:fillRect/>
          </a:stretch>
        </p:blipFill>
        <p:spPr>
          <a:xfrm>
            <a:off x="896112" y="4370832"/>
            <a:ext cx="164592" cy="164592"/>
          </a:xfrm>
          <a:prstGeom prst="rect">
            <a:avLst/>
          </a:prstGeom>
        </p:spPr>
      </p:pic>
      <p:sp>
        <p:nvSpPr>
          <p:cNvPr id="24" name="Text 16"/>
          <p:cNvSpPr txBox="1"/>
          <p:nvPr/>
        </p:nvSpPr>
        <p:spPr>
          <a:xfrm>
            <a:off x="1325880" y="4251960"/>
            <a:ext cx="4572000" cy="402336"/>
          </a:xfrm>
          <a:prstGeom prst="rect">
            <a:avLst/>
          </a:prstGeom>
          <a:noFill/>
          <a:ln/>
        </p:spPr>
        <p:txBody>
          <a:bodyPr wrap="square" lIns="0" tIns="0" rIns="0" bIns="0" rtlCol="0" anchor="ctr"/>
          <a:lstStyle/>
          <a:p>
            <a:pPr indent="0" marL="0">
              <a:buNone/>
            </a:pPr>
            <a:r>
              <a:rPr lang="en-US" sz="1400" dirty="0">
                <a:solidFill>
                  <a:schemeClr val="tx1"/>
                </a:solidFill>
              </a:rPr>
              <a:t>Stock, donor and issue reports</a:t>
            </a:r>
            <a:endParaRPr lang="en-US" sz="1400" dirty="0"/>
          </a:p>
        </p:txBody>
      </p:sp>
      <p:sp>
        <p:nvSpPr>
          <p:cNvPr id="25" name="Out of scope card"/>
          <p:cNvSpPr/>
          <p:nvPr/>
        </p:nvSpPr>
        <p:spPr>
          <a:xfrm>
            <a:off x="548640" y="5029200"/>
            <a:ext cx="5486400" cy="1097280"/>
          </a:xfrm>
          <a:prstGeom prst="roundRect">
            <a:avLst>
              <a:gd name="adj" fmla="val 8333"/>
            </a:avLst>
          </a:prstGeom>
          <a:solidFill>
            <a:schemeClr val="bg2"/>
          </a:solidFill>
          <a:ln w="12700">
            <a:solidFill>
              <a:schemeClr val="bg2"/>
            </a:solidFill>
            <a:prstDash val="solid"/>
          </a:ln>
        </p:spPr>
      </p:sp>
      <p:sp>
        <p:nvSpPr>
          <p:cNvPr id="26" name="Text 18"/>
          <p:cNvSpPr txBox="1"/>
          <p:nvPr/>
        </p:nvSpPr>
        <p:spPr>
          <a:xfrm>
            <a:off x="822960" y="5029200"/>
            <a:ext cx="4937760" cy="1097280"/>
          </a:xfrm>
          <a:prstGeom prst="rect">
            <a:avLst/>
          </a:prstGeom>
          <a:noFill/>
          <a:ln/>
        </p:spPr>
        <p:txBody>
          <a:bodyPr wrap="square" lIns="0" tIns="0" rIns="0" bIns="0" rtlCol="0" anchor="ctr"/>
          <a:lstStyle/>
          <a:p>
            <a:pPr indent="0" marL="0">
              <a:buNone/>
            </a:pPr>
            <a:r>
              <a:rPr lang="en-US" sz="1400" b="1" dirty="0">
                <a:solidFill>
                  <a:schemeClr val="accent1"/>
                </a:solidFill>
              </a:rPr>
              <a:t>Out of scope: </a:t>
            </a:r>
            <a:pPr indent="0" marL="0">
              <a:buNone/>
            </a:pPr>
            <a:r>
              <a:rPr lang="en-US" sz="1400" dirty="0">
                <a:solidFill>
                  <a:schemeClr val="tx1"/>
                </a:solidFill>
              </a:rPr>
              <a:t>billing, patient medical records, lab device integration, SMS or email gateways, multi-branch banks</a:t>
            </a:r>
            <a:endParaRPr lang="en-US" sz="1400" dirty="0"/>
          </a:p>
        </p:txBody>
      </p:sp>
      <p:sp>
        <p:nvSpPr>
          <p:cNvPr id="27" name="Administrator card"/>
          <p:cNvSpPr/>
          <p:nvPr/>
        </p:nvSpPr>
        <p:spPr>
          <a:xfrm>
            <a:off x="6309360" y="1234440"/>
            <a:ext cx="5330952" cy="1143000"/>
          </a:xfrm>
          <a:prstGeom prst="roundRect">
            <a:avLst>
              <a:gd name="adj" fmla="val 8000"/>
            </a:avLst>
          </a:prstGeom>
          <a:solidFill>
            <a:schemeClr val="bg2"/>
          </a:solidFill>
          <a:ln w="12700">
            <a:solidFill>
              <a:schemeClr val="bg2"/>
            </a:solidFill>
            <a:prstDash val="solid"/>
          </a:ln>
        </p:spPr>
      </p:sp>
      <p:sp>
        <p:nvSpPr>
          <p:cNvPr id="28" name="Administrator circle"/>
          <p:cNvSpPr/>
          <p:nvPr/>
        </p:nvSpPr>
        <p:spPr>
          <a:xfrm>
            <a:off x="6537960" y="1435608"/>
            <a:ext cx="731520" cy="731520"/>
          </a:xfrm>
          <a:prstGeom prst="ellipse">
            <a:avLst/>
          </a:prstGeom>
          <a:solidFill>
            <a:schemeClr val="accent1"/>
          </a:solidFill>
          <a:ln w="12700">
            <a:solidFill>
              <a:schemeClr val="accent1"/>
            </a:solidFill>
            <a:prstDash val="solid"/>
          </a:ln>
        </p:spPr>
      </p:sp>
      <p:pic>
        <p:nvPicPr>
          <p:cNvPr id="29" name="Image 6" descr="Administrator">    </p:cNvPr>
          <p:cNvPicPr>
            <a:picLocks noChangeAspect="1"/>
          </p:cNvPicPr>
          <p:nvPr/>
        </p:nvPicPr>
        <p:blipFill>
          <a:blip r:embed="rId7"/>
          <a:stretch>
            <a:fillRect/>
          </a:stretch>
        </p:blipFill>
        <p:spPr>
          <a:xfrm>
            <a:off x="6720840" y="1618488"/>
            <a:ext cx="365760" cy="365760"/>
          </a:xfrm>
          <a:prstGeom prst="rect">
            <a:avLst/>
          </a:prstGeom>
        </p:spPr>
      </p:pic>
      <p:sp>
        <p:nvSpPr>
          <p:cNvPr id="30" name="Text 21"/>
          <p:cNvSpPr txBox="1"/>
          <p:nvPr/>
        </p:nvSpPr>
        <p:spPr>
          <a:xfrm>
            <a:off x="7498080" y="1344168"/>
            <a:ext cx="3977640" cy="320040"/>
          </a:xfrm>
          <a:prstGeom prst="rect">
            <a:avLst/>
          </a:prstGeom>
          <a:noFill/>
          <a:ln/>
        </p:spPr>
        <p:txBody>
          <a:bodyPr wrap="square" lIns="0" tIns="0" rIns="0" bIns="0" rtlCol="0" anchor="t"/>
          <a:lstStyle/>
          <a:p>
            <a:pPr indent="0" marL="0">
              <a:buNone/>
            </a:pPr>
            <a:r>
              <a:rPr lang="en-US" sz="1600" b="1" dirty="0">
                <a:solidFill>
                  <a:schemeClr val="tx2"/>
                </a:solidFill>
              </a:rPr>
              <a:t>Administrator</a:t>
            </a:r>
            <a:endParaRPr lang="en-US" sz="1600" dirty="0"/>
          </a:p>
        </p:txBody>
      </p:sp>
      <p:sp>
        <p:nvSpPr>
          <p:cNvPr id="31" name="Text 22"/>
          <p:cNvSpPr txBox="1"/>
          <p:nvPr/>
        </p:nvSpPr>
        <p:spPr>
          <a:xfrm>
            <a:off x="7498080" y="1691640"/>
            <a:ext cx="3977640" cy="640080"/>
          </a:xfrm>
          <a:prstGeom prst="rect">
            <a:avLst/>
          </a:prstGeom>
          <a:noFill/>
          <a:ln/>
        </p:spPr>
        <p:txBody>
          <a:bodyPr wrap="square" lIns="0" tIns="0" rIns="0" bIns="0" rtlCol="0" anchor="t"/>
          <a:lstStyle/>
          <a:p>
            <a:pPr indent="0" marL="0">
              <a:buNone/>
            </a:pPr>
            <a:r>
              <a:rPr lang="en-US" sz="1400" dirty="0">
                <a:solidFill>
                  <a:schemeClr val="tx1"/>
                </a:solidFill>
              </a:rPr>
              <a:t>Manages master data and reviews all reports</a:t>
            </a:r>
            <a:endParaRPr lang="en-US" sz="1400" dirty="0"/>
          </a:p>
        </p:txBody>
      </p:sp>
      <p:sp>
        <p:nvSpPr>
          <p:cNvPr id="32" name="Blood Bank Staff card"/>
          <p:cNvSpPr/>
          <p:nvPr/>
        </p:nvSpPr>
        <p:spPr>
          <a:xfrm>
            <a:off x="6309360" y="2514600"/>
            <a:ext cx="5330952" cy="1143000"/>
          </a:xfrm>
          <a:prstGeom prst="roundRect">
            <a:avLst>
              <a:gd name="adj" fmla="val 8000"/>
            </a:avLst>
          </a:prstGeom>
          <a:solidFill>
            <a:schemeClr val="bg2"/>
          </a:solidFill>
          <a:ln w="12700">
            <a:solidFill>
              <a:schemeClr val="bg2"/>
            </a:solidFill>
            <a:prstDash val="solid"/>
          </a:ln>
        </p:spPr>
      </p:sp>
      <p:sp>
        <p:nvSpPr>
          <p:cNvPr id="33" name="Blood Bank Staff circle"/>
          <p:cNvSpPr/>
          <p:nvPr/>
        </p:nvSpPr>
        <p:spPr>
          <a:xfrm>
            <a:off x="6537960" y="2715768"/>
            <a:ext cx="731520" cy="731520"/>
          </a:xfrm>
          <a:prstGeom prst="ellipse">
            <a:avLst/>
          </a:prstGeom>
          <a:solidFill>
            <a:schemeClr val="accent1"/>
          </a:solidFill>
          <a:ln w="12700">
            <a:solidFill>
              <a:schemeClr val="accent1"/>
            </a:solidFill>
            <a:prstDash val="solid"/>
          </a:ln>
        </p:spPr>
      </p:sp>
      <p:pic>
        <p:nvPicPr>
          <p:cNvPr id="34" name="Image 7" descr="Blood Bank Staff">    </p:cNvPr>
          <p:cNvPicPr>
            <a:picLocks noChangeAspect="1"/>
          </p:cNvPicPr>
          <p:nvPr/>
        </p:nvPicPr>
        <p:blipFill>
          <a:blip r:embed="rId8"/>
          <a:stretch>
            <a:fillRect/>
          </a:stretch>
        </p:blipFill>
        <p:spPr>
          <a:xfrm>
            <a:off x="6720840" y="2898648"/>
            <a:ext cx="365760" cy="365760"/>
          </a:xfrm>
          <a:prstGeom prst="rect">
            <a:avLst/>
          </a:prstGeom>
        </p:spPr>
      </p:pic>
      <p:sp>
        <p:nvSpPr>
          <p:cNvPr id="35" name="Text 25"/>
          <p:cNvSpPr txBox="1"/>
          <p:nvPr/>
        </p:nvSpPr>
        <p:spPr>
          <a:xfrm>
            <a:off x="7498080" y="2624328"/>
            <a:ext cx="3977640" cy="320040"/>
          </a:xfrm>
          <a:prstGeom prst="rect">
            <a:avLst/>
          </a:prstGeom>
          <a:noFill/>
          <a:ln/>
        </p:spPr>
        <p:txBody>
          <a:bodyPr wrap="square" lIns="0" tIns="0" rIns="0" bIns="0" rtlCol="0" anchor="t"/>
          <a:lstStyle/>
          <a:p>
            <a:pPr indent="0" marL="0">
              <a:buNone/>
            </a:pPr>
            <a:r>
              <a:rPr lang="en-US" sz="1600" b="1" dirty="0">
                <a:solidFill>
                  <a:schemeClr val="tx2"/>
                </a:solidFill>
              </a:rPr>
              <a:t>Blood Bank Staff</a:t>
            </a:r>
            <a:endParaRPr lang="en-US" sz="1600" dirty="0"/>
          </a:p>
        </p:txBody>
      </p:sp>
      <p:sp>
        <p:nvSpPr>
          <p:cNvPr id="36" name="Text 26"/>
          <p:cNvSpPr txBox="1"/>
          <p:nvPr/>
        </p:nvSpPr>
        <p:spPr>
          <a:xfrm>
            <a:off x="7498080" y="2971800"/>
            <a:ext cx="3977640" cy="640080"/>
          </a:xfrm>
          <a:prstGeom prst="rect">
            <a:avLst/>
          </a:prstGeom>
          <a:noFill/>
          <a:ln/>
        </p:spPr>
        <p:txBody>
          <a:bodyPr wrap="square" lIns="0" tIns="0" rIns="0" bIns="0" rtlCol="0" anchor="t"/>
          <a:lstStyle/>
          <a:p>
            <a:pPr indent="0" marL="0">
              <a:buNone/>
            </a:pPr>
            <a:r>
              <a:rPr lang="en-US" sz="1400" dirty="0">
                <a:solidFill>
                  <a:schemeClr val="tx1"/>
                </a:solidFill>
              </a:rPr>
              <a:t>Registers donors, records donations, manages stock, issues units</a:t>
            </a:r>
            <a:endParaRPr lang="en-US" sz="1400" dirty="0"/>
          </a:p>
        </p:txBody>
      </p:sp>
      <p:sp>
        <p:nvSpPr>
          <p:cNvPr id="37" name="Hospital Representative card"/>
          <p:cNvSpPr/>
          <p:nvPr/>
        </p:nvSpPr>
        <p:spPr>
          <a:xfrm>
            <a:off x="6309360" y="3794760"/>
            <a:ext cx="5330952" cy="1143000"/>
          </a:xfrm>
          <a:prstGeom prst="roundRect">
            <a:avLst>
              <a:gd name="adj" fmla="val 8000"/>
            </a:avLst>
          </a:prstGeom>
          <a:solidFill>
            <a:schemeClr val="bg2"/>
          </a:solidFill>
          <a:ln w="12700">
            <a:solidFill>
              <a:schemeClr val="bg2"/>
            </a:solidFill>
            <a:prstDash val="solid"/>
          </a:ln>
        </p:spPr>
      </p:sp>
      <p:sp>
        <p:nvSpPr>
          <p:cNvPr id="38" name="Hospital Representative circle"/>
          <p:cNvSpPr/>
          <p:nvPr/>
        </p:nvSpPr>
        <p:spPr>
          <a:xfrm>
            <a:off x="6537960" y="3995928"/>
            <a:ext cx="731520" cy="731520"/>
          </a:xfrm>
          <a:prstGeom prst="ellipse">
            <a:avLst/>
          </a:prstGeom>
          <a:solidFill>
            <a:schemeClr val="accent1"/>
          </a:solidFill>
          <a:ln w="12700">
            <a:solidFill>
              <a:schemeClr val="accent1"/>
            </a:solidFill>
            <a:prstDash val="solid"/>
          </a:ln>
        </p:spPr>
      </p:sp>
      <p:pic>
        <p:nvPicPr>
          <p:cNvPr id="39" name="Image 8" descr="Hospital Representative">    </p:cNvPr>
          <p:cNvPicPr>
            <a:picLocks noChangeAspect="1"/>
          </p:cNvPicPr>
          <p:nvPr/>
        </p:nvPicPr>
        <p:blipFill>
          <a:blip r:embed="rId9"/>
          <a:stretch>
            <a:fillRect/>
          </a:stretch>
        </p:blipFill>
        <p:spPr>
          <a:xfrm>
            <a:off x="6720840" y="4178808"/>
            <a:ext cx="365760" cy="365760"/>
          </a:xfrm>
          <a:prstGeom prst="rect">
            <a:avLst/>
          </a:prstGeom>
        </p:spPr>
      </p:pic>
      <p:sp>
        <p:nvSpPr>
          <p:cNvPr id="40" name="Text 29"/>
          <p:cNvSpPr txBox="1"/>
          <p:nvPr/>
        </p:nvSpPr>
        <p:spPr>
          <a:xfrm>
            <a:off x="7498080" y="3904488"/>
            <a:ext cx="3977640" cy="320040"/>
          </a:xfrm>
          <a:prstGeom prst="rect">
            <a:avLst/>
          </a:prstGeom>
          <a:noFill/>
          <a:ln/>
        </p:spPr>
        <p:txBody>
          <a:bodyPr wrap="square" lIns="0" tIns="0" rIns="0" bIns="0" rtlCol="0" anchor="t"/>
          <a:lstStyle/>
          <a:p>
            <a:pPr indent="0" marL="0">
              <a:buNone/>
            </a:pPr>
            <a:r>
              <a:rPr lang="en-US" sz="1600" b="1" dirty="0">
                <a:solidFill>
                  <a:schemeClr val="tx2"/>
                </a:solidFill>
              </a:rPr>
              <a:t>Hospital Representative</a:t>
            </a:r>
            <a:endParaRPr lang="en-US" sz="1600" dirty="0"/>
          </a:p>
        </p:txBody>
      </p:sp>
      <p:sp>
        <p:nvSpPr>
          <p:cNvPr id="41" name="Text 30"/>
          <p:cNvSpPr txBox="1"/>
          <p:nvPr/>
        </p:nvSpPr>
        <p:spPr>
          <a:xfrm>
            <a:off x="7498080" y="4251960"/>
            <a:ext cx="3977640" cy="640080"/>
          </a:xfrm>
          <a:prstGeom prst="rect">
            <a:avLst/>
          </a:prstGeom>
          <a:noFill/>
          <a:ln/>
        </p:spPr>
        <p:txBody>
          <a:bodyPr wrap="square" lIns="0" tIns="0" rIns="0" bIns="0" rtlCol="0" anchor="t"/>
          <a:lstStyle/>
          <a:p>
            <a:pPr indent="0" marL="0">
              <a:buNone/>
            </a:pPr>
            <a:r>
              <a:rPr lang="en-US" sz="1400" dirty="0">
                <a:solidFill>
                  <a:schemeClr val="tx1"/>
                </a:solidFill>
              </a:rPr>
              <a:t>Registered hospital that raises requests and tracks status</a:t>
            </a:r>
            <a:endParaRPr lang="en-US" sz="1400" dirty="0"/>
          </a:p>
        </p:txBody>
      </p:sp>
      <p:sp>
        <p:nvSpPr>
          <p:cNvPr id="42" name="Donor card"/>
          <p:cNvSpPr/>
          <p:nvPr/>
        </p:nvSpPr>
        <p:spPr>
          <a:xfrm>
            <a:off x="6309360" y="5074920"/>
            <a:ext cx="5330952" cy="1143000"/>
          </a:xfrm>
          <a:prstGeom prst="roundRect">
            <a:avLst>
              <a:gd name="adj" fmla="val 8000"/>
            </a:avLst>
          </a:prstGeom>
          <a:solidFill>
            <a:schemeClr val="bg2"/>
          </a:solidFill>
          <a:ln w="12700">
            <a:solidFill>
              <a:schemeClr val="bg2"/>
            </a:solidFill>
            <a:prstDash val="solid"/>
          </a:ln>
        </p:spPr>
      </p:sp>
      <p:sp>
        <p:nvSpPr>
          <p:cNvPr id="43" name="Donor circle"/>
          <p:cNvSpPr/>
          <p:nvPr/>
        </p:nvSpPr>
        <p:spPr>
          <a:xfrm>
            <a:off x="6537960" y="5276088"/>
            <a:ext cx="731520" cy="731520"/>
          </a:xfrm>
          <a:prstGeom prst="ellipse">
            <a:avLst/>
          </a:prstGeom>
          <a:solidFill>
            <a:schemeClr val="accent1"/>
          </a:solidFill>
          <a:ln w="12700">
            <a:solidFill>
              <a:schemeClr val="accent1"/>
            </a:solidFill>
            <a:prstDash val="solid"/>
          </a:ln>
        </p:spPr>
      </p:sp>
      <p:pic>
        <p:nvPicPr>
          <p:cNvPr id="44" name="Image 9" descr="Donor">    </p:cNvPr>
          <p:cNvPicPr>
            <a:picLocks noChangeAspect="1"/>
          </p:cNvPicPr>
          <p:nvPr/>
        </p:nvPicPr>
        <p:blipFill>
          <a:blip r:embed="rId10"/>
          <a:stretch>
            <a:fillRect/>
          </a:stretch>
        </p:blipFill>
        <p:spPr>
          <a:xfrm>
            <a:off x="6720840" y="5458968"/>
            <a:ext cx="365760" cy="365760"/>
          </a:xfrm>
          <a:prstGeom prst="rect">
            <a:avLst/>
          </a:prstGeom>
        </p:spPr>
      </p:pic>
      <p:sp>
        <p:nvSpPr>
          <p:cNvPr id="45" name="Text 33"/>
          <p:cNvSpPr txBox="1"/>
          <p:nvPr/>
        </p:nvSpPr>
        <p:spPr>
          <a:xfrm>
            <a:off x="7498080" y="5184648"/>
            <a:ext cx="3977640" cy="320040"/>
          </a:xfrm>
          <a:prstGeom prst="rect">
            <a:avLst/>
          </a:prstGeom>
          <a:noFill/>
          <a:ln/>
        </p:spPr>
        <p:txBody>
          <a:bodyPr wrap="square" lIns="0" tIns="0" rIns="0" bIns="0" rtlCol="0" anchor="t"/>
          <a:lstStyle/>
          <a:p>
            <a:pPr indent="0" marL="0">
              <a:buNone/>
            </a:pPr>
            <a:r>
              <a:rPr lang="en-US" sz="1600" b="1" dirty="0">
                <a:solidFill>
                  <a:schemeClr val="tx2"/>
                </a:solidFill>
              </a:rPr>
              <a:t>Donor</a:t>
            </a:r>
            <a:endParaRPr lang="en-US" sz="1600" dirty="0"/>
          </a:p>
        </p:txBody>
      </p:sp>
      <p:sp>
        <p:nvSpPr>
          <p:cNvPr id="46" name="Text 34"/>
          <p:cNvSpPr txBox="1"/>
          <p:nvPr/>
        </p:nvSpPr>
        <p:spPr>
          <a:xfrm>
            <a:off x="7498080" y="5532120"/>
            <a:ext cx="3977640" cy="640080"/>
          </a:xfrm>
          <a:prstGeom prst="rect">
            <a:avLst/>
          </a:prstGeom>
          <a:noFill/>
          <a:ln/>
        </p:spPr>
        <p:txBody>
          <a:bodyPr wrap="square" lIns="0" tIns="0" rIns="0" bIns="0" rtlCol="0" anchor="t"/>
          <a:lstStyle/>
          <a:p>
            <a:pPr indent="0" marL="0">
              <a:buNone/>
            </a:pPr>
            <a:r>
              <a:rPr lang="en-US" sz="1400" dirty="0">
                <a:solidFill>
                  <a:schemeClr val="tx1"/>
                </a:solidFill>
              </a:rPr>
              <a:t>Record subject: profile and history held, eligibility checked</a:t>
            </a:r>
            <a:endParaRPr lang="en-US" sz="1400" dirty="0"/>
          </a:p>
        </p:txBody>
      </p:sp>
      <p:sp>
        <p:nvSpPr>
          <p:cNvPr id="25" name="Slide Number Placeholder 0"/>
          <p:cNvSpPr>
            <a:spLocks noGrp="1"/>
          </p:cNvSpPr>
          <p:nvPr>
            <p:ph type="sldNum" sz="quarter" idx="4294967295"/>
          </p:nvPr>
        </p:nvSpPr>
        <p:spPr>
          <a:xfrm>
            <a:off x="11064240" y="647395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731520"/>
          </a:xfrm>
          <a:prstGeom prst="rect">
            <a:avLst/>
          </a:prstGeom>
          <a:noFill/>
          <a:ln/>
        </p:spPr>
        <p:txBody>
          <a:bodyPr wrap="square" lIns="0" tIns="0" rIns="0" bIns="0" rtlCol="0" anchor="ctr"/>
          <a:lstStyle/>
          <a:p>
            <a:pPr algn="l" indent="0" marL="0">
              <a:buNone/>
            </a:pPr>
            <a:r>
              <a:rPr lang="en-US" sz="3400" b="1" dirty="0">
                <a:solidFill>
                  <a:schemeClr val="tx2"/>
                </a:solidFill>
              </a:rPr>
              <a:t>Functional Requirements</a:t>
            </a:r>
            <a:endParaRPr lang="en-US" sz="3400" dirty="0"/>
          </a:p>
        </p:txBody>
      </p:sp>
      <p:sp>
        <p:nvSpPr>
          <p:cNvPr id="3" name="Review tag"/>
          <p:cNvSpPr/>
          <p:nvPr/>
        </p:nvSpPr>
        <p:spPr>
          <a:xfrm>
            <a:off x="9079992" y="420624"/>
            <a:ext cx="2560320" cy="329184"/>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9079992" y="420624"/>
            <a:ext cx="2560320" cy="329184"/>
          </a:xfrm>
          <a:prstGeom prst="rect">
            <a:avLst/>
          </a:prstGeom>
          <a:noFill/>
          <a:ln/>
        </p:spPr>
        <p:txBody>
          <a:bodyPr wrap="square" lIns="0" tIns="0" rIns="0" bIns="0" rtlCol="0" anchor="ctr"/>
          <a:lstStyle/>
          <a:p>
            <a:pPr algn="ctr" indent="0" marL="0">
              <a:buNone/>
            </a:pPr>
            <a:r>
              <a:rPr lang="en-US" sz="1200" b="1" spc="100" kern="0" dirty="0">
                <a:solidFill>
                  <a:schemeClr val="accent1"/>
                </a:solidFill>
              </a:rPr>
              <a:t>REVIEW 1  |  WEEK 7</a:t>
            </a:r>
            <a:endParaRPr lang="en-US" sz="1200" dirty="0"/>
          </a:p>
        </p:txBody>
      </p:sp>
      <p:sp>
        <p:nvSpPr>
          <p:cNvPr id="5" name="FR1 card"/>
          <p:cNvSpPr/>
          <p:nvPr/>
        </p:nvSpPr>
        <p:spPr>
          <a:xfrm>
            <a:off x="548640" y="1325880"/>
            <a:ext cx="5422392" cy="1051560"/>
          </a:xfrm>
          <a:prstGeom prst="roundRect">
            <a:avLst>
              <a:gd name="adj" fmla="val 8696"/>
            </a:avLst>
          </a:prstGeom>
          <a:solidFill>
            <a:schemeClr val="bg2"/>
          </a:solidFill>
          <a:ln w="12700">
            <a:solidFill>
              <a:schemeClr val="bg2"/>
            </a:solidFill>
            <a:prstDash val="solid"/>
          </a:ln>
        </p:spPr>
      </p:sp>
      <p:sp>
        <p:nvSpPr>
          <p:cNvPr id="6" name="FR badge"/>
          <p:cNvSpPr/>
          <p:nvPr/>
        </p:nvSpPr>
        <p:spPr>
          <a:xfrm>
            <a:off x="731520" y="1508760"/>
            <a:ext cx="685800" cy="685800"/>
          </a:xfrm>
          <a:prstGeom prst="ellipse">
            <a:avLst/>
          </a:prstGeom>
          <a:solidFill>
            <a:schemeClr val="accent1"/>
          </a:solidFill>
          <a:ln w="12700">
            <a:solidFill>
              <a:schemeClr val="accent1"/>
            </a:solidFill>
            <a:prstDash val="solid"/>
          </a:ln>
        </p:spPr>
      </p:sp>
      <p:sp>
        <p:nvSpPr>
          <p:cNvPr id="7" name="Text 5"/>
          <p:cNvSpPr txBox="1"/>
          <p:nvPr/>
        </p:nvSpPr>
        <p:spPr>
          <a:xfrm>
            <a:off x="731520" y="1508760"/>
            <a:ext cx="685800" cy="685800"/>
          </a:xfrm>
          <a:prstGeom prst="rect">
            <a:avLst/>
          </a:prstGeom>
          <a:noFill/>
          <a:ln/>
        </p:spPr>
        <p:txBody>
          <a:bodyPr wrap="square" lIns="0" tIns="0" rIns="0" bIns="0" rtlCol="0" anchor="ctr"/>
          <a:lstStyle/>
          <a:p>
            <a:pPr algn="ctr" indent="0" marL="0">
              <a:buNone/>
            </a:pPr>
            <a:r>
              <a:rPr lang="en-US" sz="1400" b="1" dirty="0">
                <a:solidFill>
                  <a:schemeClr val="bg1"/>
                </a:solidFill>
              </a:rPr>
              <a:t>FR1</a:t>
            </a:r>
            <a:endParaRPr lang="en-US" sz="1400" dirty="0"/>
          </a:p>
        </p:txBody>
      </p:sp>
      <p:sp>
        <p:nvSpPr>
          <p:cNvPr id="8" name="Text 6"/>
          <p:cNvSpPr txBox="1"/>
          <p:nvPr/>
        </p:nvSpPr>
        <p:spPr>
          <a:xfrm>
            <a:off x="1645920" y="1325880"/>
            <a:ext cx="4114800" cy="1051560"/>
          </a:xfrm>
          <a:prstGeom prst="rect">
            <a:avLst/>
          </a:prstGeom>
          <a:noFill/>
          <a:ln/>
        </p:spPr>
        <p:txBody>
          <a:bodyPr wrap="square" lIns="0" tIns="0" rIns="0" bIns="0" rtlCol="0" anchor="ctr"/>
          <a:lstStyle/>
          <a:p>
            <a:pPr indent="0" marL="0">
              <a:buNone/>
            </a:pPr>
            <a:r>
              <a:rPr lang="en-US" sz="1400" dirty="0">
                <a:solidFill>
                  <a:schemeClr val="tx1"/>
                </a:solidFill>
              </a:rPr>
              <a:t>Register, update and search donors</a:t>
            </a:r>
            <a:endParaRPr lang="en-US" sz="1400" dirty="0"/>
          </a:p>
        </p:txBody>
      </p:sp>
      <p:sp>
        <p:nvSpPr>
          <p:cNvPr id="9" name="FR2 card"/>
          <p:cNvSpPr/>
          <p:nvPr/>
        </p:nvSpPr>
        <p:spPr>
          <a:xfrm>
            <a:off x="6217920" y="1325880"/>
            <a:ext cx="5422392" cy="1051560"/>
          </a:xfrm>
          <a:prstGeom prst="roundRect">
            <a:avLst>
              <a:gd name="adj" fmla="val 8696"/>
            </a:avLst>
          </a:prstGeom>
          <a:solidFill>
            <a:schemeClr val="bg2"/>
          </a:solidFill>
          <a:ln w="12700">
            <a:solidFill>
              <a:schemeClr val="bg2"/>
            </a:solidFill>
            <a:prstDash val="solid"/>
          </a:ln>
        </p:spPr>
      </p:sp>
      <p:sp>
        <p:nvSpPr>
          <p:cNvPr id="10" name="FR badge"/>
          <p:cNvSpPr/>
          <p:nvPr/>
        </p:nvSpPr>
        <p:spPr>
          <a:xfrm>
            <a:off x="6400800" y="1508760"/>
            <a:ext cx="685800" cy="685800"/>
          </a:xfrm>
          <a:prstGeom prst="ellipse">
            <a:avLst/>
          </a:prstGeom>
          <a:solidFill>
            <a:schemeClr val="accent1"/>
          </a:solidFill>
          <a:ln w="12700">
            <a:solidFill>
              <a:schemeClr val="accent1"/>
            </a:solidFill>
            <a:prstDash val="solid"/>
          </a:ln>
        </p:spPr>
      </p:sp>
      <p:sp>
        <p:nvSpPr>
          <p:cNvPr id="11" name="Text 9"/>
          <p:cNvSpPr txBox="1"/>
          <p:nvPr/>
        </p:nvSpPr>
        <p:spPr>
          <a:xfrm>
            <a:off x="6400800" y="1508760"/>
            <a:ext cx="685800" cy="685800"/>
          </a:xfrm>
          <a:prstGeom prst="rect">
            <a:avLst/>
          </a:prstGeom>
          <a:noFill/>
          <a:ln/>
        </p:spPr>
        <p:txBody>
          <a:bodyPr wrap="square" lIns="0" tIns="0" rIns="0" bIns="0" rtlCol="0" anchor="ctr"/>
          <a:lstStyle/>
          <a:p>
            <a:pPr algn="ctr" indent="0" marL="0">
              <a:buNone/>
            </a:pPr>
            <a:r>
              <a:rPr lang="en-US" sz="1400" b="1" dirty="0">
                <a:solidFill>
                  <a:schemeClr val="bg1"/>
                </a:solidFill>
              </a:rPr>
              <a:t>FR2</a:t>
            </a:r>
            <a:endParaRPr lang="en-US" sz="1400" dirty="0"/>
          </a:p>
        </p:txBody>
      </p:sp>
      <p:sp>
        <p:nvSpPr>
          <p:cNvPr id="12" name="Text 10"/>
          <p:cNvSpPr txBox="1"/>
          <p:nvPr/>
        </p:nvSpPr>
        <p:spPr>
          <a:xfrm>
            <a:off x="7315200" y="1325880"/>
            <a:ext cx="4114800" cy="1051560"/>
          </a:xfrm>
          <a:prstGeom prst="rect">
            <a:avLst/>
          </a:prstGeom>
          <a:noFill/>
          <a:ln/>
        </p:spPr>
        <p:txBody>
          <a:bodyPr wrap="square" lIns="0" tIns="0" rIns="0" bIns="0" rtlCol="0" anchor="ctr"/>
          <a:lstStyle/>
          <a:p>
            <a:pPr indent="0" marL="0">
              <a:buNone/>
            </a:pPr>
            <a:r>
              <a:rPr lang="en-US" sz="1400" dirty="0">
                <a:solidFill>
                  <a:schemeClr val="tx1"/>
                </a:solidFill>
              </a:rPr>
              <a:t>Check donor eligibility: age, haemoglobin and gap since last donation</a:t>
            </a:r>
            <a:endParaRPr lang="en-US" sz="1400" dirty="0"/>
          </a:p>
        </p:txBody>
      </p:sp>
      <p:sp>
        <p:nvSpPr>
          <p:cNvPr id="13" name="FR3 card"/>
          <p:cNvSpPr/>
          <p:nvPr/>
        </p:nvSpPr>
        <p:spPr>
          <a:xfrm>
            <a:off x="548640" y="2514600"/>
            <a:ext cx="5422392" cy="1051560"/>
          </a:xfrm>
          <a:prstGeom prst="roundRect">
            <a:avLst>
              <a:gd name="adj" fmla="val 8696"/>
            </a:avLst>
          </a:prstGeom>
          <a:solidFill>
            <a:schemeClr val="bg2"/>
          </a:solidFill>
          <a:ln w="12700">
            <a:solidFill>
              <a:schemeClr val="bg2"/>
            </a:solidFill>
            <a:prstDash val="solid"/>
          </a:ln>
        </p:spPr>
      </p:sp>
      <p:sp>
        <p:nvSpPr>
          <p:cNvPr id="14" name="FR badge"/>
          <p:cNvSpPr/>
          <p:nvPr/>
        </p:nvSpPr>
        <p:spPr>
          <a:xfrm>
            <a:off x="731520" y="2697480"/>
            <a:ext cx="685800" cy="685800"/>
          </a:xfrm>
          <a:prstGeom prst="ellipse">
            <a:avLst/>
          </a:prstGeom>
          <a:solidFill>
            <a:schemeClr val="accent1"/>
          </a:solidFill>
          <a:ln w="12700">
            <a:solidFill>
              <a:schemeClr val="accent1"/>
            </a:solidFill>
            <a:prstDash val="solid"/>
          </a:ln>
        </p:spPr>
      </p:sp>
      <p:sp>
        <p:nvSpPr>
          <p:cNvPr id="15" name="Text 13"/>
          <p:cNvSpPr txBox="1"/>
          <p:nvPr/>
        </p:nvSpPr>
        <p:spPr>
          <a:xfrm>
            <a:off x="731520" y="2697480"/>
            <a:ext cx="685800" cy="685800"/>
          </a:xfrm>
          <a:prstGeom prst="rect">
            <a:avLst/>
          </a:prstGeom>
          <a:noFill/>
          <a:ln/>
        </p:spPr>
        <p:txBody>
          <a:bodyPr wrap="square" lIns="0" tIns="0" rIns="0" bIns="0" rtlCol="0" anchor="ctr"/>
          <a:lstStyle/>
          <a:p>
            <a:pPr algn="ctr" indent="0" marL="0">
              <a:buNone/>
            </a:pPr>
            <a:r>
              <a:rPr lang="en-US" sz="1400" b="1" dirty="0">
                <a:solidFill>
                  <a:schemeClr val="bg1"/>
                </a:solidFill>
              </a:rPr>
              <a:t>FR3</a:t>
            </a:r>
            <a:endParaRPr lang="en-US" sz="1400" dirty="0"/>
          </a:p>
        </p:txBody>
      </p:sp>
      <p:sp>
        <p:nvSpPr>
          <p:cNvPr id="16" name="Text 14"/>
          <p:cNvSpPr txBox="1"/>
          <p:nvPr/>
        </p:nvSpPr>
        <p:spPr>
          <a:xfrm>
            <a:off x="1645920" y="2514600"/>
            <a:ext cx="4114800" cy="1051560"/>
          </a:xfrm>
          <a:prstGeom prst="rect">
            <a:avLst/>
          </a:prstGeom>
          <a:noFill/>
          <a:ln/>
        </p:spPr>
        <p:txBody>
          <a:bodyPr wrap="square" lIns="0" tIns="0" rIns="0" bIns="0" rtlCol="0" anchor="ctr"/>
          <a:lstStyle/>
          <a:p>
            <a:pPr indent="0" marL="0">
              <a:buNone/>
            </a:pPr>
            <a:r>
              <a:rPr lang="en-US" sz="1400" dirty="0">
                <a:solidFill>
                  <a:schemeClr val="tx1"/>
                </a:solidFill>
              </a:rPr>
              <a:t>Record donations with screening result</a:t>
            </a:r>
            <a:endParaRPr lang="en-US" sz="1400" dirty="0"/>
          </a:p>
        </p:txBody>
      </p:sp>
      <p:sp>
        <p:nvSpPr>
          <p:cNvPr id="17" name="FR4 card"/>
          <p:cNvSpPr/>
          <p:nvPr/>
        </p:nvSpPr>
        <p:spPr>
          <a:xfrm>
            <a:off x="6217920" y="2514600"/>
            <a:ext cx="5422392" cy="1051560"/>
          </a:xfrm>
          <a:prstGeom prst="roundRect">
            <a:avLst>
              <a:gd name="adj" fmla="val 8696"/>
            </a:avLst>
          </a:prstGeom>
          <a:solidFill>
            <a:schemeClr val="bg2"/>
          </a:solidFill>
          <a:ln w="12700">
            <a:solidFill>
              <a:schemeClr val="bg2"/>
            </a:solidFill>
            <a:prstDash val="solid"/>
          </a:ln>
        </p:spPr>
      </p:sp>
      <p:sp>
        <p:nvSpPr>
          <p:cNvPr id="18" name="FR badge"/>
          <p:cNvSpPr/>
          <p:nvPr/>
        </p:nvSpPr>
        <p:spPr>
          <a:xfrm>
            <a:off x="6400800" y="2697480"/>
            <a:ext cx="685800" cy="685800"/>
          </a:xfrm>
          <a:prstGeom prst="ellipse">
            <a:avLst/>
          </a:prstGeom>
          <a:solidFill>
            <a:schemeClr val="accent1"/>
          </a:solidFill>
          <a:ln w="12700">
            <a:solidFill>
              <a:schemeClr val="accent1"/>
            </a:solidFill>
            <a:prstDash val="solid"/>
          </a:ln>
        </p:spPr>
      </p:sp>
      <p:sp>
        <p:nvSpPr>
          <p:cNvPr id="19" name="Text 17"/>
          <p:cNvSpPr txBox="1"/>
          <p:nvPr/>
        </p:nvSpPr>
        <p:spPr>
          <a:xfrm>
            <a:off x="6400800" y="2697480"/>
            <a:ext cx="685800" cy="685800"/>
          </a:xfrm>
          <a:prstGeom prst="rect">
            <a:avLst/>
          </a:prstGeom>
          <a:noFill/>
          <a:ln/>
        </p:spPr>
        <p:txBody>
          <a:bodyPr wrap="square" lIns="0" tIns="0" rIns="0" bIns="0" rtlCol="0" anchor="ctr"/>
          <a:lstStyle/>
          <a:p>
            <a:pPr algn="ctr" indent="0" marL="0">
              <a:buNone/>
            </a:pPr>
            <a:r>
              <a:rPr lang="en-US" sz="1400" b="1" dirty="0">
                <a:solidFill>
                  <a:schemeClr val="bg1"/>
                </a:solidFill>
              </a:rPr>
              <a:t>FR4</a:t>
            </a:r>
            <a:endParaRPr lang="en-US" sz="1400" dirty="0"/>
          </a:p>
        </p:txBody>
      </p:sp>
      <p:sp>
        <p:nvSpPr>
          <p:cNvPr id="20" name="Text 18"/>
          <p:cNvSpPr txBox="1"/>
          <p:nvPr/>
        </p:nvSpPr>
        <p:spPr>
          <a:xfrm>
            <a:off x="7315200" y="2514600"/>
            <a:ext cx="4114800" cy="1051560"/>
          </a:xfrm>
          <a:prstGeom prst="rect">
            <a:avLst/>
          </a:prstGeom>
          <a:noFill/>
          <a:ln/>
        </p:spPr>
        <p:txBody>
          <a:bodyPr wrap="square" lIns="0" tIns="0" rIns="0" bIns="0" rtlCol="0" anchor="ctr"/>
          <a:lstStyle/>
          <a:p>
            <a:pPr indent="0" marL="0">
              <a:buNone/>
            </a:pPr>
            <a:r>
              <a:rPr lang="en-US" sz="1400" dirty="0">
                <a:solidFill>
                  <a:schemeClr val="tx1"/>
                </a:solidFill>
              </a:rPr>
              <a:t>Create blood units with component and expiry date</a:t>
            </a:r>
            <a:endParaRPr lang="en-US" sz="1400" dirty="0"/>
          </a:p>
        </p:txBody>
      </p:sp>
      <p:sp>
        <p:nvSpPr>
          <p:cNvPr id="21" name="FR5 card"/>
          <p:cNvSpPr/>
          <p:nvPr/>
        </p:nvSpPr>
        <p:spPr>
          <a:xfrm>
            <a:off x="548640" y="3703320"/>
            <a:ext cx="5422392" cy="1051560"/>
          </a:xfrm>
          <a:prstGeom prst="roundRect">
            <a:avLst>
              <a:gd name="adj" fmla="val 8696"/>
            </a:avLst>
          </a:prstGeom>
          <a:solidFill>
            <a:schemeClr val="bg2"/>
          </a:solidFill>
          <a:ln w="12700">
            <a:solidFill>
              <a:schemeClr val="bg2"/>
            </a:solidFill>
            <a:prstDash val="solid"/>
          </a:ln>
        </p:spPr>
      </p:sp>
      <p:sp>
        <p:nvSpPr>
          <p:cNvPr id="22" name="FR badge"/>
          <p:cNvSpPr/>
          <p:nvPr/>
        </p:nvSpPr>
        <p:spPr>
          <a:xfrm>
            <a:off x="731520" y="3886200"/>
            <a:ext cx="685800" cy="685800"/>
          </a:xfrm>
          <a:prstGeom prst="ellipse">
            <a:avLst/>
          </a:prstGeom>
          <a:solidFill>
            <a:schemeClr val="accent1"/>
          </a:solidFill>
          <a:ln w="12700">
            <a:solidFill>
              <a:schemeClr val="accent1"/>
            </a:solidFill>
            <a:prstDash val="solid"/>
          </a:ln>
        </p:spPr>
      </p:sp>
      <p:sp>
        <p:nvSpPr>
          <p:cNvPr id="23" name="Text 21"/>
          <p:cNvSpPr txBox="1"/>
          <p:nvPr/>
        </p:nvSpPr>
        <p:spPr>
          <a:xfrm>
            <a:off x="731520" y="3886200"/>
            <a:ext cx="685800" cy="685800"/>
          </a:xfrm>
          <a:prstGeom prst="rect">
            <a:avLst/>
          </a:prstGeom>
          <a:noFill/>
          <a:ln/>
        </p:spPr>
        <p:txBody>
          <a:bodyPr wrap="square" lIns="0" tIns="0" rIns="0" bIns="0" rtlCol="0" anchor="ctr"/>
          <a:lstStyle/>
          <a:p>
            <a:pPr algn="ctr" indent="0" marL="0">
              <a:buNone/>
            </a:pPr>
            <a:r>
              <a:rPr lang="en-US" sz="1400" b="1" dirty="0">
                <a:solidFill>
                  <a:schemeClr val="bg1"/>
                </a:solidFill>
              </a:rPr>
              <a:t>FR5</a:t>
            </a:r>
            <a:endParaRPr lang="en-US" sz="1400" dirty="0"/>
          </a:p>
        </p:txBody>
      </p:sp>
      <p:sp>
        <p:nvSpPr>
          <p:cNvPr id="24" name="Text 22"/>
          <p:cNvSpPr txBox="1"/>
          <p:nvPr/>
        </p:nvSpPr>
        <p:spPr>
          <a:xfrm>
            <a:off x="1645920" y="3703320"/>
            <a:ext cx="4114800" cy="1051560"/>
          </a:xfrm>
          <a:prstGeom prst="rect">
            <a:avLst/>
          </a:prstGeom>
          <a:noFill/>
          <a:ln/>
        </p:spPr>
        <p:txBody>
          <a:bodyPr wrap="square" lIns="0" tIns="0" rIns="0" bIns="0" rtlCol="0" anchor="ctr"/>
          <a:lstStyle/>
          <a:p>
            <a:pPr indent="0" marL="0">
              <a:buNone/>
            </a:pPr>
            <a:r>
              <a:rPr lang="en-US" sz="1400" dirty="0">
                <a:solidFill>
                  <a:schemeClr val="tx1"/>
                </a:solidFill>
              </a:rPr>
              <a:t>Track inventory and flag expiring or expired units</a:t>
            </a:r>
            <a:endParaRPr lang="en-US" sz="1400" dirty="0"/>
          </a:p>
        </p:txBody>
      </p:sp>
      <p:sp>
        <p:nvSpPr>
          <p:cNvPr id="25" name="FR6 card"/>
          <p:cNvSpPr/>
          <p:nvPr/>
        </p:nvSpPr>
        <p:spPr>
          <a:xfrm>
            <a:off x="6217920" y="3703320"/>
            <a:ext cx="5422392" cy="1051560"/>
          </a:xfrm>
          <a:prstGeom prst="roundRect">
            <a:avLst>
              <a:gd name="adj" fmla="val 8696"/>
            </a:avLst>
          </a:prstGeom>
          <a:solidFill>
            <a:schemeClr val="bg2"/>
          </a:solidFill>
          <a:ln w="12700">
            <a:solidFill>
              <a:schemeClr val="bg2"/>
            </a:solidFill>
            <a:prstDash val="solid"/>
          </a:ln>
        </p:spPr>
      </p:sp>
      <p:sp>
        <p:nvSpPr>
          <p:cNvPr id="26" name="FR badge"/>
          <p:cNvSpPr/>
          <p:nvPr/>
        </p:nvSpPr>
        <p:spPr>
          <a:xfrm>
            <a:off x="6400800" y="3886200"/>
            <a:ext cx="685800" cy="685800"/>
          </a:xfrm>
          <a:prstGeom prst="ellipse">
            <a:avLst/>
          </a:prstGeom>
          <a:solidFill>
            <a:schemeClr val="accent1"/>
          </a:solidFill>
          <a:ln w="12700">
            <a:solidFill>
              <a:schemeClr val="accent1"/>
            </a:solidFill>
            <a:prstDash val="solid"/>
          </a:ln>
        </p:spPr>
      </p:sp>
      <p:sp>
        <p:nvSpPr>
          <p:cNvPr id="27" name="Text 25"/>
          <p:cNvSpPr txBox="1"/>
          <p:nvPr/>
        </p:nvSpPr>
        <p:spPr>
          <a:xfrm>
            <a:off x="6400800" y="3886200"/>
            <a:ext cx="685800" cy="685800"/>
          </a:xfrm>
          <a:prstGeom prst="rect">
            <a:avLst/>
          </a:prstGeom>
          <a:noFill/>
          <a:ln/>
        </p:spPr>
        <p:txBody>
          <a:bodyPr wrap="square" lIns="0" tIns="0" rIns="0" bIns="0" rtlCol="0" anchor="ctr"/>
          <a:lstStyle/>
          <a:p>
            <a:pPr algn="ctr" indent="0" marL="0">
              <a:buNone/>
            </a:pPr>
            <a:r>
              <a:rPr lang="en-US" sz="1400" b="1" dirty="0">
                <a:solidFill>
                  <a:schemeClr val="bg1"/>
                </a:solidFill>
              </a:rPr>
              <a:t>FR6</a:t>
            </a:r>
            <a:endParaRPr lang="en-US" sz="1400" dirty="0"/>
          </a:p>
        </p:txBody>
      </p:sp>
      <p:sp>
        <p:nvSpPr>
          <p:cNvPr id="28" name="Text 26"/>
          <p:cNvSpPr txBox="1"/>
          <p:nvPr/>
        </p:nvSpPr>
        <p:spPr>
          <a:xfrm>
            <a:off x="7315200" y="3703320"/>
            <a:ext cx="4114800" cy="1051560"/>
          </a:xfrm>
          <a:prstGeom prst="rect">
            <a:avLst/>
          </a:prstGeom>
          <a:noFill/>
          <a:ln/>
        </p:spPr>
        <p:txBody>
          <a:bodyPr wrap="square" lIns="0" tIns="0" rIns="0" bIns="0" rtlCol="0" anchor="ctr"/>
          <a:lstStyle/>
          <a:p>
            <a:pPr indent="0" marL="0">
              <a:buNone/>
            </a:pPr>
            <a:r>
              <a:rPr lang="en-US" sz="1400" dirty="0">
                <a:solidFill>
                  <a:schemeClr val="tx1"/>
                </a:solidFill>
              </a:rPr>
              <a:t>Register hospitals and raise blood requests</a:t>
            </a:r>
            <a:endParaRPr lang="en-US" sz="1400" dirty="0"/>
          </a:p>
        </p:txBody>
      </p:sp>
      <p:sp>
        <p:nvSpPr>
          <p:cNvPr id="29" name="FR7 card"/>
          <p:cNvSpPr/>
          <p:nvPr/>
        </p:nvSpPr>
        <p:spPr>
          <a:xfrm>
            <a:off x="548640" y="4892040"/>
            <a:ext cx="5422392" cy="1051560"/>
          </a:xfrm>
          <a:prstGeom prst="roundRect">
            <a:avLst>
              <a:gd name="adj" fmla="val 8696"/>
            </a:avLst>
          </a:prstGeom>
          <a:solidFill>
            <a:schemeClr val="bg2"/>
          </a:solidFill>
          <a:ln w="12700">
            <a:solidFill>
              <a:schemeClr val="bg2"/>
            </a:solidFill>
            <a:prstDash val="solid"/>
          </a:ln>
        </p:spPr>
      </p:sp>
      <p:sp>
        <p:nvSpPr>
          <p:cNvPr id="30" name="FR badge"/>
          <p:cNvSpPr/>
          <p:nvPr/>
        </p:nvSpPr>
        <p:spPr>
          <a:xfrm>
            <a:off x="731520" y="5074920"/>
            <a:ext cx="685800" cy="685800"/>
          </a:xfrm>
          <a:prstGeom prst="ellipse">
            <a:avLst/>
          </a:prstGeom>
          <a:solidFill>
            <a:schemeClr val="accent1"/>
          </a:solidFill>
          <a:ln w="12700">
            <a:solidFill>
              <a:schemeClr val="accent1"/>
            </a:solidFill>
            <a:prstDash val="solid"/>
          </a:ln>
        </p:spPr>
      </p:sp>
      <p:sp>
        <p:nvSpPr>
          <p:cNvPr id="31" name="Text 29"/>
          <p:cNvSpPr txBox="1"/>
          <p:nvPr/>
        </p:nvSpPr>
        <p:spPr>
          <a:xfrm>
            <a:off x="731520" y="5074920"/>
            <a:ext cx="685800" cy="685800"/>
          </a:xfrm>
          <a:prstGeom prst="rect">
            <a:avLst/>
          </a:prstGeom>
          <a:noFill/>
          <a:ln/>
        </p:spPr>
        <p:txBody>
          <a:bodyPr wrap="square" lIns="0" tIns="0" rIns="0" bIns="0" rtlCol="0" anchor="ctr"/>
          <a:lstStyle/>
          <a:p>
            <a:pPr algn="ctr" indent="0" marL="0">
              <a:buNone/>
            </a:pPr>
            <a:r>
              <a:rPr lang="en-US" sz="1400" b="1" dirty="0">
                <a:solidFill>
                  <a:schemeClr val="bg1"/>
                </a:solidFill>
              </a:rPr>
              <a:t>FR7</a:t>
            </a:r>
            <a:endParaRPr lang="en-US" sz="1400" dirty="0"/>
          </a:p>
        </p:txBody>
      </p:sp>
      <p:sp>
        <p:nvSpPr>
          <p:cNvPr id="32" name="Text 30"/>
          <p:cNvSpPr txBox="1"/>
          <p:nvPr/>
        </p:nvSpPr>
        <p:spPr>
          <a:xfrm>
            <a:off x="1645920" y="4892040"/>
            <a:ext cx="4114800" cy="1051560"/>
          </a:xfrm>
          <a:prstGeom prst="rect">
            <a:avLst/>
          </a:prstGeom>
          <a:noFill/>
          <a:ln/>
        </p:spPr>
        <p:txBody>
          <a:bodyPr wrap="square" lIns="0" tIns="0" rIns="0" bIns="0" rtlCol="0" anchor="ctr"/>
          <a:lstStyle/>
          <a:p>
            <a:pPr indent="0" marL="0">
              <a:buNone/>
            </a:pPr>
            <a:r>
              <a:rPr lang="en-US" sz="1400" dirty="0">
                <a:solidFill>
                  <a:schemeClr val="tx1"/>
                </a:solidFill>
              </a:rPr>
              <a:t>Issue units against requests and update unit status</a:t>
            </a:r>
            <a:endParaRPr lang="en-US" sz="1400" dirty="0"/>
          </a:p>
        </p:txBody>
      </p:sp>
      <p:sp>
        <p:nvSpPr>
          <p:cNvPr id="33" name="FR8 card"/>
          <p:cNvSpPr/>
          <p:nvPr/>
        </p:nvSpPr>
        <p:spPr>
          <a:xfrm>
            <a:off x="6217920" y="4892040"/>
            <a:ext cx="5422392" cy="1051560"/>
          </a:xfrm>
          <a:prstGeom prst="roundRect">
            <a:avLst>
              <a:gd name="adj" fmla="val 8696"/>
            </a:avLst>
          </a:prstGeom>
          <a:solidFill>
            <a:schemeClr val="bg2"/>
          </a:solidFill>
          <a:ln w="12700">
            <a:solidFill>
              <a:schemeClr val="bg2"/>
            </a:solidFill>
            <a:prstDash val="solid"/>
          </a:ln>
        </p:spPr>
      </p:sp>
      <p:sp>
        <p:nvSpPr>
          <p:cNvPr id="34" name="FR badge"/>
          <p:cNvSpPr/>
          <p:nvPr/>
        </p:nvSpPr>
        <p:spPr>
          <a:xfrm>
            <a:off x="6400800" y="5074920"/>
            <a:ext cx="685800" cy="685800"/>
          </a:xfrm>
          <a:prstGeom prst="ellipse">
            <a:avLst/>
          </a:prstGeom>
          <a:solidFill>
            <a:schemeClr val="accent1"/>
          </a:solidFill>
          <a:ln w="12700">
            <a:solidFill>
              <a:schemeClr val="accent1"/>
            </a:solidFill>
            <a:prstDash val="solid"/>
          </a:ln>
        </p:spPr>
      </p:sp>
      <p:sp>
        <p:nvSpPr>
          <p:cNvPr id="35" name="Text 33"/>
          <p:cNvSpPr txBox="1"/>
          <p:nvPr/>
        </p:nvSpPr>
        <p:spPr>
          <a:xfrm>
            <a:off x="6400800" y="5074920"/>
            <a:ext cx="685800" cy="685800"/>
          </a:xfrm>
          <a:prstGeom prst="rect">
            <a:avLst/>
          </a:prstGeom>
          <a:noFill/>
          <a:ln/>
        </p:spPr>
        <p:txBody>
          <a:bodyPr wrap="square" lIns="0" tIns="0" rIns="0" bIns="0" rtlCol="0" anchor="ctr"/>
          <a:lstStyle/>
          <a:p>
            <a:pPr algn="ctr" indent="0" marL="0">
              <a:buNone/>
            </a:pPr>
            <a:r>
              <a:rPr lang="en-US" sz="1400" b="1" dirty="0">
                <a:solidFill>
                  <a:schemeClr val="bg1"/>
                </a:solidFill>
              </a:rPr>
              <a:t>FR8</a:t>
            </a:r>
            <a:endParaRPr lang="en-US" sz="1400" dirty="0"/>
          </a:p>
        </p:txBody>
      </p:sp>
      <p:sp>
        <p:nvSpPr>
          <p:cNvPr id="36" name="Text 34"/>
          <p:cNvSpPr txBox="1"/>
          <p:nvPr/>
        </p:nvSpPr>
        <p:spPr>
          <a:xfrm>
            <a:off x="7315200" y="4892040"/>
            <a:ext cx="4114800" cy="1051560"/>
          </a:xfrm>
          <a:prstGeom prst="rect">
            <a:avLst/>
          </a:prstGeom>
          <a:noFill/>
          <a:ln/>
        </p:spPr>
        <p:txBody>
          <a:bodyPr wrap="square" lIns="0" tIns="0" rIns="0" bIns="0" rtlCol="0" anchor="ctr"/>
          <a:lstStyle/>
          <a:p>
            <a:pPr indent="0" marL="0">
              <a:buNone/>
            </a:pPr>
            <a:r>
              <a:rPr lang="en-US" sz="1400" dirty="0">
                <a:solidFill>
                  <a:schemeClr val="tx1"/>
                </a:solidFill>
              </a:rPr>
              <a:t>Report stock summary, donor history and issue log</a:t>
            </a:r>
            <a:endParaRPr lang="en-US" sz="1400" dirty="0"/>
          </a:p>
        </p:txBody>
      </p:sp>
      <p:sp>
        <p:nvSpPr>
          <p:cNvPr id="25" name="Slide Number Placeholder 0"/>
          <p:cNvSpPr>
            <a:spLocks noGrp="1"/>
          </p:cNvSpPr>
          <p:nvPr>
            <p:ph type="sldNum" sz="quarter" idx="4294967295"/>
          </p:nvPr>
        </p:nvSpPr>
        <p:spPr>
          <a:xfrm>
            <a:off x="11064240" y="647395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731520"/>
          </a:xfrm>
          <a:prstGeom prst="rect">
            <a:avLst/>
          </a:prstGeom>
          <a:noFill/>
          <a:ln/>
        </p:spPr>
        <p:txBody>
          <a:bodyPr wrap="square" lIns="0" tIns="0" rIns="0" bIns="0" rtlCol="0" anchor="ctr"/>
          <a:lstStyle/>
          <a:p>
            <a:pPr algn="l" indent="0" marL="0">
              <a:buNone/>
            </a:pPr>
            <a:r>
              <a:rPr lang="en-US" sz="3400" b="1" dirty="0">
                <a:solidFill>
                  <a:schemeClr val="tx2"/>
                </a:solidFill>
              </a:rPr>
              <a:t>Conceptual Design: ER Diagram</a:t>
            </a:r>
            <a:endParaRPr lang="en-US" sz="3400" dirty="0"/>
          </a:p>
        </p:txBody>
      </p:sp>
      <p:sp>
        <p:nvSpPr>
          <p:cNvPr id="3" name="Review tag"/>
          <p:cNvSpPr/>
          <p:nvPr/>
        </p:nvSpPr>
        <p:spPr>
          <a:xfrm>
            <a:off x="9079992" y="420624"/>
            <a:ext cx="2560320" cy="329184"/>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9079992" y="420624"/>
            <a:ext cx="2560320" cy="329184"/>
          </a:xfrm>
          <a:prstGeom prst="rect">
            <a:avLst/>
          </a:prstGeom>
          <a:noFill/>
          <a:ln/>
        </p:spPr>
        <p:txBody>
          <a:bodyPr wrap="square" lIns="0" tIns="0" rIns="0" bIns="0" rtlCol="0" anchor="ctr"/>
          <a:lstStyle/>
          <a:p>
            <a:pPr algn="ctr" indent="0" marL="0">
              <a:buNone/>
            </a:pPr>
            <a:r>
              <a:rPr lang="en-US" sz="1200" b="1" spc="100" kern="0" dirty="0">
                <a:solidFill>
                  <a:schemeClr val="accent1"/>
                </a:solidFill>
              </a:rPr>
              <a:t>REVIEW 1  |  WEEK 7</a:t>
            </a:r>
            <a:endParaRPr lang="en-US" sz="1200" dirty="0"/>
          </a:p>
        </p:txBody>
      </p:sp>
      <p:sp>
        <p:nvSpPr>
          <p:cNvPr id="5" name="DONOR box"/>
          <p:cNvSpPr/>
          <p:nvPr/>
        </p:nvSpPr>
        <p:spPr>
          <a:xfrm>
            <a:off x="548640" y="1143000"/>
            <a:ext cx="2651760" cy="2103120"/>
          </a:xfrm>
          <a:prstGeom prst="rect">
            <a:avLst/>
          </a:prstGeom>
          <a:solidFill>
            <a:schemeClr val="bg1"/>
          </a:solidFill>
          <a:ln w="15875">
            <a:solidFill>
              <a:schemeClr val="accent1"/>
            </a:solidFill>
            <a:prstDash val="solid"/>
          </a:ln>
        </p:spPr>
      </p:sp>
      <p:sp>
        <p:nvSpPr>
          <p:cNvPr id="6" name="DONOR header"/>
          <p:cNvSpPr/>
          <p:nvPr/>
        </p:nvSpPr>
        <p:spPr>
          <a:xfrm>
            <a:off x="548640" y="1143000"/>
            <a:ext cx="2651760" cy="347472"/>
          </a:xfrm>
          <a:prstGeom prst="rect">
            <a:avLst/>
          </a:prstGeom>
          <a:solidFill>
            <a:schemeClr val="accent1"/>
          </a:solidFill>
          <a:ln w="12700">
            <a:solidFill>
              <a:schemeClr val="accent1"/>
            </a:solidFill>
            <a:prstDash val="solid"/>
          </a:ln>
        </p:spPr>
      </p:sp>
      <p:sp>
        <p:nvSpPr>
          <p:cNvPr id="7" name="DONOR title"/>
          <p:cNvSpPr txBox="1"/>
          <p:nvPr/>
        </p:nvSpPr>
        <p:spPr>
          <a:xfrm>
            <a:off x="548640" y="1143000"/>
            <a:ext cx="2651760" cy="347472"/>
          </a:xfrm>
          <a:prstGeom prst="rect">
            <a:avLst/>
          </a:prstGeom>
          <a:noFill/>
          <a:ln/>
        </p:spPr>
        <p:txBody>
          <a:bodyPr wrap="square" lIns="0" tIns="0" rIns="0" bIns="0" rtlCol="0" anchor="ctr"/>
          <a:lstStyle/>
          <a:p>
            <a:pPr algn="ctr" indent="0" marL="0">
              <a:buNone/>
            </a:pPr>
            <a:r>
              <a:rPr lang="en-US" sz="1300" b="1" dirty="0">
                <a:solidFill>
                  <a:schemeClr val="bg1"/>
                </a:solidFill>
              </a:rPr>
              <a:t>DONOR</a:t>
            </a:r>
            <a:endParaRPr lang="en-US" sz="1300" dirty="0"/>
          </a:p>
        </p:txBody>
      </p:sp>
      <p:sp>
        <p:nvSpPr>
          <p:cNvPr id="8" name="attr"/>
          <p:cNvSpPr txBox="1"/>
          <p:nvPr/>
        </p:nvSpPr>
        <p:spPr>
          <a:xfrm>
            <a:off x="658368" y="1527048"/>
            <a:ext cx="1750162" cy="210312"/>
          </a:xfrm>
          <a:prstGeom prst="rect">
            <a:avLst/>
          </a:prstGeom>
          <a:noFill/>
          <a:ln/>
        </p:spPr>
        <p:txBody>
          <a:bodyPr wrap="square" lIns="0" tIns="0" rIns="0" bIns="0" rtlCol="0" anchor="ctr"/>
          <a:lstStyle/>
          <a:p>
            <a:pPr indent="0" marL="0">
              <a:buNone/>
            </a:pPr>
            <a:r>
              <a:rPr lang="en-US" sz="1100" b="1" dirty="0">
                <a:solidFill>
                  <a:schemeClr val="tx1"/>
                </a:solidFill>
              </a:rPr>
              <a:t>donor_id</a:t>
            </a:r>
            <a:endParaRPr lang="en-US" sz="1100" dirty="0"/>
          </a:p>
        </p:txBody>
      </p:sp>
      <p:sp>
        <p:nvSpPr>
          <p:cNvPr id="9" name="key tag"/>
          <p:cNvSpPr txBox="1"/>
          <p:nvPr/>
        </p:nvSpPr>
        <p:spPr>
          <a:xfrm>
            <a:off x="2423160" y="1527048"/>
            <a:ext cx="685800" cy="210312"/>
          </a:xfrm>
          <a:prstGeom prst="rect">
            <a:avLst/>
          </a:prstGeom>
          <a:noFill/>
          <a:ln/>
        </p:spPr>
        <p:txBody>
          <a:bodyPr wrap="square" lIns="0" tIns="0" rIns="0" bIns="0" rtlCol="0" anchor="ctr"/>
          <a:lstStyle/>
          <a:p>
            <a:pPr algn="r" indent="0" marL="0">
              <a:buNone/>
            </a:pPr>
            <a:r>
              <a:rPr lang="en-US" sz="1100" b="1" dirty="0">
                <a:solidFill>
                  <a:schemeClr val="accent1"/>
                </a:solidFill>
              </a:rPr>
              <a:t>PK</a:t>
            </a:r>
            <a:endParaRPr lang="en-US" sz="1100" dirty="0"/>
          </a:p>
        </p:txBody>
      </p:sp>
      <p:sp>
        <p:nvSpPr>
          <p:cNvPr id="10" name="row shade"/>
          <p:cNvSpPr/>
          <p:nvPr/>
        </p:nvSpPr>
        <p:spPr>
          <a:xfrm>
            <a:off x="585216" y="1737360"/>
            <a:ext cx="2578608" cy="210312"/>
          </a:xfrm>
          <a:prstGeom prst="rect">
            <a:avLst/>
          </a:prstGeom>
          <a:solidFill>
            <a:schemeClr val="bg2"/>
          </a:solidFill>
          <a:ln w="12700">
            <a:solidFill>
              <a:schemeClr val="bg2"/>
            </a:solidFill>
            <a:prstDash val="solid"/>
          </a:ln>
        </p:spPr>
      </p:sp>
      <p:sp>
        <p:nvSpPr>
          <p:cNvPr id="11" name="attr"/>
          <p:cNvSpPr txBox="1"/>
          <p:nvPr/>
        </p:nvSpPr>
        <p:spPr>
          <a:xfrm>
            <a:off x="658368" y="1737360"/>
            <a:ext cx="1750162" cy="210312"/>
          </a:xfrm>
          <a:prstGeom prst="rect">
            <a:avLst/>
          </a:prstGeom>
          <a:noFill/>
          <a:ln/>
        </p:spPr>
        <p:txBody>
          <a:bodyPr wrap="square" lIns="0" tIns="0" rIns="0" bIns="0" rtlCol="0" anchor="ctr"/>
          <a:lstStyle/>
          <a:p>
            <a:pPr indent="0" marL="0">
              <a:buNone/>
            </a:pPr>
            <a:r>
              <a:rPr lang="en-US" sz="1100" dirty="0">
                <a:solidFill>
                  <a:schemeClr val="tx1"/>
                </a:solidFill>
              </a:rPr>
              <a:t>full_name</a:t>
            </a:r>
            <a:endParaRPr lang="en-US" sz="1100" dirty="0"/>
          </a:p>
        </p:txBody>
      </p:sp>
      <p:sp>
        <p:nvSpPr>
          <p:cNvPr id="12" name="key tag"/>
          <p:cNvSpPr txBox="1"/>
          <p:nvPr/>
        </p:nvSpPr>
        <p:spPr>
          <a:xfrm>
            <a:off x="2423160" y="1737360"/>
            <a:ext cx="685800" cy="210312"/>
          </a:xfrm>
          <a:prstGeom prst="rect">
            <a:avLst/>
          </a:prstGeom>
          <a:noFill/>
          <a:ln/>
        </p:spPr>
        <p:txBody>
          <a:bodyPr wrap="square" lIns="0" tIns="0" rIns="0" bIns="0" rtlCol="0" anchor="ctr"/>
          <a:lstStyle/>
          <a:p>
            <a:pPr algn="r" indent="0" marL="0">
              <a:buNone/>
            </a:pPr>
            <a:endParaRPr lang="en-US" sz="1100" dirty="0"/>
          </a:p>
        </p:txBody>
      </p:sp>
      <p:sp>
        <p:nvSpPr>
          <p:cNvPr id="13" name="attr"/>
          <p:cNvSpPr txBox="1"/>
          <p:nvPr/>
        </p:nvSpPr>
        <p:spPr>
          <a:xfrm>
            <a:off x="658368" y="1947672"/>
            <a:ext cx="1750162" cy="210312"/>
          </a:xfrm>
          <a:prstGeom prst="rect">
            <a:avLst/>
          </a:prstGeom>
          <a:noFill/>
          <a:ln/>
        </p:spPr>
        <p:txBody>
          <a:bodyPr wrap="square" lIns="0" tIns="0" rIns="0" bIns="0" rtlCol="0" anchor="ctr"/>
          <a:lstStyle/>
          <a:p>
            <a:pPr indent="0" marL="0">
              <a:buNone/>
            </a:pPr>
            <a:r>
              <a:rPr lang="en-US" sz="1100" dirty="0">
                <a:solidFill>
                  <a:schemeClr val="tx1"/>
                </a:solidFill>
              </a:rPr>
              <a:t>date_of_birth</a:t>
            </a:r>
            <a:endParaRPr lang="en-US" sz="1100" dirty="0"/>
          </a:p>
        </p:txBody>
      </p:sp>
      <p:sp>
        <p:nvSpPr>
          <p:cNvPr id="14" name="key tag"/>
          <p:cNvSpPr txBox="1"/>
          <p:nvPr/>
        </p:nvSpPr>
        <p:spPr>
          <a:xfrm>
            <a:off x="2423160" y="1947672"/>
            <a:ext cx="685800" cy="210312"/>
          </a:xfrm>
          <a:prstGeom prst="rect">
            <a:avLst/>
          </a:prstGeom>
          <a:noFill/>
          <a:ln/>
        </p:spPr>
        <p:txBody>
          <a:bodyPr wrap="square" lIns="0" tIns="0" rIns="0" bIns="0" rtlCol="0" anchor="ctr"/>
          <a:lstStyle/>
          <a:p>
            <a:pPr algn="r" indent="0" marL="0">
              <a:buNone/>
            </a:pPr>
            <a:endParaRPr lang="en-US" sz="1100" dirty="0"/>
          </a:p>
        </p:txBody>
      </p:sp>
      <p:sp>
        <p:nvSpPr>
          <p:cNvPr id="15" name="row shade"/>
          <p:cNvSpPr/>
          <p:nvPr/>
        </p:nvSpPr>
        <p:spPr>
          <a:xfrm>
            <a:off x="585216" y="2157984"/>
            <a:ext cx="2578608" cy="210312"/>
          </a:xfrm>
          <a:prstGeom prst="rect">
            <a:avLst/>
          </a:prstGeom>
          <a:solidFill>
            <a:schemeClr val="bg2"/>
          </a:solidFill>
          <a:ln w="12700">
            <a:solidFill>
              <a:schemeClr val="bg2"/>
            </a:solidFill>
            <a:prstDash val="solid"/>
          </a:ln>
        </p:spPr>
      </p:sp>
      <p:sp>
        <p:nvSpPr>
          <p:cNvPr id="16" name="attr"/>
          <p:cNvSpPr txBox="1"/>
          <p:nvPr/>
        </p:nvSpPr>
        <p:spPr>
          <a:xfrm>
            <a:off x="658368" y="2157984"/>
            <a:ext cx="1750162" cy="210312"/>
          </a:xfrm>
          <a:prstGeom prst="rect">
            <a:avLst/>
          </a:prstGeom>
          <a:noFill/>
          <a:ln/>
        </p:spPr>
        <p:txBody>
          <a:bodyPr wrap="square" lIns="0" tIns="0" rIns="0" bIns="0" rtlCol="0" anchor="ctr"/>
          <a:lstStyle/>
          <a:p>
            <a:pPr indent="0" marL="0">
              <a:buNone/>
            </a:pPr>
            <a:r>
              <a:rPr lang="en-US" sz="1100" dirty="0">
                <a:solidFill>
                  <a:schemeClr val="tx1"/>
                </a:solidFill>
              </a:rPr>
              <a:t>gender</a:t>
            </a:r>
            <a:endParaRPr lang="en-US" sz="1100" dirty="0"/>
          </a:p>
        </p:txBody>
      </p:sp>
      <p:sp>
        <p:nvSpPr>
          <p:cNvPr id="17" name="key tag"/>
          <p:cNvSpPr txBox="1"/>
          <p:nvPr/>
        </p:nvSpPr>
        <p:spPr>
          <a:xfrm>
            <a:off x="2423160" y="2157984"/>
            <a:ext cx="685800" cy="210312"/>
          </a:xfrm>
          <a:prstGeom prst="rect">
            <a:avLst/>
          </a:prstGeom>
          <a:noFill/>
          <a:ln/>
        </p:spPr>
        <p:txBody>
          <a:bodyPr wrap="square" lIns="0" tIns="0" rIns="0" bIns="0" rtlCol="0" anchor="ctr"/>
          <a:lstStyle/>
          <a:p>
            <a:pPr algn="r" indent="0" marL="0">
              <a:buNone/>
            </a:pPr>
            <a:endParaRPr lang="en-US" sz="1100" dirty="0"/>
          </a:p>
        </p:txBody>
      </p:sp>
      <p:sp>
        <p:nvSpPr>
          <p:cNvPr id="18" name="attr"/>
          <p:cNvSpPr txBox="1"/>
          <p:nvPr/>
        </p:nvSpPr>
        <p:spPr>
          <a:xfrm>
            <a:off x="658368" y="2368296"/>
            <a:ext cx="1750162" cy="210312"/>
          </a:xfrm>
          <a:prstGeom prst="rect">
            <a:avLst/>
          </a:prstGeom>
          <a:noFill/>
          <a:ln/>
        </p:spPr>
        <p:txBody>
          <a:bodyPr wrap="square" lIns="0" tIns="0" rIns="0" bIns="0" rtlCol="0" anchor="ctr"/>
          <a:lstStyle/>
          <a:p>
            <a:pPr indent="0" marL="0">
              <a:buNone/>
            </a:pPr>
            <a:r>
              <a:rPr lang="en-US" sz="1100" dirty="0">
                <a:solidFill>
                  <a:schemeClr val="tx1"/>
                </a:solidFill>
              </a:rPr>
              <a:t>blood_group</a:t>
            </a:r>
            <a:endParaRPr lang="en-US" sz="1100" dirty="0"/>
          </a:p>
        </p:txBody>
      </p:sp>
      <p:sp>
        <p:nvSpPr>
          <p:cNvPr id="19" name="key tag"/>
          <p:cNvSpPr txBox="1"/>
          <p:nvPr/>
        </p:nvSpPr>
        <p:spPr>
          <a:xfrm>
            <a:off x="2423160" y="2368296"/>
            <a:ext cx="685800" cy="210312"/>
          </a:xfrm>
          <a:prstGeom prst="rect">
            <a:avLst/>
          </a:prstGeom>
          <a:noFill/>
          <a:ln/>
        </p:spPr>
        <p:txBody>
          <a:bodyPr wrap="square" lIns="0" tIns="0" rIns="0" bIns="0" rtlCol="0" anchor="ctr"/>
          <a:lstStyle/>
          <a:p>
            <a:pPr algn="r" indent="0" marL="0">
              <a:buNone/>
            </a:pPr>
            <a:endParaRPr lang="en-US" sz="1100" dirty="0"/>
          </a:p>
        </p:txBody>
      </p:sp>
      <p:sp>
        <p:nvSpPr>
          <p:cNvPr id="20" name="row shade"/>
          <p:cNvSpPr/>
          <p:nvPr/>
        </p:nvSpPr>
        <p:spPr>
          <a:xfrm>
            <a:off x="585216" y="2578608"/>
            <a:ext cx="2578608" cy="210312"/>
          </a:xfrm>
          <a:prstGeom prst="rect">
            <a:avLst/>
          </a:prstGeom>
          <a:solidFill>
            <a:schemeClr val="bg2"/>
          </a:solidFill>
          <a:ln w="12700">
            <a:solidFill>
              <a:schemeClr val="bg2"/>
            </a:solidFill>
            <a:prstDash val="solid"/>
          </a:ln>
        </p:spPr>
      </p:sp>
      <p:sp>
        <p:nvSpPr>
          <p:cNvPr id="21" name="attr"/>
          <p:cNvSpPr txBox="1"/>
          <p:nvPr/>
        </p:nvSpPr>
        <p:spPr>
          <a:xfrm>
            <a:off x="658368" y="2578608"/>
            <a:ext cx="1750162" cy="210312"/>
          </a:xfrm>
          <a:prstGeom prst="rect">
            <a:avLst/>
          </a:prstGeom>
          <a:noFill/>
          <a:ln/>
        </p:spPr>
        <p:txBody>
          <a:bodyPr wrap="square" lIns="0" tIns="0" rIns="0" bIns="0" rtlCol="0" anchor="ctr"/>
          <a:lstStyle/>
          <a:p>
            <a:pPr indent="0" marL="0">
              <a:buNone/>
            </a:pPr>
            <a:r>
              <a:rPr lang="en-US" sz="1100" dirty="0">
                <a:solidFill>
                  <a:schemeClr val="tx1"/>
                </a:solidFill>
              </a:rPr>
              <a:t>phone</a:t>
            </a:r>
            <a:endParaRPr lang="en-US" sz="1100" dirty="0"/>
          </a:p>
        </p:txBody>
      </p:sp>
      <p:sp>
        <p:nvSpPr>
          <p:cNvPr id="22" name="key tag"/>
          <p:cNvSpPr txBox="1"/>
          <p:nvPr/>
        </p:nvSpPr>
        <p:spPr>
          <a:xfrm>
            <a:off x="2423160" y="2578608"/>
            <a:ext cx="685800" cy="210312"/>
          </a:xfrm>
          <a:prstGeom prst="rect">
            <a:avLst/>
          </a:prstGeom>
          <a:noFill/>
          <a:ln/>
        </p:spPr>
        <p:txBody>
          <a:bodyPr wrap="square" lIns="0" tIns="0" rIns="0" bIns="0" rtlCol="0" anchor="ctr"/>
          <a:lstStyle/>
          <a:p>
            <a:pPr algn="r" indent="0" marL="0">
              <a:buNone/>
            </a:pPr>
            <a:r>
              <a:rPr lang="en-US" sz="1100" b="1" dirty="0">
                <a:solidFill>
                  <a:schemeClr val="accent2"/>
                </a:solidFill>
              </a:rPr>
              <a:t>UQ</a:t>
            </a:r>
            <a:endParaRPr lang="en-US" sz="1100" dirty="0"/>
          </a:p>
        </p:txBody>
      </p:sp>
      <p:sp>
        <p:nvSpPr>
          <p:cNvPr id="23" name="attr"/>
          <p:cNvSpPr txBox="1"/>
          <p:nvPr/>
        </p:nvSpPr>
        <p:spPr>
          <a:xfrm>
            <a:off x="658368" y="2788920"/>
            <a:ext cx="1750162" cy="210312"/>
          </a:xfrm>
          <a:prstGeom prst="rect">
            <a:avLst/>
          </a:prstGeom>
          <a:noFill/>
          <a:ln/>
        </p:spPr>
        <p:txBody>
          <a:bodyPr wrap="square" lIns="0" tIns="0" rIns="0" bIns="0" rtlCol="0" anchor="ctr"/>
          <a:lstStyle/>
          <a:p>
            <a:pPr indent="0" marL="0">
              <a:buNone/>
            </a:pPr>
            <a:r>
              <a:rPr lang="en-US" sz="1100" dirty="0">
                <a:solidFill>
                  <a:schemeClr val="tx1"/>
                </a:solidFill>
              </a:rPr>
              <a:t>city</a:t>
            </a:r>
            <a:endParaRPr lang="en-US" sz="1100" dirty="0"/>
          </a:p>
        </p:txBody>
      </p:sp>
      <p:sp>
        <p:nvSpPr>
          <p:cNvPr id="24" name="key tag"/>
          <p:cNvSpPr txBox="1"/>
          <p:nvPr/>
        </p:nvSpPr>
        <p:spPr>
          <a:xfrm>
            <a:off x="2423160" y="2788920"/>
            <a:ext cx="685800" cy="210312"/>
          </a:xfrm>
          <a:prstGeom prst="rect">
            <a:avLst/>
          </a:prstGeom>
          <a:noFill/>
          <a:ln/>
        </p:spPr>
        <p:txBody>
          <a:bodyPr wrap="square" lIns="0" tIns="0" rIns="0" bIns="0" rtlCol="0" anchor="ctr"/>
          <a:lstStyle/>
          <a:p>
            <a:pPr algn="r" indent="0" marL="0">
              <a:buNone/>
            </a:pPr>
            <a:endParaRPr lang="en-US" sz="1100" dirty="0"/>
          </a:p>
        </p:txBody>
      </p:sp>
      <p:sp>
        <p:nvSpPr>
          <p:cNvPr id="25" name="DONATION box"/>
          <p:cNvSpPr/>
          <p:nvPr/>
        </p:nvSpPr>
        <p:spPr>
          <a:xfrm>
            <a:off x="4770425" y="1143000"/>
            <a:ext cx="2651760" cy="2103120"/>
          </a:xfrm>
          <a:prstGeom prst="rect">
            <a:avLst/>
          </a:prstGeom>
          <a:solidFill>
            <a:schemeClr val="bg1"/>
          </a:solidFill>
          <a:ln w="15875">
            <a:solidFill>
              <a:schemeClr val="accent1"/>
            </a:solidFill>
            <a:prstDash val="solid"/>
          </a:ln>
        </p:spPr>
      </p:sp>
      <p:sp>
        <p:nvSpPr>
          <p:cNvPr id="26" name="DONATION header"/>
          <p:cNvSpPr/>
          <p:nvPr/>
        </p:nvSpPr>
        <p:spPr>
          <a:xfrm>
            <a:off x="4770425" y="1143000"/>
            <a:ext cx="2651760" cy="347472"/>
          </a:xfrm>
          <a:prstGeom prst="rect">
            <a:avLst/>
          </a:prstGeom>
          <a:solidFill>
            <a:schemeClr val="accent1"/>
          </a:solidFill>
          <a:ln w="12700">
            <a:solidFill>
              <a:schemeClr val="accent1"/>
            </a:solidFill>
            <a:prstDash val="solid"/>
          </a:ln>
        </p:spPr>
      </p:sp>
      <p:sp>
        <p:nvSpPr>
          <p:cNvPr id="27" name="DONATION title"/>
          <p:cNvSpPr txBox="1"/>
          <p:nvPr/>
        </p:nvSpPr>
        <p:spPr>
          <a:xfrm>
            <a:off x="4770425" y="1143000"/>
            <a:ext cx="2651760" cy="347472"/>
          </a:xfrm>
          <a:prstGeom prst="rect">
            <a:avLst/>
          </a:prstGeom>
          <a:noFill/>
          <a:ln/>
        </p:spPr>
        <p:txBody>
          <a:bodyPr wrap="square" lIns="0" tIns="0" rIns="0" bIns="0" rtlCol="0" anchor="ctr"/>
          <a:lstStyle/>
          <a:p>
            <a:pPr algn="ctr" indent="0" marL="0">
              <a:buNone/>
            </a:pPr>
            <a:r>
              <a:rPr lang="en-US" sz="1300" b="1" dirty="0">
                <a:solidFill>
                  <a:schemeClr val="bg1"/>
                </a:solidFill>
              </a:rPr>
              <a:t>DONATION</a:t>
            </a:r>
            <a:endParaRPr lang="en-US" sz="1300" dirty="0"/>
          </a:p>
        </p:txBody>
      </p:sp>
      <p:sp>
        <p:nvSpPr>
          <p:cNvPr id="28" name="attr"/>
          <p:cNvSpPr txBox="1"/>
          <p:nvPr/>
        </p:nvSpPr>
        <p:spPr>
          <a:xfrm>
            <a:off x="4880153" y="1527048"/>
            <a:ext cx="1750162" cy="210312"/>
          </a:xfrm>
          <a:prstGeom prst="rect">
            <a:avLst/>
          </a:prstGeom>
          <a:noFill/>
          <a:ln/>
        </p:spPr>
        <p:txBody>
          <a:bodyPr wrap="square" lIns="0" tIns="0" rIns="0" bIns="0" rtlCol="0" anchor="ctr"/>
          <a:lstStyle/>
          <a:p>
            <a:pPr indent="0" marL="0">
              <a:buNone/>
            </a:pPr>
            <a:r>
              <a:rPr lang="en-US" sz="1100" b="1" dirty="0">
                <a:solidFill>
                  <a:schemeClr val="tx1"/>
                </a:solidFill>
              </a:rPr>
              <a:t>donation_id</a:t>
            </a:r>
            <a:endParaRPr lang="en-US" sz="1100" dirty="0"/>
          </a:p>
        </p:txBody>
      </p:sp>
      <p:sp>
        <p:nvSpPr>
          <p:cNvPr id="29" name="key tag"/>
          <p:cNvSpPr txBox="1"/>
          <p:nvPr/>
        </p:nvSpPr>
        <p:spPr>
          <a:xfrm>
            <a:off x="6644945" y="1527048"/>
            <a:ext cx="685800" cy="210312"/>
          </a:xfrm>
          <a:prstGeom prst="rect">
            <a:avLst/>
          </a:prstGeom>
          <a:noFill/>
          <a:ln/>
        </p:spPr>
        <p:txBody>
          <a:bodyPr wrap="square" lIns="0" tIns="0" rIns="0" bIns="0" rtlCol="0" anchor="ctr"/>
          <a:lstStyle/>
          <a:p>
            <a:pPr algn="r" indent="0" marL="0">
              <a:buNone/>
            </a:pPr>
            <a:r>
              <a:rPr lang="en-US" sz="1100" b="1" dirty="0">
                <a:solidFill>
                  <a:schemeClr val="accent1"/>
                </a:solidFill>
              </a:rPr>
              <a:t>PK</a:t>
            </a:r>
            <a:endParaRPr lang="en-US" sz="1100" dirty="0"/>
          </a:p>
        </p:txBody>
      </p:sp>
      <p:sp>
        <p:nvSpPr>
          <p:cNvPr id="30" name="row shade"/>
          <p:cNvSpPr/>
          <p:nvPr/>
        </p:nvSpPr>
        <p:spPr>
          <a:xfrm>
            <a:off x="4807001" y="1737360"/>
            <a:ext cx="2578608" cy="210312"/>
          </a:xfrm>
          <a:prstGeom prst="rect">
            <a:avLst/>
          </a:prstGeom>
          <a:solidFill>
            <a:schemeClr val="bg2"/>
          </a:solidFill>
          <a:ln w="12700">
            <a:solidFill>
              <a:schemeClr val="bg2"/>
            </a:solidFill>
            <a:prstDash val="solid"/>
          </a:ln>
        </p:spPr>
      </p:sp>
      <p:sp>
        <p:nvSpPr>
          <p:cNvPr id="31" name="attr"/>
          <p:cNvSpPr txBox="1"/>
          <p:nvPr/>
        </p:nvSpPr>
        <p:spPr>
          <a:xfrm>
            <a:off x="4880153" y="1737360"/>
            <a:ext cx="1750162" cy="210312"/>
          </a:xfrm>
          <a:prstGeom prst="rect">
            <a:avLst/>
          </a:prstGeom>
          <a:noFill/>
          <a:ln/>
        </p:spPr>
        <p:txBody>
          <a:bodyPr wrap="square" lIns="0" tIns="0" rIns="0" bIns="0" rtlCol="0" anchor="ctr"/>
          <a:lstStyle/>
          <a:p>
            <a:pPr indent="0" marL="0">
              <a:buNone/>
            </a:pPr>
            <a:r>
              <a:rPr lang="en-US" sz="1100" dirty="0">
                <a:solidFill>
                  <a:schemeClr val="tx1"/>
                </a:solidFill>
              </a:rPr>
              <a:t>donor_id</a:t>
            </a:r>
            <a:endParaRPr lang="en-US" sz="1100" dirty="0"/>
          </a:p>
        </p:txBody>
      </p:sp>
      <p:sp>
        <p:nvSpPr>
          <p:cNvPr id="32" name="key tag"/>
          <p:cNvSpPr txBox="1"/>
          <p:nvPr/>
        </p:nvSpPr>
        <p:spPr>
          <a:xfrm>
            <a:off x="6644945" y="1737360"/>
            <a:ext cx="685800" cy="210312"/>
          </a:xfrm>
          <a:prstGeom prst="rect">
            <a:avLst/>
          </a:prstGeom>
          <a:noFill/>
          <a:ln/>
        </p:spPr>
        <p:txBody>
          <a:bodyPr wrap="square" lIns="0" tIns="0" rIns="0" bIns="0" rtlCol="0" anchor="ctr"/>
          <a:lstStyle/>
          <a:p>
            <a:pPr algn="r" indent="0" marL="0">
              <a:buNone/>
            </a:pPr>
            <a:r>
              <a:rPr lang="en-US" sz="1100" b="1" dirty="0">
                <a:solidFill>
                  <a:schemeClr val="accent2"/>
                </a:solidFill>
              </a:rPr>
              <a:t>FK</a:t>
            </a:r>
            <a:endParaRPr lang="en-US" sz="1100" dirty="0"/>
          </a:p>
        </p:txBody>
      </p:sp>
      <p:sp>
        <p:nvSpPr>
          <p:cNvPr id="33" name="attr"/>
          <p:cNvSpPr txBox="1"/>
          <p:nvPr/>
        </p:nvSpPr>
        <p:spPr>
          <a:xfrm>
            <a:off x="4880153" y="1947672"/>
            <a:ext cx="1750162" cy="210312"/>
          </a:xfrm>
          <a:prstGeom prst="rect">
            <a:avLst/>
          </a:prstGeom>
          <a:noFill/>
          <a:ln/>
        </p:spPr>
        <p:txBody>
          <a:bodyPr wrap="square" lIns="0" tIns="0" rIns="0" bIns="0" rtlCol="0" anchor="ctr"/>
          <a:lstStyle/>
          <a:p>
            <a:pPr indent="0" marL="0">
              <a:buNone/>
            </a:pPr>
            <a:r>
              <a:rPr lang="en-US" sz="1100" dirty="0">
                <a:solidFill>
                  <a:schemeClr val="tx1"/>
                </a:solidFill>
              </a:rPr>
              <a:t>donation_date</a:t>
            </a:r>
            <a:endParaRPr lang="en-US" sz="1100" dirty="0"/>
          </a:p>
        </p:txBody>
      </p:sp>
      <p:sp>
        <p:nvSpPr>
          <p:cNvPr id="34" name="key tag"/>
          <p:cNvSpPr txBox="1"/>
          <p:nvPr/>
        </p:nvSpPr>
        <p:spPr>
          <a:xfrm>
            <a:off x="6644945" y="1947672"/>
            <a:ext cx="685800" cy="210312"/>
          </a:xfrm>
          <a:prstGeom prst="rect">
            <a:avLst/>
          </a:prstGeom>
          <a:noFill/>
          <a:ln/>
        </p:spPr>
        <p:txBody>
          <a:bodyPr wrap="square" lIns="0" tIns="0" rIns="0" bIns="0" rtlCol="0" anchor="ctr"/>
          <a:lstStyle/>
          <a:p>
            <a:pPr algn="r" indent="0" marL="0">
              <a:buNone/>
            </a:pPr>
            <a:endParaRPr lang="en-US" sz="1100" dirty="0"/>
          </a:p>
        </p:txBody>
      </p:sp>
      <p:sp>
        <p:nvSpPr>
          <p:cNvPr id="35" name="row shade"/>
          <p:cNvSpPr/>
          <p:nvPr/>
        </p:nvSpPr>
        <p:spPr>
          <a:xfrm>
            <a:off x="4807001" y="2157984"/>
            <a:ext cx="2578608" cy="210312"/>
          </a:xfrm>
          <a:prstGeom prst="rect">
            <a:avLst/>
          </a:prstGeom>
          <a:solidFill>
            <a:schemeClr val="bg2"/>
          </a:solidFill>
          <a:ln w="12700">
            <a:solidFill>
              <a:schemeClr val="bg2"/>
            </a:solidFill>
            <a:prstDash val="solid"/>
          </a:ln>
        </p:spPr>
      </p:sp>
      <p:sp>
        <p:nvSpPr>
          <p:cNvPr id="36" name="attr"/>
          <p:cNvSpPr txBox="1"/>
          <p:nvPr/>
        </p:nvSpPr>
        <p:spPr>
          <a:xfrm>
            <a:off x="4880153" y="2157984"/>
            <a:ext cx="1750162" cy="210312"/>
          </a:xfrm>
          <a:prstGeom prst="rect">
            <a:avLst/>
          </a:prstGeom>
          <a:noFill/>
          <a:ln/>
        </p:spPr>
        <p:txBody>
          <a:bodyPr wrap="square" lIns="0" tIns="0" rIns="0" bIns="0" rtlCol="0" anchor="ctr"/>
          <a:lstStyle/>
          <a:p>
            <a:pPr indent="0" marL="0">
              <a:buNone/>
            </a:pPr>
            <a:r>
              <a:rPr lang="en-US" sz="1100" dirty="0">
                <a:solidFill>
                  <a:schemeClr val="tx1"/>
                </a:solidFill>
              </a:rPr>
              <a:t>volume_ml</a:t>
            </a:r>
            <a:endParaRPr lang="en-US" sz="1100" dirty="0"/>
          </a:p>
        </p:txBody>
      </p:sp>
      <p:sp>
        <p:nvSpPr>
          <p:cNvPr id="37" name="key tag"/>
          <p:cNvSpPr txBox="1"/>
          <p:nvPr/>
        </p:nvSpPr>
        <p:spPr>
          <a:xfrm>
            <a:off x="6644945" y="2157984"/>
            <a:ext cx="685800" cy="210312"/>
          </a:xfrm>
          <a:prstGeom prst="rect">
            <a:avLst/>
          </a:prstGeom>
          <a:noFill/>
          <a:ln/>
        </p:spPr>
        <p:txBody>
          <a:bodyPr wrap="square" lIns="0" tIns="0" rIns="0" bIns="0" rtlCol="0" anchor="ctr"/>
          <a:lstStyle/>
          <a:p>
            <a:pPr algn="r" indent="0" marL="0">
              <a:buNone/>
            </a:pPr>
            <a:endParaRPr lang="en-US" sz="1100" dirty="0"/>
          </a:p>
        </p:txBody>
      </p:sp>
      <p:sp>
        <p:nvSpPr>
          <p:cNvPr id="38" name="attr"/>
          <p:cNvSpPr txBox="1"/>
          <p:nvPr/>
        </p:nvSpPr>
        <p:spPr>
          <a:xfrm>
            <a:off x="4880153" y="2368296"/>
            <a:ext cx="1750162" cy="210312"/>
          </a:xfrm>
          <a:prstGeom prst="rect">
            <a:avLst/>
          </a:prstGeom>
          <a:noFill/>
          <a:ln/>
        </p:spPr>
        <p:txBody>
          <a:bodyPr wrap="square" lIns="0" tIns="0" rIns="0" bIns="0" rtlCol="0" anchor="ctr"/>
          <a:lstStyle/>
          <a:p>
            <a:pPr indent="0" marL="0">
              <a:buNone/>
            </a:pPr>
            <a:r>
              <a:rPr lang="en-US" sz="1100" dirty="0">
                <a:solidFill>
                  <a:schemeClr val="tx1"/>
                </a:solidFill>
              </a:rPr>
              <a:t>hemoglobin_gdl</a:t>
            </a:r>
            <a:endParaRPr lang="en-US" sz="1100" dirty="0"/>
          </a:p>
        </p:txBody>
      </p:sp>
      <p:sp>
        <p:nvSpPr>
          <p:cNvPr id="39" name="key tag"/>
          <p:cNvSpPr txBox="1"/>
          <p:nvPr/>
        </p:nvSpPr>
        <p:spPr>
          <a:xfrm>
            <a:off x="6644945" y="2368296"/>
            <a:ext cx="685800" cy="210312"/>
          </a:xfrm>
          <a:prstGeom prst="rect">
            <a:avLst/>
          </a:prstGeom>
          <a:noFill/>
          <a:ln/>
        </p:spPr>
        <p:txBody>
          <a:bodyPr wrap="square" lIns="0" tIns="0" rIns="0" bIns="0" rtlCol="0" anchor="ctr"/>
          <a:lstStyle/>
          <a:p>
            <a:pPr algn="r" indent="0" marL="0">
              <a:buNone/>
            </a:pPr>
            <a:endParaRPr lang="en-US" sz="1100" dirty="0"/>
          </a:p>
        </p:txBody>
      </p:sp>
      <p:sp>
        <p:nvSpPr>
          <p:cNvPr id="40" name="row shade"/>
          <p:cNvSpPr/>
          <p:nvPr/>
        </p:nvSpPr>
        <p:spPr>
          <a:xfrm>
            <a:off x="4807001" y="2578608"/>
            <a:ext cx="2578608" cy="210312"/>
          </a:xfrm>
          <a:prstGeom prst="rect">
            <a:avLst/>
          </a:prstGeom>
          <a:solidFill>
            <a:schemeClr val="bg2"/>
          </a:solidFill>
          <a:ln w="12700">
            <a:solidFill>
              <a:schemeClr val="bg2"/>
            </a:solidFill>
            <a:prstDash val="solid"/>
          </a:ln>
        </p:spPr>
      </p:sp>
      <p:sp>
        <p:nvSpPr>
          <p:cNvPr id="41" name="attr"/>
          <p:cNvSpPr txBox="1"/>
          <p:nvPr/>
        </p:nvSpPr>
        <p:spPr>
          <a:xfrm>
            <a:off x="4880153" y="2578608"/>
            <a:ext cx="1750162" cy="210312"/>
          </a:xfrm>
          <a:prstGeom prst="rect">
            <a:avLst/>
          </a:prstGeom>
          <a:noFill/>
          <a:ln/>
        </p:spPr>
        <p:txBody>
          <a:bodyPr wrap="square" lIns="0" tIns="0" rIns="0" bIns="0" rtlCol="0" anchor="ctr"/>
          <a:lstStyle/>
          <a:p>
            <a:pPr indent="0" marL="0">
              <a:buNone/>
            </a:pPr>
            <a:r>
              <a:rPr lang="en-US" sz="1100" dirty="0">
                <a:solidFill>
                  <a:schemeClr val="tx1"/>
                </a:solidFill>
              </a:rPr>
              <a:t>screening_status</a:t>
            </a:r>
            <a:endParaRPr lang="en-US" sz="1100" dirty="0"/>
          </a:p>
        </p:txBody>
      </p:sp>
      <p:sp>
        <p:nvSpPr>
          <p:cNvPr id="42" name="key tag"/>
          <p:cNvSpPr txBox="1"/>
          <p:nvPr/>
        </p:nvSpPr>
        <p:spPr>
          <a:xfrm>
            <a:off x="6644945" y="2578608"/>
            <a:ext cx="685800" cy="210312"/>
          </a:xfrm>
          <a:prstGeom prst="rect">
            <a:avLst/>
          </a:prstGeom>
          <a:noFill/>
          <a:ln/>
        </p:spPr>
        <p:txBody>
          <a:bodyPr wrap="square" lIns="0" tIns="0" rIns="0" bIns="0" rtlCol="0" anchor="ctr"/>
          <a:lstStyle/>
          <a:p>
            <a:pPr algn="r" indent="0" marL="0">
              <a:buNone/>
            </a:pPr>
            <a:endParaRPr lang="en-US" sz="1100" dirty="0"/>
          </a:p>
        </p:txBody>
      </p:sp>
      <p:sp>
        <p:nvSpPr>
          <p:cNvPr id="43" name="BLOOD_UNIT box"/>
          <p:cNvSpPr/>
          <p:nvPr/>
        </p:nvSpPr>
        <p:spPr>
          <a:xfrm>
            <a:off x="8991295" y="1143000"/>
            <a:ext cx="2651760" cy="2103120"/>
          </a:xfrm>
          <a:prstGeom prst="rect">
            <a:avLst/>
          </a:prstGeom>
          <a:solidFill>
            <a:schemeClr val="bg1"/>
          </a:solidFill>
          <a:ln w="15875">
            <a:solidFill>
              <a:schemeClr val="accent1"/>
            </a:solidFill>
            <a:prstDash val="solid"/>
          </a:ln>
        </p:spPr>
      </p:sp>
      <p:sp>
        <p:nvSpPr>
          <p:cNvPr id="44" name="BLOOD_UNIT header"/>
          <p:cNvSpPr/>
          <p:nvPr/>
        </p:nvSpPr>
        <p:spPr>
          <a:xfrm>
            <a:off x="8991295" y="1143000"/>
            <a:ext cx="2651760" cy="347472"/>
          </a:xfrm>
          <a:prstGeom prst="rect">
            <a:avLst/>
          </a:prstGeom>
          <a:solidFill>
            <a:schemeClr val="accent1"/>
          </a:solidFill>
          <a:ln w="12700">
            <a:solidFill>
              <a:schemeClr val="accent1"/>
            </a:solidFill>
            <a:prstDash val="solid"/>
          </a:ln>
        </p:spPr>
      </p:sp>
      <p:sp>
        <p:nvSpPr>
          <p:cNvPr id="45" name="BLOOD_UNIT title"/>
          <p:cNvSpPr txBox="1"/>
          <p:nvPr/>
        </p:nvSpPr>
        <p:spPr>
          <a:xfrm>
            <a:off x="8991295" y="1143000"/>
            <a:ext cx="2651760" cy="347472"/>
          </a:xfrm>
          <a:prstGeom prst="rect">
            <a:avLst/>
          </a:prstGeom>
          <a:noFill/>
          <a:ln/>
        </p:spPr>
        <p:txBody>
          <a:bodyPr wrap="square" lIns="0" tIns="0" rIns="0" bIns="0" rtlCol="0" anchor="ctr"/>
          <a:lstStyle/>
          <a:p>
            <a:pPr algn="ctr" indent="0" marL="0">
              <a:buNone/>
            </a:pPr>
            <a:r>
              <a:rPr lang="en-US" sz="1300" b="1" dirty="0">
                <a:solidFill>
                  <a:schemeClr val="bg1"/>
                </a:solidFill>
              </a:rPr>
              <a:t>BLOOD_UNIT</a:t>
            </a:r>
            <a:endParaRPr lang="en-US" sz="1300" dirty="0"/>
          </a:p>
        </p:txBody>
      </p:sp>
      <p:sp>
        <p:nvSpPr>
          <p:cNvPr id="46" name="attr"/>
          <p:cNvSpPr txBox="1"/>
          <p:nvPr/>
        </p:nvSpPr>
        <p:spPr>
          <a:xfrm>
            <a:off x="9101023" y="1527048"/>
            <a:ext cx="1750162" cy="210312"/>
          </a:xfrm>
          <a:prstGeom prst="rect">
            <a:avLst/>
          </a:prstGeom>
          <a:noFill/>
          <a:ln/>
        </p:spPr>
        <p:txBody>
          <a:bodyPr wrap="square" lIns="0" tIns="0" rIns="0" bIns="0" rtlCol="0" anchor="ctr"/>
          <a:lstStyle/>
          <a:p>
            <a:pPr indent="0" marL="0">
              <a:buNone/>
            </a:pPr>
            <a:r>
              <a:rPr lang="en-US" sz="1100" b="1" dirty="0">
                <a:solidFill>
                  <a:schemeClr val="tx1"/>
                </a:solidFill>
              </a:rPr>
              <a:t>unit_id</a:t>
            </a:r>
            <a:endParaRPr lang="en-US" sz="1100" dirty="0"/>
          </a:p>
        </p:txBody>
      </p:sp>
      <p:sp>
        <p:nvSpPr>
          <p:cNvPr id="47" name="key tag"/>
          <p:cNvSpPr txBox="1"/>
          <p:nvPr/>
        </p:nvSpPr>
        <p:spPr>
          <a:xfrm>
            <a:off x="10865815" y="1527048"/>
            <a:ext cx="685800" cy="210312"/>
          </a:xfrm>
          <a:prstGeom prst="rect">
            <a:avLst/>
          </a:prstGeom>
          <a:noFill/>
          <a:ln/>
        </p:spPr>
        <p:txBody>
          <a:bodyPr wrap="square" lIns="0" tIns="0" rIns="0" bIns="0" rtlCol="0" anchor="ctr"/>
          <a:lstStyle/>
          <a:p>
            <a:pPr algn="r" indent="0" marL="0">
              <a:buNone/>
            </a:pPr>
            <a:r>
              <a:rPr lang="en-US" sz="1100" b="1" dirty="0">
                <a:solidFill>
                  <a:schemeClr val="accent1"/>
                </a:solidFill>
              </a:rPr>
              <a:t>PK</a:t>
            </a:r>
            <a:endParaRPr lang="en-US" sz="1100" dirty="0"/>
          </a:p>
        </p:txBody>
      </p:sp>
      <p:sp>
        <p:nvSpPr>
          <p:cNvPr id="48" name="row shade"/>
          <p:cNvSpPr/>
          <p:nvPr/>
        </p:nvSpPr>
        <p:spPr>
          <a:xfrm>
            <a:off x="9027871" y="1737360"/>
            <a:ext cx="2578608" cy="210312"/>
          </a:xfrm>
          <a:prstGeom prst="rect">
            <a:avLst/>
          </a:prstGeom>
          <a:solidFill>
            <a:schemeClr val="bg2"/>
          </a:solidFill>
          <a:ln w="12700">
            <a:solidFill>
              <a:schemeClr val="bg2"/>
            </a:solidFill>
            <a:prstDash val="solid"/>
          </a:ln>
        </p:spPr>
      </p:sp>
      <p:sp>
        <p:nvSpPr>
          <p:cNvPr id="49" name="attr"/>
          <p:cNvSpPr txBox="1"/>
          <p:nvPr/>
        </p:nvSpPr>
        <p:spPr>
          <a:xfrm>
            <a:off x="9101023" y="1737360"/>
            <a:ext cx="1750162" cy="210312"/>
          </a:xfrm>
          <a:prstGeom prst="rect">
            <a:avLst/>
          </a:prstGeom>
          <a:noFill/>
          <a:ln/>
        </p:spPr>
        <p:txBody>
          <a:bodyPr wrap="square" lIns="0" tIns="0" rIns="0" bIns="0" rtlCol="0" anchor="ctr"/>
          <a:lstStyle/>
          <a:p>
            <a:pPr indent="0" marL="0">
              <a:buNone/>
            </a:pPr>
            <a:r>
              <a:rPr lang="en-US" sz="1100" dirty="0">
                <a:solidFill>
                  <a:schemeClr val="tx1"/>
                </a:solidFill>
              </a:rPr>
              <a:t>donation_id</a:t>
            </a:r>
            <a:endParaRPr lang="en-US" sz="1100" dirty="0"/>
          </a:p>
        </p:txBody>
      </p:sp>
      <p:sp>
        <p:nvSpPr>
          <p:cNvPr id="50" name="key tag"/>
          <p:cNvSpPr txBox="1"/>
          <p:nvPr/>
        </p:nvSpPr>
        <p:spPr>
          <a:xfrm>
            <a:off x="10865815" y="1737360"/>
            <a:ext cx="685800" cy="210312"/>
          </a:xfrm>
          <a:prstGeom prst="rect">
            <a:avLst/>
          </a:prstGeom>
          <a:noFill/>
          <a:ln/>
        </p:spPr>
        <p:txBody>
          <a:bodyPr wrap="square" lIns="0" tIns="0" rIns="0" bIns="0" rtlCol="0" anchor="ctr"/>
          <a:lstStyle/>
          <a:p>
            <a:pPr algn="r" indent="0" marL="0">
              <a:buNone/>
            </a:pPr>
            <a:r>
              <a:rPr lang="en-US" sz="1100" b="1" dirty="0">
                <a:solidFill>
                  <a:schemeClr val="accent2"/>
                </a:solidFill>
              </a:rPr>
              <a:t>FK</a:t>
            </a:r>
            <a:endParaRPr lang="en-US" sz="1100" dirty="0"/>
          </a:p>
        </p:txBody>
      </p:sp>
      <p:sp>
        <p:nvSpPr>
          <p:cNvPr id="51" name="attr"/>
          <p:cNvSpPr txBox="1"/>
          <p:nvPr/>
        </p:nvSpPr>
        <p:spPr>
          <a:xfrm>
            <a:off x="9101023" y="1947672"/>
            <a:ext cx="1750162" cy="210312"/>
          </a:xfrm>
          <a:prstGeom prst="rect">
            <a:avLst/>
          </a:prstGeom>
          <a:noFill/>
          <a:ln/>
        </p:spPr>
        <p:txBody>
          <a:bodyPr wrap="square" lIns="0" tIns="0" rIns="0" bIns="0" rtlCol="0" anchor="ctr"/>
          <a:lstStyle/>
          <a:p>
            <a:pPr indent="0" marL="0">
              <a:buNone/>
            </a:pPr>
            <a:r>
              <a:rPr lang="en-US" sz="1100" dirty="0">
                <a:solidFill>
                  <a:schemeClr val="tx1"/>
                </a:solidFill>
              </a:rPr>
              <a:t>component</a:t>
            </a:r>
            <a:endParaRPr lang="en-US" sz="1100" dirty="0"/>
          </a:p>
        </p:txBody>
      </p:sp>
      <p:sp>
        <p:nvSpPr>
          <p:cNvPr id="52" name="key tag"/>
          <p:cNvSpPr txBox="1"/>
          <p:nvPr/>
        </p:nvSpPr>
        <p:spPr>
          <a:xfrm>
            <a:off x="10865815" y="1947672"/>
            <a:ext cx="685800" cy="210312"/>
          </a:xfrm>
          <a:prstGeom prst="rect">
            <a:avLst/>
          </a:prstGeom>
          <a:noFill/>
          <a:ln/>
        </p:spPr>
        <p:txBody>
          <a:bodyPr wrap="square" lIns="0" tIns="0" rIns="0" bIns="0" rtlCol="0" anchor="ctr"/>
          <a:lstStyle/>
          <a:p>
            <a:pPr algn="r" indent="0" marL="0">
              <a:buNone/>
            </a:pPr>
            <a:endParaRPr lang="en-US" sz="1100" dirty="0"/>
          </a:p>
        </p:txBody>
      </p:sp>
      <p:sp>
        <p:nvSpPr>
          <p:cNvPr id="53" name="row shade"/>
          <p:cNvSpPr/>
          <p:nvPr/>
        </p:nvSpPr>
        <p:spPr>
          <a:xfrm>
            <a:off x="9027871" y="2157984"/>
            <a:ext cx="2578608" cy="210312"/>
          </a:xfrm>
          <a:prstGeom prst="rect">
            <a:avLst/>
          </a:prstGeom>
          <a:solidFill>
            <a:schemeClr val="bg2"/>
          </a:solidFill>
          <a:ln w="12700">
            <a:solidFill>
              <a:schemeClr val="bg2"/>
            </a:solidFill>
            <a:prstDash val="solid"/>
          </a:ln>
        </p:spPr>
      </p:sp>
      <p:sp>
        <p:nvSpPr>
          <p:cNvPr id="54" name="attr"/>
          <p:cNvSpPr txBox="1"/>
          <p:nvPr/>
        </p:nvSpPr>
        <p:spPr>
          <a:xfrm>
            <a:off x="9101023" y="2157984"/>
            <a:ext cx="1750162" cy="210312"/>
          </a:xfrm>
          <a:prstGeom prst="rect">
            <a:avLst/>
          </a:prstGeom>
          <a:noFill/>
          <a:ln/>
        </p:spPr>
        <p:txBody>
          <a:bodyPr wrap="square" lIns="0" tIns="0" rIns="0" bIns="0" rtlCol="0" anchor="ctr"/>
          <a:lstStyle/>
          <a:p>
            <a:pPr indent="0" marL="0">
              <a:buNone/>
            </a:pPr>
            <a:r>
              <a:rPr lang="en-US" sz="1100" dirty="0">
                <a:solidFill>
                  <a:schemeClr val="tx1"/>
                </a:solidFill>
              </a:rPr>
              <a:t>expiry_date</a:t>
            </a:r>
            <a:endParaRPr lang="en-US" sz="1100" dirty="0"/>
          </a:p>
        </p:txBody>
      </p:sp>
      <p:sp>
        <p:nvSpPr>
          <p:cNvPr id="55" name="key tag"/>
          <p:cNvSpPr txBox="1"/>
          <p:nvPr/>
        </p:nvSpPr>
        <p:spPr>
          <a:xfrm>
            <a:off x="10865815" y="2157984"/>
            <a:ext cx="685800" cy="210312"/>
          </a:xfrm>
          <a:prstGeom prst="rect">
            <a:avLst/>
          </a:prstGeom>
          <a:noFill/>
          <a:ln/>
        </p:spPr>
        <p:txBody>
          <a:bodyPr wrap="square" lIns="0" tIns="0" rIns="0" bIns="0" rtlCol="0" anchor="ctr"/>
          <a:lstStyle/>
          <a:p>
            <a:pPr algn="r" indent="0" marL="0">
              <a:buNone/>
            </a:pPr>
            <a:endParaRPr lang="en-US" sz="1100" dirty="0"/>
          </a:p>
        </p:txBody>
      </p:sp>
      <p:sp>
        <p:nvSpPr>
          <p:cNvPr id="56" name="attr"/>
          <p:cNvSpPr txBox="1"/>
          <p:nvPr/>
        </p:nvSpPr>
        <p:spPr>
          <a:xfrm>
            <a:off x="9101023" y="2368296"/>
            <a:ext cx="1750162" cy="210312"/>
          </a:xfrm>
          <a:prstGeom prst="rect">
            <a:avLst/>
          </a:prstGeom>
          <a:noFill/>
          <a:ln/>
        </p:spPr>
        <p:txBody>
          <a:bodyPr wrap="square" lIns="0" tIns="0" rIns="0" bIns="0" rtlCol="0" anchor="ctr"/>
          <a:lstStyle/>
          <a:p>
            <a:pPr indent="0" marL="0">
              <a:buNone/>
            </a:pPr>
            <a:r>
              <a:rPr lang="en-US" sz="1100" dirty="0">
                <a:solidFill>
                  <a:schemeClr val="tx1"/>
                </a:solidFill>
              </a:rPr>
              <a:t>status</a:t>
            </a:r>
            <a:endParaRPr lang="en-US" sz="1100" dirty="0"/>
          </a:p>
        </p:txBody>
      </p:sp>
      <p:sp>
        <p:nvSpPr>
          <p:cNvPr id="57" name="key tag"/>
          <p:cNvSpPr txBox="1"/>
          <p:nvPr/>
        </p:nvSpPr>
        <p:spPr>
          <a:xfrm>
            <a:off x="10865815" y="2368296"/>
            <a:ext cx="685800" cy="210312"/>
          </a:xfrm>
          <a:prstGeom prst="rect">
            <a:avLst/>
          </a:prstGeom>
          <a:noFill/>
          <a:ln/>
        </p:spPr>
        <p:txBody>
          <a:bodyPr wrap="square" lIns="0" tIns="0" rIns="0" bIns="0" rtlCol="0" anchor="ctr"/>
          <a:lstStyle/>
          <a:p>
            <a:pPr algn="r" indent="0" marL="0">
              <a:buNone/>
            </a:pPr>
            <a:endParaRPr lang="en-US" sz="1100" dirty="0"/>
          </a:p>
        </p:txBody>
      </p:sp>
      <p:sp>
        <p:nvSpPr>
          <p:cNvPr id="58" name="HOSPITAL box"/>
          <p:cNvSpPr/>
          <p:nvPr/>
        </p:nvSpPr>
        <p:spPr>
          <a:xfrm>
            <a:off x="548640" y="4069080"/>
            <a:ext cx="2651760" cy="2103120"/>
          </a:xfrm>
          <a:prstGeom prst="rect">
            <a:avLst/>
          </a:prstGeom>
          <a:solidFill>
            <a:schemeClr val="bg1"/>
          </a:solidFill>
          <a:ln w="15875">
            <a:solidFill>
              <a:schemeClr val="accent1"/>
            </a:solidFill>
            <a:prstDash val="solid"/>
          </a:ln>
        </p:spPr>
      </p:sp>
      <p:sp>
        <p:nvSpPr>
          <p:cNvPr id="59" name="HOSPITAL header"/>
          <p:cNvSpPr/>
          <p:nvPr/>
        </p:nvSpPr>
        <p:spPr>
          <a:xfrm>
            <a:off x="548640" y="4069080"/>
            <a:ext cx="2651760" cy="347472"/>
          </a:xfrm>
          <a:prstGeom prst="rect">
            <a:avLst/>
          </a:prstGeom>
          <a:solidFill>
            <a:schemeClr val="accent1"/>
          </a:solidFill>
          <a:ln w="12700">
            <a:solidFill>
              <a:schemeClr val="accent1"/>
            </a:solidFill>
            <a:prstDash val="solid"/>
          </a:ln>
        </p:spPr>
      </p:sp>
      <p:sp>
        <p:nvSpPr>
          <p:cNvPr id="60" name="HOSPITAL title"/>
          <p:cNvSpPr txBox="1"/>
          <p:nvPr/>
        </p:nvSpPr>
        <p:spPr>
          <a:xfrm>
            <a:off x="548640" y="4069080"/>
            <a:ext cx="2651760" cy="347472"/>
          </a:xfrm>
          <a:prstGeom prst="rect">
            <a:avLst/>
          </a:prstGeom>
          <a:noFill/>
          <a:ln/>
        </p:spPr>
        <p:txBody>
          <a:bodyPr wrap="square" lIns="0" tIns="0" rIns="0" bIns="0" rtlCol="0" anchor="ctr"/>
          <a:lstStyle/>
          <a:p>
            <a:pPr algn="ctr" indent="0" marL="0">
              <a:buNone/>
            </a:pPr>
            <a:r>
              <a:rPr lang="en-US" sz="1300" b="1" dirty="0">
                <a:solidFill>
                  <a:schemeClr val="bg1"/>
                </a:solidFill>
              </a:rPr>
              <a:t>HOSPITAL</a:t>
            </a:r>
            <a:endParaRPr lang="en-US" sz="1300" dirty="0"/>
          </a:p>
        </p:txBody>
      </p:sp>
      <p:sp>
        <p:nvSpPr>
          <p:cNvPr id="61" name="attr"/>
          <p:cNvSpPr txBox="1"/>
          <p:nvPr/>
        </p:nvSpPr>
        <p:spPr>
          <a:xfrm>
            <a:off x="658368" y="4453128"/>
            <a:ext cx="1750162" cy="210312"/>
          </a:xfrm>
          <a:prstGeom prst="rect">
            <a:avLst/>
          </a:prstGeom>
          <a:noFill/>
          <a:ln/>
        </p:spPr>
        <p:txBody>
          <a:bodyPr wrap="square" lIns="0" tIns="0" rIns="0" bIns="0" rtlCol="0" anchor="ctr"/>
          <a:lstStyle/>
          <a:p>
            <a:pPr indent="0" marL="0">
              <a:buNone/>
            </a:pPr>
            <a:r>
              <a:rPr lang="en-US" sz="1100" b="1" dirty="0">
                <a:solidFill>
                  <a:schemeClr val="tx1"/>
                </a:solidFill>
              </a:rPr>
              <a:t>hospital_id</a:t>
            </a:r>
            <a:endParaRPr lang="en-US" sz="1100" dirty="0"/>
          </a:p>
        </p:txBody>
      </p:sp>
      <p:sp>
        <p:nvSpPr>
          <p:cNvPr id="62" name="key tag"/>
          <p:cNvSpPr txBox="1"/>
          <p:nvPr/>
        </p:nvSpPr>
        <p:spPr>
          <a:xfrm>
            <a:off x="2423160" y="4453128"/>
            <a:ext cx="685800" cy="210312"/>
          </a:xfrm>
          <a:prstGeom prst="rect">
            <a:avLst/>
          </a:prstGeom>
          <a:noFill/>
          <a:ln/>
        </p:spPr>
        <p:txBody>
          <a:bodyPr wrap="square" lIns="0" tIns="0" rIns="0" bIns="0" rtlCol="0" anchor="ctr"/>
          <a:lstStyle/>
          <a:p>
            <a:pPr algn="r" indent="0" marL="0">
              <a:buNone/>
            </a:pPr>
            <a:r>
              <a:rPr lang="en-US" sz="1100" b="1" dirty="0">
                <a:solidFill>
                  <a:schemeClr val="accent1"/>
                </a:solidFill>
              </a:rPr>
              <a:t>PK</a:t>
            </a:r>
            <a:endParaRPr lang="en-US" sz="1100" dirty="0"/>
          </a:p>
        </p:txBody>
      </p:sp>
      <p:sp>
        <p:nvSpPr>
          <p:cNvPr id="63" name="row shade"/>
          <p:cNvSpPr/>
          <p:nvPr/>
        </p:nvSpPr>
        <p:spPr>
          <a:xfrm>
            <a:off x="585216" y="4663440"/>
            <a:ext cx="2578608" cy="210312"/>
          </a:xfrm>
          <a:prstGeom prst="rect">
            <a:avLst/>
          </a:prstGeom>
          <a:solidFill>
            <a:schemeClr val="bg2"/>
          </a:solidFill>
          <a:ln w="12700">
            <a:solidFill>
              <a:schemeClr val="bg2"/>
            </a:solidFill>
            <a:prstDash val="solid"/>
          </a:ln>
        </p:spPr>
      </p:sp>
      <p:sp>
        <p:nvSpPr>
          <p:cNvPr id="64" name="attr"/>
          <p:cNvSpPr txBox="1"/>
          <p:nvPr/>
        </p:nvSpPr>
        <p:spPr>
          <a:xfrm>
            <a:off x="658368" y="4663440"/>
            <a:ext cx="1750162" cy="210312"/>
          </a:xfrm>
          <a:prstGeom prst="rect">
            <a:avLst/>
          </a:prstGeom>
          <a:noFill/>
          <a:ln/>
        </p:spPr>
        <p:txBody>
          <a:bodyPr wrap="square" lIns="0" tIns="0" rIns="0" bIns="0" rtlCol="0" anchor="ctr"/>
          <a:lstStyle/>
          <a:p>
            <a:pPr indent="0" marL="0">
              <a:buNone/>
            </a:pPr>
            <a:r>
              <a:rPr lang="en-US" sz="1100" dirty="0">
                <a:solidFill>
                  <a:schemeClr val="tx1"/>
                </a:solidFill>
              </a:rPr>
              <a:t>hospital_name</a:t>
            </a:r>
            <a:endParaRPr lang="en-US" sz="1100" dirty="0"/>
          </a:p>
        </p:txBody>
      </p:sp>
      <p:sp>
        <p:nvSpPr>
          <p:cNvPr id="65" name="key tag"/>
          <p:cNvSpPr txBox="1"/>
          <p:nvPr/>
        </p:nvSpPr>
        <p:spPr>
          <a:xfrm>
            <a:off x="2423160" y="4663440"/>
            <a:ext cx="685800" cy="210312"/>
          </a:xfrm>
          <a:prstGeom prst="rect">
            <a:avLst/>
          </a:prstGeom>
          <a:noFill/>
          <a:ln/>
        </p:spPr>
        <p:txBody>
          <a:bodyPr wrap="square" lIns="0" tIns="0" rIns="0" bIns="0" rtlCol="0" anchor="ctr"/>
          <a:lstStyle/>
          <a:p>
            <a:pPr algn="r" indent="0" marL="0">
              <a:buNone/>
            </a:pPr>
            <a:endParaRPr lang="en-US" sz="1100" dirty="0"/>
          </a:p>
        </p:txBody>
      </p:sp>
      <p:sp>
        <p:nvSpPr>
          <p:cNvPr id="66" name="attr"/>
          <p:cNvSpPr txBox="1"/>
          <p:nvPr/>
        </p:nvSpPr>
        <p:spPr>
          <a:xfrm>
            <a:off x="658368" y="4873752"/>
            <a:ext cx="1750162" cy="210312"/>
          </a:xfrm>
          <a:prstGeom prst="rect">
            <a:avLst/>
          </a:prstGeom>
          <a:noFill/>
          <a:ln/>
        </p:spPr>
        <p:txBody>
          <a:bodyPr wrap="square" lIns="0" tIns="0" rIns="0" bIns="0" rtlCol="0" anchor="ctr"/>
          <a:lstStyle/>
          <a:p>
            <a:pPr indent="0" marL="0">
              <a:buNone/>
            </a:pPr>
            <a:r>
              <a:rPr lang="en-US" sz="1100" dirty="0">
                <a:solidFill>
                  <a:schemeClr val="tx1"/>
                </a:solidFill>
              </a:rPr>
              <a:t>license_no</a:t>
            </a:r>
            <a:endParaRPr lang="en-US" sz="1100" dirty="0"/>
          </a:p>
        </p:txBody>
      </p:sp>
      <p:sp>
        <p:nvSpPr>
          <p:cNvPr id="67" name="key tag"/>
          <p:cNvSpPr txBox="1"/>
          <p:nvPr/>
        </p:nvSpPr>
        <p:spPr>
          <a:xfrm>
            <a:off x="2423160" y="4873752"/>
            <a:ext cx="685800" cy="210312"/>
          </a:xfrm>
          <a:prstGeom prst="rect">
            <a:avLst/>
          </a:prstGeom>
          <a:noFill/>
          <a:ln/>
        </p:spPr>
        <p:txBody>
          <a:bodyPr wrap="square" lIns="0" tIns="0" rIns="0" bIns="0" rtlCol="0" anchor="ctr"/>
          <a:lstStyle/>
          <a:p>
            <a:pPr algn="r" indent="0" marL="0">
              <a:buNone/>
            </a:pPr>
            <a:r>
              <a:rPr lang="en-US" sz="1100" b="1" dirty="0">
                <a:solidFill>
                  <a:schemeClr val="accent2"/>
                </a:solidFill>
              </a:rPr>
              <a:t>UQ</a:t>
            </a:r>
            <a:endParaRPr lang="en-US" sz="1100" dirty="0"/>
          </a:p>
        </p:txBody>
      </p:sp>
      <p:sp>
        <p:nvSpPr>
          <p:cNvPr id="68" name="row shade"/>
          <p:cNvSpPr/>
          <p:nvPr/>
        </p:nvSpPr>
        <p:spPr>
          <a:xfrm>
            <a:off x="585216" y="5084064"/>
            <a:ext cx="2578608" cy="210312"/>
          </a:xfrm>
          <a:prstGeom prst="rect">
            <a:avLst/>
          </a:prstGeom>
          <a:solidFill>
            <a:schemeClr val="bg2"/>
          </a:solidFill>
          <a:ln w="12700">
            <a:solidFill>
              <a:schemeClr val="bg2"/>
            </a:solidFill>
            <a:prstDash val="solid"/>
          </a:ln>
        </p:spPr>
      </p:sp>
      <p:sp>
        <p:nvSpPr>
          <p:cNvPr id="69" name="attr"/>
          <p:cNvSpPr txBox="1"/>
          <p:nvPr/>
        </p:nvSpPr>
        <p:spPr>
          <a:xfrm>
            <a:off x="658368" y="5084064"/>
            <a:ext cx="1750162" cy="210312"/>
          </a:xfrm>
          <a:prstGeom prst="rect">
            <a:avLst/>
          </a:prstGeom>
          <a:noFill/>
          <a:ln/>
        </p:spPr>
        <p:txBody>
          <a:bodyPr wrap="square" lIns="0" tIns="0" rIns="0" bIns="0" rtlCol="0" anchor="ctr"/>
          <a:lstStyle/>
          <a:p>
            <a:pPr indent="0" marL="0">
              <a:buNone/>
            </a:pPr>
            <a:r>
              <a:rPr lang="en-US" sz="1100" dirty="0">
                <a:solidFill>
                  <a:schemeClr val="tx1"/>
                </a:solidFill>
              </a:rPr>
              <a:t>contact_person</a:t>
            </a:r>
            <a:endParaRPr lang="en-US" sz="1100" dirty="0"/>
          </a:p>
        </p:txBody>
      </p:sp>
      <p:sp>
        <p:nvSpPr>
          <p:cNvPr id="70" name="key tag"/>
          <p:cNvSpPr txBox="1"/>
          <p:nvPr/>
        </p:nvSpPr>
        <p:spPr>
          <a:xfrm>
            <a:off x="2423160" y="5084064"/>
            <a:ext cx="685800" cy="210312"/>
          </a:xfrm>
          <a:prstGeom prst="rect">
            <a:avLst/>
          </a:prstGeom>
          <a:noFill/>
          <a:ln/>
        </p:spPr>
        <p:txBody>
          <a:bodyPr wrap="square" lIns="0" tIns="0" rIns="0" bIns="0" rtlCol="0" anchor="ctr"/>
          <a:lstStyle/>
          <a:p>
            <a:pPr algn="r" indent="0" marL="0">
              <a:buNone/>
            </a:pPr>
            <a:endParaRPr lang="en-US" sz="1100" dirty="0"/>
          </a:p>
        </p:txBody>
      </p:sp>
      <p:sp>
        <p:nvSpPr>
          <p:cNvPr id="71" name="attr"/>
          <p:cNvSpPr txBox="1"/>
          <p:nvPr/>
        </p:nvSpPr>
        <p:spPr>
          <a:xfrm>
            <a:off x="658368" y="5294376"/>
            <a:ext cx="1750162" cy="210312"/>
          </a:xfrm>
          <a:prstGeom prst="rect">
            <a:avLst/>
          </a:prstGeom>
          <a:noFill/>
          <a:ln/>
        </p:spPr>
        <p:txBody>
          <a:bodyPr wrap="square" lIns="0" tIns="0" rIns="0" bIns="0" rtlCol="0" anchor="ctr"/>
          <a:lstStyle/>
          <a:p>
            <a:pPr indent="0" marL="0">
              <a:buNone/>
            </a:pPr>
            <a:r>
              <a:rPr lang="en-US" sz="1100" dirty="0">
                <a:solidFill>
                  <a:schemeClr val="tx1"/>
                </a:solidFill>
              </a:rPr>
              <a:t>phone</a:t>
            </a:r>
            <a:endParaRPr lang="en-US" sz="1100" dirty="0"/>
          </a:p>
        </p:txBody>
      </p:sp>
      <p:sp>
        <p:nvSpPr>
          <p:cNvPr id="72" name="key tag"/>
          <p:cNvSpPr txBox="1"/>
          <p:nvPr/>
        </p:nvSpPr>
        <p:spPr>
          <a:xfrm>
            <a:off x="2423160" y="5294376"/>
            <a:ext cx="685800" cy="210312"/>
          </a:xfrm>
          <a:prstGeom prst="rect">
            <a:avLst/>
          </a:prstGeom>
          <a:noFill/>
          <a:ln/>
        </p:spPr>
        <p:txBody>
          <a:bodyPr wrap="square" lIns="0" tIns="0" rIns="0" bIns="0" rtlCol="0" anchor="ctr"/>
          <a:lstStyle/>
          <a:p>
            <a:pPr algn="r" indent="0" marL="0">
              <a:buNone/>
            </a:pPr>
            <a:endParaRPr lang="en-US" sz="1100" dirty="0"/>
          </a:p>
        </p:txBody>
      </p:sp>
      <p:sp>
        <p:nvSpPr>
          <p:cNvPr id="73" name="row shade"/>
          <p:cNvSpPr/>
          <p:nvPr/>
        </p:nvSpPr>
        <p:spPr>
          <a:xfrm>
            <a:off x="585216" y="5504688"/>
            <a:ext cx="2578608" cy="210312"/>
          </a:xfrm>
          <a:prstGeom prst="rect">
            <a:avLst/>
          </a:prstGeom>
          <a:solidFill>
            <a:schemeClr val="bg2"/>
          </a:solidFill>
          <a:ln w="12700">
            <a:solidFill>
              <a:schemeClr val="bg2"/>
            </a:solidFill>
            <a:prstDash val="solid"/>
          </a:ln>
        </p:spPr>
      </p:sp>
      <p:sp>
        <p:nvSpPr>
          <p:cNvPr id="74" name="attr"/>
          <p:cNvSpPr txBox="1"/>
          <p:nvPr/>
        </p:nvSpPr>
        <p:spPr>
          <a:xfrm>
            <a:off x="658368" y="5504688"/>
            <a:ext cx="1750162" cy="210312"/>
          </a:xfrm>
          <a:prstGeom prst="rect">
            <a:avLst/>
          </a:prstGeom>
          <a:noFill/>
          <a:ln/>
        </p:spPr>
        <p:txBody>
          <a:bodyPr wrap="square" lIns="0" tIns="0" rIns="0" bIns="0" rtlCol="0" anchor="ctr"/>
          <a:lstStyle/>
          <a:p>
            <a:pPr indent="0" marL="0">
              <a:buNone/>
            </a:pPr>
            <a:r>
              <a:rPr lang="en-US" sz="1100" dirty="0">
                <a:solidFill>
                  <a:schemeClr val="tx1"/>
                </a:solidFill>
              </a:rPr>
              <a:t>city</a:t>
            </a:r>
            <a:endParaRPr lang="en-US" sz="1100" dirty="0"/>
          </a:p>
        </p:txBody>
      </p:sp>
      <p:sp>
        <p:nvSpPr>
          <p:cNvPr id="75" name="key tag"/>
          <p:cNvSpPr txBox="1"/>
          <p:nvPr/>
        </p:nvSpPr>
        <p:spPr>
          <a:xfrm>
            <a:off x="2423160" y="5504688"/>
            <a:ext cx="685800" cy="210312"/>
          </a:xfrm>
          <a:prstGeom prst="rect">
            <a:avLst/>
          </a:prstGeom>
          <a:noFill/>
          <a:ln/>
        </p:spPr>
        <p:txBody>
          <a:bodyPr wrap="square" lIns="0" tIns="0" rIns="0" bIns="0" rtlCol="0" anchor="ctr"/>
          <a:lstStyle/>
          <a:p>
            <a:pPr algn="r" indent="0" marL="0">
              <a:buNone/>
            </a:pPr>
            <a:endParaRPr lang="en-US" sz="1100" dirty="0"/>
          </a:p>
        </p:txBody>
      </p:sp>
      <p:sp>
        <p:nvSpPr>
          <p:cNvPr id="76" name="BLOOD_REQUEST box"/>
          <p:cNvSpPr/>
          <p:nvPr/>
        </p:nvSpPr>
        <p:spPr>
          <a:xfrm>
            <a:off x="4770425" y="4069080"/>
            <a:ext cx="2651760" cy="2103120"/>
          </a:xfrm>
          <a:prstGeom prst="rect">
            <a:avLst/>
          </a:prstGeom>
          <a:solidFill>
            <a:schemeClr val="bg1"/>
          </a:solidFill>
          <a:ln w="15875">
            <a:solidFill>
              <a:schemeClr val="accent1"/>
            </a:solidFill>
            <a:prstDash val="solid"/>
          </a:ln>
        </p:spPr>
      </p:sp>
      <p:sp>
        <p:nvSpPr>
          <p:cNvPr id="77" name="BLOOD_REQUEST header"/>
          <p:cNvSpPr/>
          <p:nvPr/>
        </p:nvSpPr>
        <p:spPr>
          <a:xfrm>
            <a:off x="4770425" y="4069080"/>
            <a:ext cx="2651760" cy="347472"/>
          </a:xfrm>
          <a:prstGeom prst="rect">
            <a:avLst/>
          </a:prstGeom>
          <a:solidFill>
            <a:schemeClr val="accent1"/>
          </a:solidFill>
          <a:ln w="12700">
            <a:solidFill>
              <a:schemeClr val="accent1"/>
            </a:solidFill>
            <a:prstDash val="solid"/>
          </a:ln>
        </p:spPr>
      </p:sp>
      <p:sp>
        <p:nvSpPr>
          <p:cNvPr id="78" name="BLOOD_REQUEST title"/>
          <p:cNvSpPr txBox="1"/>
          <p:nvPr/>
        </p:nvSpPr>
        <p:spPr>
          <a:xfrm>
            <a:off x="4770425" y="4069080"/>
            <a:ext cx="2651760" cy="347472"/>
          </a:xfrm>
          <a:prstGeom prst="rect">
            <a:avLst/>
          </a:prstGeom>
          <a:noFill/>
          <a:ln/>
        </p:spPr>
        <p:txBody>
          <a:bodyPr wrap="square" lIns="0" tIns="0" rIns="0" bIns="0" rtlCol="0" anchor="ctr"/>
          <a:lstStyle/>
          <a:p>
            <a:pPr algn="ctr" indent="0" marL="0">
              <a:buNone/>
            </a:pPr>
            <a:r>
              <a:rPr lang="en-US" sz="1300" b="1" dirty="0">
                <a:solidFill>
                  <a:schemeClr val="bg1"/>
                </a:solidFill>
              </a:rPr>
              <a:t>BLOOD_REQUEST</a:t>
            </a:r>
            <a:endParaRPr lang="en-US" sz="1300" dirty="0"/>
          </a:p>
        </p:txBody>
      </p:sp>
      <p:sp>
        <p:nvSpPr>
          <p:cNvPr id="79" name="attr"/>
          <p:cNvSpPr txBox="1"/>
          <p:nvPr/>
        </p:nvSpPr>
        <p:spPr>
          <a:xfrm>
            <a:off x="4880153" y="4453128"/>
            <a:ext cx="1750162" cy="210312"/>
          </a:xfrm>
          <a:prstGeom prst="rect">
            <a:avLst/>
          </a:prstGeom>
          <a:noFill/>
          <a:ln/>
        </p:spPr>
        <p:txBody>
          <a:bodyPr wrap="square" lIns="0" tIns="0" rIns="0" bIns="0" rtlCol="0" anchor="ctr"/>
          <a:lstStyle/>
          <a:p>
            <a:pPr indent="0" marL="0">
              <a:buNone/>
            </a:pPr>
            <a:r>
              <a:rPr lang="en-US" sz="1100" b="1" dirty="0">
                <a:solidFill>
                  <a:schemeClr val="tx1"/>
                </a:solidFill>
              </a:rPr>
              <a:t>request_id</a:t>
            </a:r>
            <a:endParaRPr lang="en-US" sz="1100" dirty="0"/>
          </a:p>
        </p:txBody>
      </p:sp>
      <p:sp>
        <p:nvSpPr>
          <p:cNvPr id="80" name="key tag"/>
          <p:cNvSpPr txBox="1"/>
          <p:nvPr/>
        </p:nvSpPr>
        <p:spPr>
          <a:xfrm>
            <a:off x="6644945" y="4453128"/>
            <a:ext cx="685800" cy="210312"/>
          </a:xfrm>
          <a:prstGeom prst="rect">
            <a:avLst/>
          </a:prstGeom>
          <a:noFill/>
          <a:ln/>
        </p:spPr>
        <p:txBody>
          <a:bodyPr wrap="square" lIns="0" tIns="0" rIns="0" bIns="0" rtlCol="0" anchor="ctr"/>
          <a:lstStyle/>
          <a:p>
            <a:pPr algn="r" indent="0" marL="0">
              <a:buNone/>
            </a:pPr>
            <a:r>
              <a:rPr lang="en-US" sz="1100" b="1" dirty="0">
                <a:solidFill>
                  <a:schemeClr val="accent1"/>
                </a:solidFill>
              </a:rPr>
              <a:t>PK</a:t>
            </a:r>
            <a:endParaRPr lang="en-US" sz="1100" dirty="0"/>
          </a:p>
        </p:txBody>
      </p:sp>
      <p:sp>
        <p:nvSpPr>
          <p:cNvPr id="81" name="row shade"/>
          <p:cNvSpPr/>
          <p:nvPr/>
        </p:nvSpPr>
        <p:spPr>
          <a:xfrm>
            <a:off x="4807001" y="4663440"/>
            <a:ext cx="2578608" cy="210312"/>
          </a:xfrm>
          <a:prstGeom prst="rect">
            <a:avLst/>
          </a:prstGeom>
          <a:solidFill>
            <a:schemeClr val="bg2"/>
          </a:solidFill>
          <a:ln w="12700">
            <a:solidFill>
              <a:schemeClr val="bg2"/>
            </a:solidFill>
            <a:prstDash val="solid"/>
          </a:ln>
        </p:spPr>
      </p:sp>
      <p:sp>
        <p:nvSpPr>
          <p:cNvPr id="82" name="attr"/>
          <p:cNvSpPr txBox="1"/>
          <p:nvPr/>
        </p:nvSpPr>
        <p:spPr>
          <a:xfrm>
            <a:off x="4880153" y="4663440"/>
            <a:ext cx="1750162" cy="210312"/>
          </a:xfrm>
          <a:prstGeom prst="rect">
            <a:avLst/>
          </a:prstGeom>
          <a:noFill/>
          <a:ln/>
        </p:spPr>
        <p:txBody>
          <a:bodyPr wrap="square" lIns="0" tIns="0" rIns="0" bIns="0" rtlCol="0" anchor="ctr"/>
          <a:lstStyle/>
          <a:p>
            <a:pPr indent="0" marL="0">
              <a:buNone/>
            </a:pPr>
            <a:r>
              <a:rPr lang="en-US" sz="1100" dirty="0">
                <a:solidFill>
                  <a:schemeClr val="tx1"/>
                </a:solidFill>
              </a:rPr>
              <a:t>hospital_id</a:t>
            </a:r>
            <a:endParaRPr lang="en-US" sz="1100" dirty="0"/>
          </a:p>
        </p:txBody>
      </p:sp>
      <p:sp>
        <p:nvSpPr>
          <p:cNvPr id="83" name="key tag"/>
          <p:cNvSpPr txBox="1"/>
          <p:nvPr/>
        </p:nvSpPr>
        <p:spPr>
          <a:xfrm>
            <a:off x="6644945" y="4663440"/>
            <a:ext cx="685800" cy="210312"/>
          </a:xfrm>
          <a:prstGeom prst="rect">
            <a:avLst/>
          </a:prstGeom>
          <a:noFill/>
          <a:ln/>
        </p:spPr>
        <p:txBody>
          <a:bodyPr wrap="square" lIns="0" tIns="0" rIns="0" bIns="0" rtlCol="0" anchor="ctr"/>
          <a:lstStyle/>
          <a:p>
            <a:pPr algn="r" indent="0" marL="0">
              <a:buNone/>
            </a:pPr>
            <a:r>
              <a:rPr lang="en-US" sz="1100" b="1" dirty="0">
                <a:solidFill>
                  <a:schemeClr val="accent2"/>
                </a:solidFill>
              </a:rPr>
              <a:t>FK</a:t>
            </a:r>
            <a:endParaRPr lang="en-US" sz="1100" dirty="0"/>
          </a:p>
        </p:txBody>
      </p:sp>
      <p:sp>
        <p:nvSpPr>
          <p:cNvPr id="84" name="attr"/>
          <p:cNvSpPr txBox="1"/>
          <p:nvPr/>
        </p:nvSpPr>
        <p:spPr>
          <a:xfrm>
            <a:off x="4880153" y="4873752"/>
            <a:ext cx="1750162" cy="210312"/>
          </a:xfrm>
          <a:prstGeom prst="rect">
            <a:avLst/>
          </a:prstGeom>
          <a:noFill/>
          <a:ln/>
        </p:spPr>
        <p:txBody>
          <a:bodyPr wrap="square" lIns="0" tIns="0" rIns="0" bIns="0" rtlCol="0" anchor="ctr"/>
          <a:lstStyle/>
          <a:p>
            <a:pPr indent="0" marL="0">
              <a:buNone/>
            </a:pPr>
            <a:r>
              <a:rPr lang="en-US" sz="1100" dirty="0">
                <a:solidFill>
                  <a:schemeClr val="tx1"/>
                </a:solidFill>
              </a:rPr>
              <a:t>blood_group</a:t>
            </a:r>
            <a:endParaRPr lang="en-US" sz="1100" dirty="0"/>
          </a:p>
        </p:txBody>
      </p:sp>
      <p:sp>
        <p:nvSpPr>
          <p:cNvPr id="85" name="key tag"/>
          <p:cNvSpPr txBox="1"/>
          <p:nvPr/>
        </p:nvSpPr>
        <p:spPr>
          <a:xfrm>
            <a:off x="6644945" y="4873752"/>
            <a:ext cx="685800" cy="210312"/>
          </a:xfrm>
          <a:prstGeom prst="rect">
            <a:avLst/>
          </a:prstGeom>
          <a:noFill/>
          <a:ln/>
        </p:spPr>
        <p:txBody>
          <a:bodyPr wrap="square" lIns="0" tIns="0" rIns="0" bIns="0" rtlCol="0" anchor="ctr"/>
          <a:lstStyle/>
          <a:p>
            <a:pPr algn="r" indent="0" marL="0">
              <a:buNone/>
            </a:pPr>
            <a:endParaRPr lang="en-US" sz="1100" dirty="0"/>
          </a:p>
        </p:txBody>
      </p:sp>
      <p:sp>
        <p:nvSpPr>
          <p:cNvPr id="86" name="row shade"/>
          <p:cNvSpPr/>
          <p:nvPr/>
        </p:nvSpPr>
        <p:spPr>
          <a:xfrm>
            <a:off x="4807001" y="5084064"/>
            <a:ext cx="2578608" cy="210312"/>
          </a:xfrm>
          <a:prstGeom prst="rect">
            <a:avLst/>
          </a:prstGeom>
          <a:solidFill>
            <a:schemeClr val="bg2"/>
          </a:solidFill>
          <a:ln w="12700">
            <a:solidFill>
              <a:schemeClr val="bg2"/>
            </a:solidFill>
            <a:prstDash val="solid"/>
          </a:ln>
        </p:spPr>
      </p:sp>
      <p:sp>
        <p:nvSpPr>
          <p:cNvPr id="87" name="attr"/>
          <p:cNvSpPr txBox="1"/>
          <p:nvPr/>
        </p:nvSpPr>
        <p:spPr>
          <a:xfrm>
            <a:off x="4880153" y="5084064"/>
            <a:ext cx="1750162" cy="210312"/>
          </a:xfrm>
          <a:prstGeom prst="rect">
            <a:avLst/>
          </a:prstGeom>
          <a:noFill/>
          <a:ln/>
        </p:spPr>
        <p:txBody>
          <a:bodyPr wrap="square" lIns="0" tIns="0" rIns="0" bIns="0" rtlCol="0" anchor="ctr"/>
          <a:lstStyle/>
          <a:p>
            <a:pPr indent="0" marL="0">
              <a:buNone/>
            </a:pPr>
            <a:r>
              <a:rPr lang="en-US" sz="1100" dirty="0">
                <a:solidFill>
                  <a:schemeClr val="tx1"/>
                </a:solidFill>
              </a:rPr>
              <a:t>component</a:t>
            </a:r>
            <a:endParaRPr lang="en-US" sz="1100" dirty="0"/>
          </a:p>
        </p:txBody>
      </p:sp>
      <p:sp>
        <p:nvSpPr>
          <p:cNvPr id="88" name="key tag"/>
          <p:cNvSpPr txBox="1"/>
          <p:nvPr/>
        </p:nvSpPr>
        <p:spPr>
          <a:xfrm>
            <a:off x="6644945" y="5084064"/>
            <a:ext cx="685800" cy="210312"/>
          </a:xfrm>
          <a:prstGeom prst="rect">
            <a:avLst/>
          </a:prstGeom>
          <a:noFill/>
          <a:ln/>
        </p:spPr>
        <p:txBody>
          <a:bodyPr wrap="square" lIns="0" tIns="0" rIns="0" bIns="0" rtlCol="0" anchor="ctr"/>
          <a:lstStyle/>
          <a:p>
            <a:pPr algn="r" indent="0" marL="0">
              <a:buNone/>
            </a:pPr>
            <a:endParaRPr lang="en-US" sz="1100" dirty="0"/>
          </a:p>
        </p:txBody>
      </p:sp>
      <p:sp>
        <p:nvSpPr>
          <p:cNvPr id="89" name="attr"/>
          <p:cNvSpPr txBox="1"/>
          <p:nvPr/>
        </p:nvSpPr>
        <p:spPr>
          <a:xfrm>
            <a:off x="4880153" y="5294376"/>
            <a:ext cx="1750162" cy="210312"/>
          </a:xfrm>
          <a:prstGeom prst="rect">
            <a:avLst/>
          </a:prstGeom>
          <a:noFill/>
          <a:ln/>
        </p:spPr>
        <p:txBody>
          <a:bodyPr wrap="square" lIns="0" tIns="0" rIns="0" bIns="0" rtlCol="0" anchor="ctr"/>
          <a:lstStyle/>
          <a:p>
            <a:pPr indent="0" marL="0">
              <a:buNone/>
            </a:pPr>
            <a:r>
              <a:rPr lang="en-US" sz="1100" dirty="0">
                <a:solidFill>
                  <a:schemeClr val="tx1"/>
                </a:solidFill>
              </a:rPr>
              <a:t>units_required</a:t>
            </a:r>
            <a:endParaRPr lang="en-US" sz="1100" dirty="0"/>
          </a:p>
        </p:txBody>
      </p:sp>
      <p:sp>
        <p:nvSpPr>
          <p:cNvPr id="90" name="key tag"/>
          <p:cNvSpPr txBox="1"/>
          <p:nvPr/>
        </p:nvSpPr>
        <p:spPr>
          <a:xfrm>
            <a:off x="6644945" y="5294376"/>
            <a:ext cx="685800" cy="210312"/>
          </a:xfrm>
          <a:prstGeom prst="rect">
            <a:avLst/>
          </a:prstGeom>
          <a:noFill/>
          <a:ln/>
        </p:spPr>
        <p:txBody>
          <a:bodyPr wrap="square" lIns="0" tIns="0" rIns="0" bIns="0" rtlCol="0" anchor="ctr"/>
          <a:lstStyle/>
          <a:p>
            <a:pPr algn="r" indent="0" marL="0">
              <a:buNone/>
            </a:pPr>
            <a:endParaRPr lang="en-US" sz="1100" dirty="0"/>
          </a:p>
        </p:txBody>
      </p:sp>
      <p:sp>
        <p:nvSpPr>
          <p:cNvPr id="91" name="row shade"/>
          <p:cNvSpPr/>
          <p:nvPr/>
        </p:nvSpPr>
        <p:spPr>
          <a:xfrm>
            <a:off x="4807001" y="5504688"/>
            <a:ext cx="2578608" cy="210312"/>
          </a:xfrm>
          <a:prstGeom prst="rect">
            <a:avLst/>
          </a:prstGeom>
          <a:solidFill>
            <a:schemeClr val="bg2"/>
          </a:solidFill>
          <a:ln w="12700">
            <a:solidFill>
              <a:schemeClr val="bg2"/>
            </a:solidFill>
            <a:prstDash val="solid"/>
          </a:ln>
        </p:spPr>
      </p:sp>
      <p:sp>
        <p:nvSpPr>
          <p:cNvPr id="92" name="attr"/>
          <p:cNvSpPr txBox="1"/>
          <p:nvPr/>
        </p:nvSpPr>
        <p:spPr>
          <a:xfrm>
            <a:off x="4880153" y="5504688"/>
            <a:ext cx="1750162" cy="210312"/>
          </a:xfrm>
          <a:prstGeom prst="rect">
            <a:avLst/>
          </a:prstGeom>
          <a:noFill/>
          <a:ln/>
        </p:spPr>
        <p:txBody>
          <a:bodyPr wrap="square" lIns="0" tIns="0" rIns="0" bIns="0" rtlCol="0" anchor="ctr"/>
          <a:lstStyle/>
          <a:p>
            <a:pPr indent="0" marL="0">
              <a:buNone/>
            </a:pPr>
            <a:r>
              <a:rPr lang="en-US" sz="1100" dirty="0">
                <a:solidFill>
                  <a:schemeClr val="tx1"/>
                </a:solidFill>
              </a:rPr>
              <a:t>urgency</a:t>
            </a:r>
            <a:endParaRPr lang="en-US" sz="1100" dirty="0"/>
          </a:p>
        </p:txBody>
      </p:sp>
      <p:sp>
        <p:nvSpPr>
          <p:cNvPr id="93" name="key tag"/>
          <p:cNvSpPr txBox="1"/>
          <p:nvPr/>
        </p:nvSpPr>
        <p:spPr>
          <a:xfrm>
            <a:off x="6644945" y="5504688"/>
            <a:ext cx="685800" cy="210312"/>
          </a:xfrm>
          <a:prstGeom prst="rect">
            <a:avLst/>
          </a:prstGeom>
          <a:noFill/>
          <a:ln/>
        </p:spPr>
        <p:txBody>
          <a:bodyPr wrap="square" lIns="0" tIns="0" rIns="0" bIns="0" rtlCol="0" anchor="ctr"/>
          <a:lstStyle/>
          <a:p>
            <a:pPr algn="r" indent="0" marL="0">
              <a:buNone/>
            </a:pPr>
            <a:endParaRPr lang="en-US" sz="1100" dirty="0"/>
          </a:p>
        </p:txBody>
      </p:sp>
      <p:sp>
        <p:nvSpPr>
          <p:cNvPr id="94" name="attr"/>
          <p:cNvSpPr txBox="1"/>
          <p:nvPr/>
        </p:nvSpPr>
        <p:spPr>
          <a:xfrm>
            <a:off x="4880153" y="5715000"/>
            <a:ext cx="1750162" cy="210312"/>
          </a:xfrm>
          <a:prstGeom prst="rect">
            <a:avLst/>
          </a:prstGeom>
          <a:noFill/>
          <a:ln/>
        </p:spPr>
        <p:txBody>
          <a:bodyPr wrap="square" lIns="0" tIns="0" rIns="0" bIns="0" rtlCol="0" anchor="ctr"/>
          <a:lstStyle/>
          <a:p>
            <a:pPr indent="0" marL="0">
              <a:buNone/>
            </a:pPr>
            <a:r>
              <a:rPr lang="en-US" sz="1100" dirty="0">
                <a:solidFill>
                  <a:schemeClr val="tx1"/>
                </a:solidFill>
              </a:rPr>
              <a:t>request_date</a:t>
            </a:r>
            <a:endParaRPr lang="en-US" sz="1100" dirty="0"/>
          </a:p>
        </p:txBody>
      </p:sp>
      <p:sp>
        <p:nvSpPr>
          <p:cNvPr id="95" name="key tag"/>
          <p:cNvSpPr txBox="1"/>
          <p:nvPr/>
        </p:nvSpPr>
        <p:spPr>
          <a:xfrm>
            <a:off x="6644945" y="5715000"/>
            <a:ext cx="685800" cy="210312"/>
          </a:xfrm>
          <a:prstGeom prst="rect">
            <a:avLst/>
          </a:prstGeom>
          <a:noFill/>
          <a:ln/>
        </p:spPr>
        <p:txBody>
          <a:bodyPr wrap="square" lIns="0" tIns="0" rIns="0" bIns="0" rtlCol="0" anchor="ctr"/>
          <a:lstStyle/>
          <a:p>
            <a:pPr algn="r" indent="0" marL="0">
              <a:buNone/>
            </a:pPr>
            <a:endParaRPr lang="en-US" sz="1100" dirty="0"/>
          </a:p>
        </p:txBody>
      </p:sp>
      <p:sp>
        <p:nvSpPr>
          <p:cNvPr id="96" name="row shade"/>
          <p:cNvSpPr/>
          <p:nvPr/>
        </p:nvSpPr>
        <p:spPr>
          <a:xfrm>
            <a:off x="4807001" y="5925312"/>
            <a:ext cx="2578608" cy="210312"/>
          </a:xfrm>
          <a:prstGeom prst="rect">
            <a:avLst/>
          </a:prstGeom>
          <a:solidFill>
            <a:schemeClr val="bg2"/>
          </a:solidFill>
          <a:ln w="12700">
            <a:solidFill>
              <a:schemeClr val="bg2"/>
            </a:solidFill>
            <a:prstDash val="solid"/>
          </a:ln>
        </p:spPr>
      </p:sp>
      <p:sp>
        <p:nvSpPr>
          <p:cNvPr id="97" name="attr"/>
          <p:cNvSpPr txBox="1"/>
          <p:nvPr/>
        </p:nvSpPr>
        <p:spPr>
          <a:xfrm>
            <a:off x="4880153" y="5925312"/>
            <a:ext cx="1750162" cy="210312"/>
          </a:xfrm>
          <a:prstGeom prst="rect">
            <a:avLst/>
          </a:prstGeom>
          <a:noFill/>
          <a:ln/>
        </p:spPr>
        <p:txBody>
          <a:bodyPr wrap="square" lIns="0" tIns="0" rIns="0" bIns="0" rtlCol="0" anchor="ctr"/>
          <a:lstStyle/>
          <a:p>
            <a:pPr indent="0" marL="0">
              <a:buNone/>
            </a:pPr>
            <a:r>
              <a:rPr lang="en-US" sz="1100" dirty="0">
                <a:solidFill>
                  <a:schemeClr val="tx1"/>
                </a:solidFill>
              </a:rPr>
              <a:t>status</a:t>
            </a:r>
            <a:endParaRPr lang="en-US" sz="1100" dirty="0"/>
          </a:p>
        </p:txBody>
      </p:sp>
      <p:sp>
        <p:nvSpPr>
          <p:cNvPr id="98" name="key tag"/>
          <p:cNvSpPr txBox="1"/>
          <p:nvPr/>
        </p:nvSpPr>
        <p:spPr>
          <a:xfrm>
            <a:off x="6644945" y="5925312"/>
            <a:ext cx="685800" cy="210312"/>
          </a:xfrm>
          <a:prstGeom prst="rect">
            <a:avLst/>
          </a:prstGeom>
          <a:noFill/>
          <a:ln/>
        </p:spPr>
        <p:txBody>
          <a:bodyPr wrap="square" lIns="0" tIns="0" rIns="0" bIns="0" rtlCol="0" anchor="ctr"/>
          <a:lstStyle/>
          <a:p>
            <a:pPr algn="r" indent="0" marL="0">
              <a:buNone/>
            </a:pPr>
            <a:endParaRPr lang="en-US" sz="1100" dirty="0"/>
          </a:p>
        </p:txBody>
      </p:sp>
      <p:sp>
        <p:nvSpPr>
          <p:cNvPr id="99" name="BLOOD_ISSUE box"/>
          <p:cNvSpPr/>
          <p:nvPr/>
        </p:nvSpPr>
        <p:spPr>
          <a:xfrm>
            <a:off x="8991295" y="4069080"/>
            <a:ext cx="2651760" cy="2103120"/>
          </a:xfrm>
          <a:prstGeom prst="rect">
            <a:avLst/>
          </a:prstGeom>
          <a:solidFill>
            <a:schemeClr val="bg1"/>
          </a:solidFill>
          <a:ln w="15875">
            <a:solidFill>
              <a:schemeClr val="accent1"/>
            </a:solidFill>
            <a:prstDash val="solid"/>
          </a:ln>
        </p:spPr>
      </p:sp>
      <p:sp>
        <p:nvSpPr>
          <p:cNvPr id="100" name="BLOOD_ISSUE header"/>
          <p:cNvSpPr/>
          <p:nvPr/>
        </p:nvSpPr>
        <p:spPr>
          <a:xfrm>
            <a:off x="8991295" y="4069080"/>
            <a:ext cx="2651760" cy="347472"/>
          </a:xfrm>
          <a:prstGeom prst="rect">
            <a:avLst/>
          </a:prstGeom>
          <a:solidFill>
            <a:schemeClr val="accent1"/>
          </a:solidFill>
          <a:ln w="12700">
            <a:solidFill>
              <a:schemeClr val="accent1"/>
            </a:solidFill>
            <a:prstDash val="solid"/>
          </a:ln>
        </p:spPr>
      </p:sp>
      <p:sp>
        <p:nvSpPr>
          <p:cNvPr id="101" name="BLOOD_ISSUE title"/>
          <p:cNvSpPr txBox="1"/>
          <p:nvPr/>
        </p:nvSpPr>
        <p:spPr>
          <a:xfrm>
            <a:off x="8991295" y="4069080"/>
            <a:ext cx="2651760" cy="347472"/>
          </a:xfrm>
          <a:prstGeom prst="rect">
            <a:avLst/>
          </a:prstGeom>
          <a:noFill/>
          <a:ln/>
        </p:spPr>
        <p:txBody>
          <a:bodyPr wrap="square" lIns="0" tIns="0" rIns="0" bIns="0" rtlCol="0" anchor="ctr"/>
          <a:lstStyle/>
          <a:p>
            <a:pPr algn="ctr" indent="0" marL="0">
              <a:buNone/>
            </a:pPr>
            <a:r>
              <a:rPr lang="en-US" sz="1300" b="1" dirty="0">
                <a:solidFill>
                  <a:schemeClr val="bg1"/>
                </a:solidFill>
              </a:rPr>
              <a:t>BLOOD_ISSUE</a:t>
            </a:r>
            <a:endParaRPr lang="en-US" sz="1300" dirty="0"/>
          </a:p>
        </p:txBody>
      </p:sp>
      <p:sp>
        <p:nvSpPr>
          <p:cNvPr id="102" name="attr"/>
          <p:cNvSpPr txBox="1"/>
          <p:nvPr/>
        </p:nvSpPr>
        <p:spPr>
          <a:xfrm>
            <a:off x="9101023" y="4453128"/>
            <a:ext cx="1750162" cy="210312"/>
          </a:xfrm>
          <a:prstGeom prst="rect">
            <a:avLst/>
          </a:prstGeom>
          <a:noFill/>
          <a:ln/>
        </p:spPr>
        <p:txBody>
          <a:bodyPr wrap="square" lIns="0" tIns="0" rIns="0" bIns="0" rtlCol="0" anchor="ctr"/>
          <a:lstStyle/>
          <a:p>
            <a:pPr indent="0" marL="0">
              <a:buNone/>
            </a:pPr>
            <a:r>
              <a:rPr lang="en-US" sz="1100" b="1" dirty="0">
                <a:solidFill>
                  <a:schemeClr val="tx1"/>
                </a:solidFill>
              </a:rPr>
              <a:t>issue_id</a:t>
            </a:r>
            <a:endParaRPr lang="en-US" sz="1100" dirty="0"/>
          </a:p>
        </p:txBody>
      </p:sp>
      <p:sp>
        <p:nvSpPr>
          <p:cNvPr id="103" name="key tag"/>
          <p:cNvSpPr txBox="1"/>
          <p:nvPr/>
        </p:nvSpPr>
        <p:spPr>
          <a:xfrm>
            <a:off x="10865815" y="4453128"/>
            <a:ext cx="685800" cy="210312"/>
          </a:xfrm>
          <a:prstGeom prst="rect">
            <a:avLst/>
          </a:prstGeom>
          <a:noFill/>
          <a:ln/>
        </p:spPr>
        <p:txBody>
          <a:bodyPr wrap="square" lIns="0" tIns="0" rIns="0" bIns="0" rtlCol="0" anchor="ctr"/>
          <a:lstStyle/>
          <a:p>
            <a:pPr algn="r" indent="0" marL="0">
              <a:buNone/>
            </a:pPr>
            <a:r>
              <a:rPr lang="en-US" sz="1100" b="1" dirty="0">
                <a:solidFill>
                  <a:schemeClr val="accent1"/>
                </a:solidFill>
              </a:rPr>
              <a:t>PK</a:t>
            </a:r>
            <a:endParaRPr lang="en-US" sz="1100" dirty="0"/>
          </a:p>
        </p:txBody>
      </p:sp>
      <p:sp>
        <p:nvSpPr>
          <p:cNvPr id="104" name="row shade"/>
          <p:cNvSpPr/>
          <p:nvPr/>
        </p:nvSpPr>
        <p:spPr>
          <a:xfrm>
            <a:off x="9027871" y="4663440"/>
            <a:ext cx="2578608" cy="210312"/>
          </a:xfrm>
          <a:prstGeom prst="rect">
            <a:avLst/>
          </a:prstGeom>
          <a:solidFill>
            <a:schemeClr val="bg2"/>
          </a:solidFill>
          <a:ln w="12700">
            <a:solidFill>
              <a:schemeClr val="bg2"/>
            </a:solidFill>
            <a:prstDash val="solid"/>
          </a:ln>
        </p:spPr>
      </p:sp>
      <p:sp>
        <p:nvSpPr>
          <p:cNvPr id="105" name="attr"/>
          <p:cNvSpPr txBox="1"/>
          <p:nvPr/>
        </p:nvSpPr>
        <p:spPr>
          <a:xfrm>
            <a:off x="9101023" y="4663440"/>
            <a:ext cx="1750162" cy="210312"/>
          </a:xfrm>
          <a:prstGeom prst="rect">
            <a:avLst/>
          </a:prstGeom>
          <a:noFill/>
          <a:ln/>
        </p:spPr>
        <p:txBody>
          <a:bodyPr wrap="square" lIns="0" tIns="0" rIns="0" bIns="0" rtlCol="0" anchor="ctr"/>
          <a:lstStyle/>
          <a:p>
            <a:pPr indent="0" marL="0">
              <a:buNone/>
            </a:pPr>
            <a:r>
              <a:rPr lang="en-US" sz="1100" dirty="0">
                <a:solidFill>
                  <a:schemeClr val="tx1"/>
                </a:solidFill>
              </a:rPr>
              <a:t>request_id</a:t>
            </a:r>
            <a:endParaRPr lang="en-US" sz="1100" dirty="0"/>
          </a:p>
        </p:txBody>
      </p:sp>
      <p:sp>
        <p:nvSpPr>
          <p:cNvPr id="106" name="key tag"/>
          <p:cNvSpPr txBox="1"/>
          <p:nvPr/>
        </p:nvSpPr>
        <p:spPr>
          <a:xfrm>
            <a:off x="10865815" y="4663440"/>
            <a:ext cx="685800" cy="210312"/>
          </a:xfrm>
          <a:prstGeom prst="rect">
            <a:avLst/>
          </a:prstGeom>
          <a:noFill/>
          <a:ln/>
        </p:spPr>
        <p:txBody>
          <a:bodyPr wrap="square" lIns="0" tIns="0" rIns="0" bIns="0" rtlCol="0" anchor="ctr"/>
          <a:lstStyle/>
          <a:p>
            <a:pPr algn="r" indent="0" marL="0">
              <a:buNone/>
            </a:pPr>
            <a:r>
              <a:rPr lang="en-US" sz="1100" b="1" dirty="0">
                <a:solidFill>
                  <a:schemeClr val="accent2"/>
                </a:solidFill>
              </a:rPr>
              <a:t>FK</a:t>
            </a:r>
            <a:endParaRPr lang="en-US" sz="1100" dirty="0"/>
          </a:p>
        </p:txBody>
      </p:sp>
      <p:sp>
        <p:nvSpPr>
          <p:cNvPr id="107" name="attr"/>
          <p:cNvSpPr txBox="1"/>
          <p:nvPr/>
        </p:nvSpPr>
        <p:spPr>
          <a:xfrm>
            <a:off x="9101023" y="4873752"/>
            <a:ext cx="1750162" cy="210312"/>
          </a:xfrm>
          <a:prstGeom prst="rect">
            <a:avLst/>
          </a:prstGeom>
          <a:noFill/>
          <a:ln/>
        </p:spPr>
        <p:txBody>
          <a:bodyPr wrap="square" lIns="0" tIns="0" rIns="0" bIns="0" rtlCol="0" anchor="ctr"/>
          <a:lstStyle/>
          <a:p>
            <a:pPr indent="0" marL="0">
              <a:buNone/>
            </a:pPr>
            <a:r>
              <a:rPr lang="en-US" sz="1100" dirty="0">
                <a:solidFill>
                  <a:schemeClr val="tx1"/>
                </a:solidFill>
              </a:rPr>
              <a:t>unit_id</a:t>
            </a:r>
            <a:endParaRPr lang="en-US" sz="1100" dirty="0"/>
          </a:p>
        </p:txBody>
      </p:sp>
      <p:sp>
        <p:nvSpPr>
          <p:cNvPr id="108" name="key tag"/>
          <p:cNvSpPr txBox="1"/>
          <p:nvPr/>
        </p:nvSpPr>
        <p:spPr>
          <a:xfrm>
            <a:off x="10865815" y="4873752"/>
            <a:ext cx="685800" cy="210312"/>
          </a:xfrm>
          <a:prstGeom prst="rect">
            <a:avLst/>
          </a:prstGeom>
          <a:noFill/>
          <a:ln/>
        </p:spPr>
        <p:txBody>
          <a:bodyPr wrap="square" lIns="0" tIns="0" rIns="0" bIns="0" rtlCol="0" anchor="ctr"/>
          <a:lstStyle/>
          <a:p>
            <a:pPr algn="r" indent="0" marL="0">
              <a:buNone/>
            </a:pPr>
            <a:r>
              <a:rPr lang="en-US" sz="1100" b="1" dirty="0">
                <a:solidFill>
                  <a:schemeClr val="accent2"/>
                </a:solidFill>
              </a:rPr>
              <a:t>FK, UQ</a:t>
            </a:r>
            <a:endParaRPr lang="en-US" sz="1100" dirty="0"/>
          </a:p>
        </p:txBody>
      </p:sp>
      <p:sp>
        <p:nvSpPr>
          <p:cNvPr id="109" name="row shade"/>
          <p:cNvSpPr/>
          <p:nvPr/>
        </p:nvSpPr>
        <p:spPr>
          <a:xfrm>
            <a:off x="9027871" y="5084064"/>
            <a:ext cx="2578608" cy="210312"/>
          </a:xfrm>
          <a:prstGeom prst="rect">
            <a:avLst/>
          </a:prstGeom>
          <a:solidFill>
            <a:schemeClr val="bg2"/>
          </a:solidFill>
          <a:ln w="12700">
            <a:solidFill>
              <a:schemeClr val="bg2"/>
            </a:solidFill>
            <a:prstDash val="solid"/>
          </a:ln>
        </p:spPr>
      </p:sp>
      <p:sp>
        <p:nvSpPr>
          <p:cNvPr id="110" name="attr"/>
          <p:cNvSpPr txBox="1"/>
          <p:nvPr/>
        </p:nvSpPr>
        <p:spPr>
          <a:xfrm>
            <a:off x="9101023" y="5084064"/>
            <a:ext cx="1750162" cy="210312"/>
          </a:xfrm>
          <a:prstGeom prst="rect">
            <a:avLst/>
          </a:prstGeom>
          <a:noFill/>
          <a:ln/>
        </p:spPr>
        <p:txBody>
          <a:bodyPr wrap="square" lIns="0" tIns="0" rIns="0" bIns="0" rtlCol="0" anchor="ctr"/>
          <a:lstStyle/>
          <a:p>
            <a:pPr indent="0" marL="0">
              <a:buNone/>
            </a:pPr>
            <a:r>
              <a:rPr lang="en-US" sz="1100" dirty="0">
                <a:solidFill>
                  <a:schemeClr val="tx1"/>
                </a:solidFill>
              </a:rPr>
              <a:t>issue_date</a:t>
            </a:r>
            <a:endParaRPr lang="en-US" sz="1100" dirty="0"/>
          </a:p>
        </p:txBody>
      </p:sp>
      <p:sp>
        <p:nvSpPr>
          <p:cNvPr id="111" name="key tag"/>
          <p:cNvSpPr txBox="1"/>
          <p:nvPr/>
        </p:nvSpPr>
        <p:spPr>
          <a:xfrm>
            <a:off x="10865815" y="5084064"/>
            <a:ext cx="685800" cy="210312"/>
          </a:xfrm>
          <a:prstGeom prst="rect">
            <a:avLst/>
          </a:prstGeom>
          <a:noFill/>
          <a:ln/>
        </p:spPr>
        <p:txBody>
          <a:bodyPr wrap="square" lIns="0" tIns="0" rIns="0" bIns="0" rtlCol="0" anchor="ctr"/>
          <a:lstStyle/>
          <a:p>
            <a:pPr algn="r" indent="0" marL="0">
              <a:buNone/>
            </a:pPr>
            <a:endParaRPr lang="en-US" sz="1100" dirty="0"/>
          </a:p>
        </p:txBody>
      </p:sp>
      <p:sp>
        <p:nvSpPr>
          <p:cNvPr id="112" name="attr"/>
          <p:cNvSpPr txBox="1"/>
          <p:nvPr/>
        </p:nvSpPr>
        <p:spPr>
          <a:xfrm>
            <a:off x="9101023" y="5294376"/>
            <a:ext cx="1750162" cy="210312"/>
          </a:xfrm>
          <a:prstGeom prst="rect">
            <a:avLst/>
          </a:prstGeom>
          <a:noFill/>
          <a:ln/>
        </p:spPr>
        <p:txBody>
          <a:bodyPr wrap="square" lIns="0" tIns="0" rIns="0" bIns="0" rtlCol="0" anchor="ctr"/>
          <a:lstStyle/>
          <a:p>
            <a:pPr indent="0" marL="0">
              <a:buNone/>
            </a:pPr>
            <a:r>
              <a:rPr lang="en-US" sz="1100" dirty="0">
                <a:solidFill>
                  <a:schemeClr val="tx1"/>
                </a:solidFill>
              </a:rPr>
              <a:t>issued_by</a:t>
            </a:r>
            <a:endParaRPr lang="en-US" sz="1100" dirty="0"/>
          </a:p>
        </p:txBody>
      </p:sp>
      <p:sp>
        <p:nvSpPr>
          <p:cNvPr id="113" name="key tag"/>
          <p:cNvSpPr txBox="1"/>
          <p:nvPr/>
        </p:nvSpPr>
        <p:spPr>
          <a:xfrm>
            <a:off x="10865815" y="5294376"/>
            <a:ext cx="685800" cy="210312"/>
          </a:xfrm>
          <a:prstGeom prst="rect">
            <a:avLst/>
          </a:prstGeom>
          <a:noFill/>
          <a:ln/>
        </p:spPr>
        <p:txBody>
          <a:bodyPr wrap="square" lIns="0" tIns="0" rIns="0" bIns="0" rtlCol="0" anchor="ctr"/>
          <a:lstStyle/>
          <a:p>
            <a:pPr algn="r" indent="0" marL="0">
              <a:buNone/>
            </a:pPr>
            <a:endParaRPr lang="en-US" sz="1100" dirty="0"/>
          </a:p>
        </p:txBody>
      </p:sp>
      <p:sp>
        <p:nvSpPr>
          <p:cNvPr id="114" name="row shade"/>
          <p:cNvSpPr/>
          <p:nvPr/>
        </p:nvSpPr>
        <p:spPr>
          <a:xfrm>
            <a:off x="9027871" y="5504688"/>
            <a:ext cx="2578608" cy="210312"/>
          </a:xfrm>
          <a:prstGeom prst="rect">
            <a:avLst/>
          </a:prstGeom>
          <a:solidFill>
            <a:schemeClr val="bg2"/>
          </a:solidFill>
          <a:ln w="12700">
            <a:solidFill>
              <a:schemeClr val="bg2"/>
            </a:solidFill>
            <a:prstDash val="solid"/>
          </a:ln>
        </p:spPr>
      </p:sp>
      <p:sp>
        <p:nvSpPr>
          <p:cNvPr id="115" name="attr"/>
          <p:cNvSpPr txBox="1"/>
          <p:nvPr/>
        </p:nvSpPr>
        <p:spPr>
          <a:xfrm>
            <a:off x="9101023" y="5504688"/>
            <a:ext cx="1750162" cy="210312"/>
          </a:xfrm>
          <a:prstGeom prst="rect">
            <a:avLst/>
          </a:prstGeom>
          <a:noFill/>
          <a:ln/>
        </p:spPr>
        <p:txBody>
          <a:bodyPr wrap="square" lIns="0" tIns="0" rIns="0" bIns="0" rtlCol="0" anchor="ctr"/>
          <a:lstStyle/>
          <a:p>
            <a:pPr indent="0" marL="0">
              <a:buNone/>
            </a:pPr>
            <a:r>
              <a:rPr lang="en-US" sz="1100" dirty="0">
                <a:solidFill>
                  <a:schemeClr val="tx1"/>
                </a:solidFill>
              </a:rPr>
              <a:t>remarks</a:t>
            </a:r>
            <a:endParaRPr lang="en-US" sz="1100" dirty="0"/>
          </a:p>
        </p:txBody>
      </p:sp>
      <p:sp>
        <p:nvSpPr>
          <p:cNvPr id="116" name="key tag"/>
          <p:cNvSpPr txBox="1"/>
          <p:nvPr/>
        </p:nvSpPr>
        <p:spPr>
          <a:xfrm>
            <a:off x="10865815" y="5504688"/>
            <a:ext cx="685800" cy="210312"/>
          </a:xfrm>
          <a:prstGeom prst="rect">
            <a:avLst/>
          </a:prstGeom>
          <a:noFill/>
          <a:ln/>
        </p:spPr>
        <p:txBody>
          <a:bodyPr wrap="square" lIns="0" tIns="0" rIns="0" bIns="0" rtlCol="0" anchor="ctr"/>
          <a:lstStyle/>
          <a:p>
            <a:pPr algn="r" indent="0" marL="0">
              <a:buNone/>
            </a:pPr>
            <a:endParaRPr lang="en-US" sz="1100" dirty="0"/>
          </a:p>
        </p:txBody>
      </p:sp>
      <p:sp>
        <p:nvSpPr>
          <p:cNvPr id="117" name="donates line"/>
          <p:cNvSpPr/>
          <p:nvPr/>
        </p:nvSpPr>
        <p:spPr>
          <a:xfrm>
            <a:off x="3200400" y="2194560"/>
            <a:ext cx="1570025" cy="0"/>
          </a:xfrm>
          <a:prstGeom prst="line">
            <a:avLst/>
          </a:prstGeom>
          <a:noFill/>
          <a:ln w="19050">
            <a:solidFill>
              <a:schemeClr val="accent5"/>
            </a:solidFill>
            <a:prstDash val="solid"/>
          </a:ln>
        </p:spPr>
      </p:sp>
      <p:sp>
        <p:nvSpPr>
          <p:cNvPr id="118" name="donates diamond"/>
          <p:cNvSpPr/>
          <p:nvPr/>
        </p:nvSpPr>
        <p:spPr>
          <a:xfrm>
            <a:off x="3829964" y="2039112"/>
            <a:ext cx="310896" cy="310896"/>
          </a:xfrm>
          <a:prstGeom prst="diamond">
            <a:avLst/>
          </a:prstGeom>
          <a:solidFill>
            <a:schemeClr val="accent2"/>
          </a:solidFill>
          <a:ln w="12700">
            <a:solidFill>
              <a:schemeClr val="accent2"/>
            </a:solidFill>
            <a:prstDash val="solid"/>
          </a:ln>
        </p:spPr>
      </p:sp>
      <p:sp>
        <p:nvSpPr>
          <p:cNvPr id="119" name="Text 117"/>
          <p:cNvSpPr txBox="1"/>
          <p:nvPr/>
        </p:nvSpPr>
        <p:spPr>
          <a:xfrm>
            <a:off x="3255264" y="1920240"/>
            <a:ext cx="457200" cy="237744"/>
          </a:xfrm>
          <a:prstGeom prst="rect">
            <a:avLst/>
          </a:prstGeom>
          <a:noFill/>
          <a:ln/>
        </p:spPr>
        <p:txBody>
          <a:bodyPr wrap="square" lIns="0" tIns="0" rIns="0" bIns="0" rtlCol="0" anchor="t"/>
          <a:lstStyle/>
          <a:p>
            <a:pPr indent="0" marL="0">
              <a:buNone/>
            </a:pPr>
            <a:r>
              <a:rPr lang="en-US" sz="1200" b="1" dirty="0">
                <a:solidFill>
                  <a:schemeClr val="accent1"/>
                </a:solidFill>
              </a:rPr>
              <a:t>1</a:t>
            </a:r>
            <a:endParaRPr lang="en-US" sz="1200" dirty="0"/>
          </a:p>
        </p:txBody>
      </p:sp>
      <p:sp>
        <p:nvSpPr>
          <p:cNvPr id="120" name="Text 118"/>
          <p:cNvSpPr txBox="1"/>
          <p:nvPr/>
        </p:nvSpPr>
        <p:spPr>
          <a:xfrm>
            <a:off x="4258361" y="1920240"/>
            <a:ext cx="457200" cy="237744"/>
          </a:xfrm>
          <a:prstGeom prst="rect">
            <a:avLst/>
          </a:prstGeom>
          <a:noFill/>
          <a:ln/>
        </p:spPr>
        <p:txBody>
          <a:bodyPr wrap="square" lIns="0" tIns="0" rIns="0" bIns="0" rtlCol="0" anchor="t"/>
          <a:lstStyle/>
          <a:p>
            <a:pPr algn="r" indent="0" marL="0">
              <a:buNone/>
            </a:pPr>
            <a:r>
              <a:rPr lang="en-US" sz="1200" b="1" dirty="0">
                <a:solidFill>
                  <a:schemeClr val="accent1"/>
                </a:solidFill>
              </a:rPr>
              <a:t>N</a:t>
            </a:r>
            <a:endParaRPr lang="en-US" sz="1200" dirty="0"/>
          </a:p>
        </p:txBody>
      </p:sp>
      <p:sp>
        <p:nvSpPr>
          <p:cNvPr id="121" name="Text 119"/>
          <p:cNvSpPr txBox="1"/>
          <p:nvPr/>
        </p:nvSpPr>
        <p:spPr>
          <a:xfrm>
            <a:off x="3208172" y="2377440"/>
            <a:ext cx="1554480" cy="256032"/>
          </a:xfrm>
          <a:prstGeom prst="rect">
            <a:avLst/>
          </a:prstGeom>
          <a:noFill/>
          <a:ln/>
        </p:spPr>
        <p:txBody>
          <a:bodyPr wrap="square" lIns="0" tIns="0" rIns="0" bIns="0" rtlCol="0" anchor="t"/>
          <a:lstStyle/>
          <a:p>
            <a:pPr algn="ctr" indent="0" marL="0">
              <a:buNone/>
            </a:pPr>
            <a:r>
              <a:rPr lang="en-US" sz="1200" b="1" i="1" dirty="0">
                <a:solidFill>
                  <a:schemeClr val="accent2"/>
                </a:solidFill>
              </a:rPr>
              <a:t>donates</a:t>
            </a:r>
            <a:endParaRPr lang="en-US" sz="1200" dirty="0"/>
          </a:p>
        </p:txBody>
      </p:sp>
      <p:sp>
        <p:nvSpPr>
          <p:cNvPr id="122" name="yields line"/>
          <p:cNvSpPr/>
          <p:nvPr/>
        </p:nvSpPr>
        <p:spPr>
          <a:xfrm>
            <a:off x="7422185" y="2194560"/>
            <a:ext cx="1569110" cy="0"/>
          </a:xfrm>
          <a:prstGeom prst="line">
            <a:avLst/>
          </a:prstGeom>
          <a:noFill/>
          <a:ln w="19050">
            <a:solidFill>
              <a:schemeClr val="accent5"/>
            </a:solidFill>
            <a:prstDash val="solid"/>
          </a:ln>
        </p:spPr>
      </p:sp>
      <p:sp>
        <p:nvSpPr>
          <p:cNvPr id="123" name="yields diamond"/>
          <p:cNvSpPr/>
          <p:nvPr/>
        </p:nvSpPr>
        <p:spPr>
          <a:xfrm>
            <a:off x="8051292" y="2039112"/>
            <a:ext cx="310896" cy="310896"/>
          </a:xfrm>
          <a:prstGeom prst="diamond">
            <a:avLst/>
          </a:prstGeom>
          <a:solidFill>
            <a:schemeClr val="accent2"/>
          </a:solidFill>
          <a:ln w="12700">
            <a:solidFill>
              <a:schemeClr val="accent2"/>
            </a:solidFill>
            <a:prstDash val="solid"/>
          </a:ln>
        </p:spPr>
      </p:sp>
      <p:sp>
        <p:nvSpPr>
          <p:cNvPr id="124" name="Text 122"/>
          <p:cNvSpPr txBox="1"/>
          <p:nvPr/>
        </p:nvSpPr>
        <p:spPr>
          <a:xfrm>
            <a:off x="7477049" y="1920240"/>
            <a:ext cx="457200" cy="237744"/>
          </a:xfrm>
          <a:prstGeom prst="rect">
            <a:avLst/>
          </a:prstGeom>
          <a:noFill/>
          <a:ln/>
        </p:spPr>
        <p:txBody>
          <a:bodyPr wrap="square" lIns="0" tIns="0" rIns="0" bIns="0" rtlCol="0" anchor="t"/>
          <a:lstStyle/>
          <a:p>
            <a:pPr indent="0" marL="0">
              <a:buNone/>
            </a:pPr>
            <a:r>
              <a:rPr lang="en-US" sz="1200" b="1" dirty="0">
                <a:solidFill>
                  <a:schemeClr val="accent1"/>
                </a:solidFill>
              </a:rPr>
              <a:t>1</a:t>
            </a:r>
            <a:endParaRPr lang="en-US" sz="1200" dirty="0"/>
          </a:p>
        </p:txBody>
      </p:sp>
      <p:sp>
        <p:nvSpPr>
          <p:cNvPr id="125" name="Text 123"/>
          <p:cNvSpPr txBox="1"/>
          <p:nvPr/>
        </p:nvSpPr>
        <p:spPr>
          <a:xfrm>
            <a:off x="8479231" y="1920240"/>
            <a:ext cx="457200" cy="237744"/>
          </a:xfrm>
          <a:prstGeom prst="rect">
            <a:avLst/>
          </a:prstGeom>
          <a:noFill/>
          <a:ln/>
        </p:spPr>
        <p:txBody>
          <a:bodyPr wrap="square" lIns="0" tIns="0" rIns="0" bIns="0" rtlCol="0" anchor="t"/>
          <a:lstStyle/>
          <a:p>
            <a:pPr algn="r" indent="0" marL="0">
              <a:buNone/>
            </a:pPr>
            <a:r>
              <a:rPr lang="en-US" sz="1200" b="1" dirty="0">
                <a:solidFill>
                  <a:schemeClr val="accent1"/>
                </a:solidFill>
              </a:rPr>
              <a:t>N</a:t>
            </a:r>
            <a:endParaRPr lang="en-US" sz="1200" dirty="0"/>
          </a:p>
        </p:txBody>
      </p:sp>
      <p:sp>
        <p:nvSpPr>
          <p:cNvPr id="126" name="Text 124"/>
          <p:cNvSpPr txBox="1"/>
          <p:nvPr/>
        </p:nvSpPr>
        <p:spPr>
          <a:xfrm>
            <a:off x="7429500" y="2377440"/>
            <a:ext cx="1554480" cy="256032"/>
          </a:xfrm>
          <a:prstGeom prst="rect">
            <a:avLst/>
          </a:prstGeom>
          <a:noFill/>
          <a:ln/>
        </p:spPr>
        <p:txBody>
          <a:bodyPr wrap="square" lIns="0" tIns="0" rIns="0" bIns="0" rtlCol="0" anchor="t"/>
          <a:lstStyle/>
          <a:p>
            <a:pPr algn="ctr" indent="0" marL="0">
              <a:buNone/>
            </a:pPr>
            <a:r>
              <a:rPr lang="en-US" sz="1200" b="1" i="1" dirty="0">
                <a:solidFill>
                  <a:schemeClr val="accent2"/>
                </a:solidFill>
              </a:rPr>
              <a:t>yields</a:t>
            </a:r>
            <a:endParaRPr lang="en-US" sz="1200" dirty="0"/>
          </a:p>
        </p:txBody>
      </p:sp>
      <p:sp>
        <p:nvSpPr>
          <p:cNvPr id="127" name="raises line"/>
          <p:cNvSpPr/>
          <p:nvPr/>
        </p:nvSpPr>
        <p:spPr>
          <a:xfrm>
            <a:off x="3200400" y="5120640"/>
            <a:ext cx="1570025" cy="0"/>
          </a:xfrm>
          <a:prstGeom prst="line">
            <a:avLst/>
          </a:prstGeom>
          <a:noFill/>
          <a:ln w="19050">
            <a:solidFill>
              <a:schemeClr val="accent5"/>
            </a:solidFill>
            <a:prstDash val="solid"/>
          </a:ln>
        </p:spPr>
      </p:sp>
      <p:sp>
        <p:nvSpPr>
          <p:cNvPr id="128" name="raises diamond"/>
          <p:cNvSpPr/>
          <p:nvPr/>
        </p:nvSpPr>
        <p:spPr>
          <a:xfrm>
            <a:off x="3829964" y="4965192"/>
            <a:ext cx="310896" cy="310896"/>
          </a:xfrm>
          <a:prstGeom prst="diamond">
            <a:avLst/>
          </a:prstGeom>
          <a:solidFill>
            <a:schemeClr val="accent2"/>
          </a:solidFill>
          <a:ln w="12700">
            <a:solidFill>
              <a:schemeClr val="accent2"/>
            </a:solidFill>
            <a:prstDash val="solid"/>
          </a:ln>
        </p:spPr>
      </p:sp>
      <p:sp>
        <p:nvSpPr>
          <p:cNvPr id="129" name="Text 127"/>
          <p:cNvSpPr txBox="1"/>
          <p:nvPr/>
        </p:nvSpPr>
        <p:spPr>
          <a:xfrm>
            <a:off x="3255264" y="4846320"/>
            <a:ext cx="457200" cy="237744"/>
          </a:xfrm>
          <a:prstGeom prst="rect">
            <a:avLst/>
          </a:prstGeom>
          <a:noFill/>
          <a:ln/>
        </p:spPr>
        <p:txBody>
          <a:bodyPr wrap="square" lIns="0" tIns="0" rIns="0" bIns="0" rtlCol="0" anchor="t"/>
          <a:lstStyle/>
          <a:p>
            <a:pPr indent="0" marL="0">
              <a:buNone/>
            </a:pPr>
            <a:r>
              <a:rPr lang="en-US" sz="1200" b="1" dirty="0">
                <a:solidFill>
                  <a:schemeClr val="accent1"/>
                </a:solidFill>
              </a:rPr>
              <a:t>1</a:t>
            </a:r>
            <a:endParaRPr lang="en-US" sz="1200" dirty="0"/>
          </a:p>
        </p:txBody>
      </p:sp>
      <p:sp>
        <p:nvSpPr>
          <p:cNvPr id="130" name="Text 128"/>
          <p:cNvSpPr txBox="1"/>
          <p:nvPr/>
        </p:nvSpPr>
        <p:spPr>
          <a:xfrm>
            <a:off x="4258361" y="4846320"/>
            <a:ext cx="457200" cy="237744"/>
          </a:xfrm>
          <a:prstGeom prst="rect">
            <a:avLst/>
          </a:prstGeom>
          <a:noFill/>
          <a:ln/>
        </p:spPr>
        <p:txBody>
          <a:bodyPr wrap="square" lIns="0" tIns="0" rIns="0" bIns="0" rtlCol="0" anchor="t"/>
          <a:lstStyle/>
          <a:p>
            <a:pPr algn="r" indent="0" marL="0">
              <a:buNone/>
            </a:pPr>
            <a:r>
              <a:rPr lang="en-US" sz="1200" b="1" dirty="0">
                <a:solidFill>
                  <a:schemeClr val="accent1"/>
                </a:solidFill>
              </a:rPr>
              <a:t>N</a:t>
            </a:r>
            <a:endParaRPr lang="en-US" sz="1200" dirty="0"/>
          </a:p>
        </p:txBody>
      </p:sp>
      <p:sp>
        <p:nvSpPr>
          <p:cNvPr id="131" name="Text 129"/>
          <p:cNvSpPr txBox="1"/>
          <p:nvPr/>
        </p:nvSpPr>
        <p:spPr>
          <a:xfrm>
            <a:off x="3208172" y="5303520"/>
            <a:ext cx="1554480" cy="256032"/>
          </a:xfrm>
          <a:prstGeom prst="rect">
            <a:avLst/>
          </a:prstGeom>
          <a:noFill/>
          <a:ln/>
        </p:spPr>
        <p:txBody>
          <a:bodyPr wrap="square" lIns="0" tIns="0" rIns="0" bIns="0" rtlCol="0" anchor="t"/>
          <a:lstStyle/>
          <a:p>
            <a:pPr algn="ctr" indent="0" marL="0">
              <a:buNone/>
            </a:pPr>
            <a:r>
              <a:rPr lang="en-US" sz="1200" b="1" i="1" dirty="0">
                <a:solidFill>
                  <a:schemeClr val="accent2"/>
                </a:solidFill>
              </a:rPr>
              <a:t>raises</a:t>
            </a:r>
            <a:endParaRPr lang="en-US" sz="1200" dirty="0"/>
          </a:p>
        </p:txBody>
      </p:sp>
      <p:sp>
        <p:nvSpPr>
          <p:cNvPr id="132" name="fulfilled by line"/>
          <p:cNvSpPr/>
          <p:nvPr/>
        </p:nvSpPr>
        <p:spPr>
          <a:xfrm>
            <a:off x="7422185" y="5120640"/>
            <a:ext cx="1569110" cy="0"/>
          </a:xfrm>
          <a:prstGeom prst="line">
            <a:avLst/>
          </a:prstGeom>
          <a:noFill/>
          <a:ln w="19050">
            <a:solidFill>
              <a:schemeClr val="accent5"/>
            </a:solidFill>
            <a:prstDash val="solid"/>
          </a:ln>
        </p:spPr>
      </p:sp>
      <p:sp>
        <p:nvSpPr>
          <p:cNvPr id="133" name="fulfilled by diamond"/>
          <p:cNvSpPr/>
          <p:nvPr/>
        </p:nvSpPr>
        <p:spPr>
          <a:xfrm>
            <a:off x="8051292" y="4965192"/>
            <a:ext cx="310896" cy="310896"/>
          </a:xfrm>
          <a:prstGeom prst="diamond">
            <a:avLst/>
          </a:prstGeom>
          <a:solidFill>
            <a:schemeClr val="accent2"/>
          </a:solidFill>
          <a:ln w="12700">
            <a:solidFill>
              <a:schemeClr val="accent2"/>
            </a:solidFill>
            <a:prstDash val="solid"/>
          </a:ln>
        </p:spPr>
      </p:sp>
      <p:sp>
        <p:nvSpPr>
          <p:cNvPr id="134" name="Text 132"/>
          <p:cNvSpPr txBox="1"/>
          <p:nvPr/>
        </p:nvSpPr>
        <p:spPr>
          <a:xfrm>
            <a:off x="7477049" y="4846320"/>
            <a:ext cx="457200" cy="237744"/>
          </a:xfrm>
          <a:prstGeom prst="rect">
            <a:avLst/>
          </a:prstGeom>
          <a:noFill/>
          <a:ln/>
        </p:spPr>
        <p:txBody>
          <a:bodyPr wrap="square" lIns="0" tIns="0" rIns="0" bIns="0" rtlCol="0" anchor="t"/>
          <a:lstStyle/>
          <a:p>
            <a:pPr indent="0" marL="0">
              <a:buNone/>
            </a:pPr>
            <a:r>
              <a:rPr lang="en-US" sz="1200" b="1" dirty="0">
                <a:solidFill>
                  <a:schemeClr val="accent1"/>
                </a:solidFill>
              </a:rPr>
              <a:t>1</a:t>
            </a:r>
            <a:endParaRPr lang="en-US" sz="1200" dirty="0"/>
          </a:p>
        </p:txBody>
      </p:sp>
      <p:sp>
        <p:nvSpPr>
          <p:cNvPr id="135" name="Text 133"/>
          <p:cNvSpPr txBox="1"/>
          <p:nvPr/>
        </p:nvSpPr>
        <p:spPr>
          <a:xfrm>
            <a:off x="8479231" y="4846320"/>
            <a:ext cx="457200" cy="237744"/>
          </a:xfrm>
          <a:prstGeom prst="rect">
            <a:avLst/>
          </a:prstGeom>
          <a:noFill/>
          <a:ln/>
        </p:spPr>
        <p:txBody>
          <a:bodyPr wrap="square" lIns="0" tIns="0" rIns="0" bIns="0" rtlCol="0" anchor="t"/>
          <a:lstStyle/>
          <a:p>
            <a:pPr algn="r" indent="0" marL="0">
              <a:buNone/>
            </a:pPr>
            <a:r>
              <a:rPr lang="en-US" sz="1200" b="1" dirty="0">
                <a:solidFill>
                  <a:schemeClr val="accent1"/>
                </a:solidFill>
              </a:rPr>
              <a:t>N</a:t>
            </a:r>
            <a:endParaRPr lang="en-US" sz="1200" dirty="0"/>
          </a:p>
        </p:txBody>
      </p:sp>
      <p:sp>
        <p:nvSpPr>
          <p:cNvPr id="136" name="Text 134"/>
          <p:cNvSpPr txBox="1"/>
          <p:nvPr/>
        </p:nvSpPr>
        <p:spPr>
          <a:xfrm>
            <a:off x="7429500" y="5303520"/>
            <a:ext cx="1554480" cy="256032"/>
          </a:xfrm>
          <a:prstGeom prst="rect">
            <a:avLst/>
          </a:prstGeom>
          <a:noFill/>
          <a:ln/>
        </p:spPr>
        <p:txBody>
          <a:bodyPr wrap="square" lIns="0" tIns="0" rIns="0" bIns="0" rtlCol="0" anchor="t"/>
          <a:lstStyle/>
          <a:p>
            <a:pPr algn="ctr" indent="0" marL="0">
              <a:buNone/>
            </a:pPr>
            <a:r>
              <a:rPr lang="en-US" sz="1200" b="1" i="1" dirty="0">
                <a:solidFill>
                  <a:schemeClr val="accent2"/>
                </a:solidFill>
              </a:rPr>
              <a:t>fulfilled by</a:t>
            </a:r>
            <a:endParaRPr lang="en-US" sz="1200" dirty="0"/>
          </a:p>
        </p:txBody>
      </p:sp>
      <p:sp>
        <p:nvSpPr>
          <p:cNvPr id="137" name="issued in line"/>
          <p:cNvSpPr/>
          <p:nvPr/>
        </p:nvSpPr>
        <p:spPr>
          <a:xfrm>
            <a:off x="10317175" y="3246120"/>
            <a:ext cx="0" cy="822960"/>
          </a:xfrm>
          <a:prstGeom prst="line">
            <a:avLst/>
          </a:prstGeom>
          <a:noFill/>
          <a:ln w="19050">
            <a:solidFill>
              <a:schemeClr val="accent5"/>
            </a:solidFill>
            <a:prstDash val="solid"/>
          </a:ln>
        </p:spPr>
      </p:sp>
      <p:sp>
        <p:nvSpPr>
          <p:cNvPr id="138" name="issued in diamond"/>
          <p:cNvSpPr/>
          <p:nvPr/>
        </p:nvSpPr>
        <p:spPr>
          <a:xfrm>
            <a:off x="10161727" y="3502152"/>
            <a:ext cx="310896" cy="310896"/>
          </a:xfrm>
          <a:prstGeom prst="diamond">
            <a:avLst/>
          </a:prstGeom>
          <a:solidFill>
            <a:schemeClr val="accent2"/>
          </a:solidFill>
          <a:ln w="12700">
            <a:solidFill>
              <a:schemeClr val="accent2"/>
            </a:solidFill>
            <a:prstDash val="solid"/>
          </a:ln>
        </p:spPr>
      </p:sp>
      <p:sp>
        <p:nvSpPr>
          <p:cNvPr id="139" name="Text 137"/>
          <p:cNvSpPr txBox="1"/>
          <p:nvPr/>
        </p:nvSpPr>
        <p:spPr>
          <a:xfrm>
            <a:off x="10408615" y="3273552"/>
            <a:ext cx="457200" cy="237744"/>
          </a:xfrm>
          <a:prstGeom prst="rect">
            <a:avLst/>
          </a:prstGeom>
          <a:noFill/>
          <a:ln/>
        </p:spPr>
        <p:txBody>
          <a:bodyPr wrap="square" lIns="0" tIns="0" rIns="0" bIns="0" rtlCol="0" anchor="t"/>
          <a:lstStyle/>
          <a:p>
            <a:pPr indent="0" marL="0">
              <a:buNone/>
            </a:pPr>
            <a:r>
              <a:rPr lang="en-US" sz="1200" b="1" dirty="0">
                <a:solidFill>
                  <a:schemeClr val="accent1"/>
                </a:solidFill>
              </a:rPr>
              <a:t>1</a:t>
            </a:r>
            <a:endParaRPr lang="en-US" sz="1200" dirty="0"/>
          </a:p>
        </p:txBody>
      </p:sp>
      <p:sp>
        <p:nvSpPr>
          <p:cNvPr id="140" name="Text 138"/>
          <p:cNvSpPr txBox="1"/>
          <p:nvPr/>
        </p:nvSpPr>
        <p:spPr>
          <a:xfrm>
            <a:off x="10408615" y="3794760"/>
            <a:ext cx="640080" cy="237744"/>
          </a:xfrm>
          <a:prstGeom prst="rect">
            <a:avLst/>
          </a:prstGeom>
          <a:noFill/>
          <a:ln/>
        </p:spPr>
        <p:txBody>
          <a:bodyPr wrap="square" lIns="0" tIns="0" rIns="0" bIns="0" rtlCol="0" anchor="t"/>
          <a:lstStyle/>
          <a:p>
            <a:pPr indent="0" marL="0">
              <a:buNone/>
            </a:pPr>
            <a:r>
              <a:rPr lang="en-US" sz="1200" b="1" dirty="0">
                <a:solidFill>
                  <a:schemeClr val="accent1"/>
                </a:solidFill>
              </a:rPr>
              <a:t>0..1</a:t>
            </a:r>
            <a:endParaRPr lang="en-US" sz="1200" dirty="0"/>
          </a:p>
        </p:txBody>
      </p:sp>
      <p:sp>
        <p:nvSpPr>
          <p:cNvPr id="141" name="Text 139"/>
          <p:cNvSpPr txBox="1"/>
          <p:nvPr/>
        </p:nvSpPr>
        <p:spPr>
          <a:xfrm>
            <a:off x="10591495" y="3529584"/>
            <a:ext cx="1188720" cy="256032"/>
          </a:xfrm>
          <a:prstGeom prst="rect">
            <a:avLst/>
          </a:prstGeom>
          <a:noFill/>
          <a:ln/>
        </p:spPr>
        <p:txBody>
          <a:bodyPr wrap="square" lIns="0" tIns="0" rIns="0" bIns="0" rtlCol="0" anchor="t"/>
          <a:lstStyle/>
          <a:p>
            <a:pPr indent="0" marL="0">
              <a:buNone/>
            </a:pPr>
            <a:r>
              <a:rPr lang="en-US" sz="1200" b="1" i="1" dirty="0">
                <a:solidFill>
                  <a:schemeClr val="accent2"/>
                </a:solidFill>
              </a:rPr>
              <a:t>issued in</a:t>
            </a:r>
            <a:endParaRPr lang="en-US" sz="1200" dirty="0"/>
          </a:p>
        </p:txBody>
      </p:sp>
      <p:sp>
        <p:nvSpPr>
          <p:cNvPr id="142" name="Text 140"/>
          <p:cNvSpPr txBox="1"/>
          <p:nvPr/>
        </p:nvSpPr>
        <p:spPr>
          <a:xfrm>
            <a:off x="548640" y="6217920"/>
            <a:ext cx="11064240" cy="228600"/>
          </a:xfrm>
          <a:prstGeom prst="rect">
            <a:avLst/>
          </a:prstGeom>
          <a:noFill/>
          <a:ln/>
        </p:spPr>
        <p:txBody>
          <a:bodyPr wrap="square" lIns="0" tIns="0" rIns="0" bIns="0" rtlCol="0" anchor="t"/>
          <a:lstStyle/>
          <a:p>
            <a:pPr indent="0" marL="0">
              <a:buNone/>
            </a:pPr>
            <a:r>
              <a:rPr lang="en-US" sz="1100" dirty="0">
                <a:solidFill>
                  <a:schemeClr val="accent5"/>
                </a:solidFill>
              </a:rPr>
              <a:t>PK = primary key    FK = foreign key    UQ = unique    Diamonds show relationships with cardinality</a:t>
            </a:r>
            <a:endParaRPr lang="en-US" sz="1100" dirty="0"/>
          </a:p>
        </p:txBody>
      </p:sp>
      <p:sp>
        <p:nvSpPr>
          <p:cNvPr id="25" name="Slide Number Placeholder 0"/>
          <p:cNvSpPr>
            <a:spLocks noGrp="1"/>
          </p:cNvSpPr>
          <p:nvPr>
            <p:ph type="sldNum" sz="quarter" idx="4294967295"/>
          </p:nvPr>
        </p:nvSpPr>
        <p:spPr>
          <a:xfrm>
            <a:off x="11064240" y="647395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731520"/>
          </a:xfrm>
          <a:prstGeom prst="rect">
            <a:avLst/>
          </a:prstGeom>
          <a:noFill/>
          <a:ln/>
        </p:spPr>
        <p:txBody>
          <a:bodyPr wrap="square" lIns="0" tIns="0" rIns="0" bIns="0" rtlCol="0" anchor="ctr"/>
          <a:lstStyle/>
          <a:p>
            <a:pPr algn="l" indent="0" marL="0">
              <a:buNone/>
            </a:pPr>
            <a:r>
              <a:rPr lang="en-US" sz="3400" b="1" dirty="0">
                <a:solidFill>
                  <a:schemeClr val="tx2"/>
                </a:solidFill>
              </a:rPr>
              <a:t>Initial Relational Schema</a:t>
            </a:r>
            <a:endParaRPr lang="en-US" sz="3400" dirty="0"/>
          </a:p>
        </p:txBody>
      </p:sp>
      <p:sp>
        <p:nvSpPr>
          <p:cNvPr id="3" name="Review tag"/>
          <p:cNvSpPr/>
          <p:nvPr/>
        </p:nvSpPr>
        <p:spPr>
          <a:xfrm>
            <a:off x="9079992" y="420624"/>
            <a:ext cx="2560320" cy="329184"/>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9079992" y="420624"/>
            <a:ext cx="2560320" cy="329184"/>
          </a:xfrm>
          <a:prstGeom prst="rect">
            <a:avLst/>
          </a:prstGeom>
          <a:noFill/>
          <a:ln/>
        </p:spPr>
        <p:txBody>
          <a:bodyPr wrap="square" lIns="0" tIns="0" rIns="0" bIns="0" rtlCol="0" anchor="ctr"/>
          <a:lstStyle/>
          <a:p>
            <a:pPr algn="ctr" indent="0" marL="0">
              <a:buNone/>
            </a:pPr>
            <a:r>
              <a:rPr lang="en-US" sz="1200" b="1" spc="100" kern="0" dirty="0">
                <a:solidFill>
                  <a:schemeClr val="accent1"/>
                </a:solidFill>
              </a:rPr>
              <a:t>REVIEW 1  |  WEEK 7</a:t>
            </a:r>
            <a:endParaRPr lang="en-US" sz="1200" dirty="0"/>
          </a:p>
        </p:txBody>
      </p:sp>
      <p:sp>
        <p:nvSpPr>
          <p:cNvPr id="5" name="DONOR box"/>
          <p:cNvSpPr/>
          <p:nvPr/>
        </p:nvSpPr>
        <p:spPr>
          <a:xfrm>
            <a:off x="548640" y="1143000"/>
            <a:ext cx="3566160" cy="2240280"/>
          </a:xfrm>
          <a:prstGeom prst="rect">
            <a:avLst/>
          </a:prstGeom>
          <a:solidFill>
            <a:schemeClr val="bg1"/>
          </a:solidFill>
          <a:ln w="15875">
            <a:solidFill>
              <a:schemeClr val="accent1"/>
            </a:solidFill>
            <a:prstDash val="solid"/>
          </a:ln>
        </p:spPr>
      </p:sp>
      <p:sp>
        <p:nvSpPr>
          <p:cNvPr id="6" name="DONOR header"/>
          <p:cNvSpPr/>
          <p:nvPr/>
        </p:nvSpPr>
        <p:spPr>
          <a:xfrm>
            <a:off x="548640" y="1143000"/>
            <a:ext cx="3566160" cy="347472"/>
          </a:xfrm>
          <a:prstGeom prst="rect">
            <a:avLst/>
          </a:prstGeom>
          <a:solidFill>
            <a:schemeClr val="accent1"/>
          </a:solidFill>
          <a:ln w="12700">
            <a:solidFill>
              <a:schemeClr val="accent1"/>
            </a:solidFill>
            <a:prstDash val="solid"/>
          </a:ln>
        </p:spPr>
      </p:sp>
      <p:sp>
        <p:nvSpPr>
          <p:cNvPr id="7" name="DONOR title"/>
          <p:cNvSpPr txBox="1"/>
          <p:nvPr/>
        </p:nvSpPr>
        <p:spPr>
          <a:xfrm>
            <a:off x="548640" y="1143000"/>
            <a:ext cx="3566160" cy="347472"/>
          </a:xfrm>
          <a:prstGeom prst="rect">
            <a:avLst/>
          </a:prstGeom>
          <a:noFill/>
          <a:ln/>
        </p:spPr>
        <p:txBody>
          <a:bodyPr wrap="square" lIns="0" tIns="0" rIns="0" bIns="0" rtlCol="0" anchor="ctr"/>
          <a:lstStyle/>
          <a:p>
            <a:pPr algn="ctr" indent="0" marL="0">
              <a:buNone/>
            </a:pPr>
            <a:r>
              <a:rPr lang="en-US" sz="1300" b="1" dirty="0">
                <a:solidFill>
                  <a:schemeClr val="bg1"/>
                </a:solidFill>
              </a:rPr>
              <a:t>DONOR</a:t>
            </a:r>
            <a:endParaRPr lang="en-US" sz="1300" dirty="0"/>
          </a:p>
        </p:txBody>
      </p:sp>
      <p:sp>
        <p:nvSpPr>
          <p:cNvPr id="8" name="attr"/>
          <p:cNvSpPr txBox="1"/>
          <p:nvPr/>
        </p:nvSpPr>
        <p:spPr>
          <a:xfrm>
            <a:off x="658368" y="1527048"/>
            <a:ext cx="1497787" cy="228600"/>
          </a:xfrm>
          <a:prstGeom prst="rect">
            <a:avLst/>
          </a:prstGeom>
          <a:noFill/>
          <a:ln/>
        </p:spPr>
        <p:txBody>
          <a:bodyPr wrap="square" lIns="0" tIns="0" rIns="0" bIns="0" rtlCol="0" anchor="ctr"/>
          <a:lstStyle/>
          <a:p>
            <a:pPr indent="0" marL="0">
              <a:buNone/>
            </a:pPr>
            <a:r>
              <a:rPr lang="en-US" sz="1100" b="1" dirty="0">
                <a:solidFill>
                  <a:schemeClr val="tx1"/>
                </a:solidFill>
              </a:rPr>
              <a:t>donor_id</a:t>
            </a:r>
            <a:endParaRPr lang="en-US" sz="1100" dirty="0"/>
          </a:p>
        </p:txBody>
      </p:sp>
      <p:sp>
        <p:nvSpPr>
          <p:cNvPr id="9" name="type"/>
          <p:cNvSpPr txBox="1"/>
          <p:nvPr/>
        </p:nvSpPr>
        <p:spPr>
          <a:xfrm>
            <a:off x="2156155" y="1527048"/>
            <a:ext cx="1212494" cy="228600"/>
          </a:xfrm>
          <a:prstGeom prst="rect">
            <a:avLst/>
          </a:prstGeom>
          <a:noFill/>
          <a:ln/>
        </p:spPr>
        <p:txBody>
          <a:bodyPr wrap="square" lIns="0" tIns="0" rIns="0" bIns="0" rtlCol="0" anchor="ctr"/>
          <a:lstStyle/>
          <a:p>
            <a:pPr indent="0" marL="0">
              <a:buNone/>
            </a:pPr>
            <a:r>
              <a:rPr lang="en-US" sz="1100" dirty="0">
                <a:solidFill>
                  <a:schemeClr val="accent5"/>
                </a:solidFill>
              </a:rPr>
              <a:t>INT</a:t>
            </a:r>
            <a:endParaRPr lang="en-US" sz="1100" dirty="0"/>
          </a:p>
        </p:txBody>
      </p:sp>
      <p:sp>
        <p:nvSpPr>
          <p:cNvPr id="10" name="key tag"/>
          <p:cNvSpPr txBox="1"/>
          <p:nvPr/>
        </p:nvSpPr>
        <p:spPr>
          <a:xfrm>
            <a:off x="3337560" y="1527048"/>
            <a:ext cx="685800" cy="228600"/>
          </a:xfrm>
          <a:prstGeom prst="rect">
            <a:avLst/>
          </a:prstGeom>
          <a:noFill/>
          <a:ln/>
        </p:spPr>
        <p:txBody>
          <a:bodyPr wrap="square" lIns="0" tIns="0" rIns="0" bIns="0" rtlCol="0" anchor="ctr"/>
          <a:lstStyle/>
          <a:p>
            <a:pPr algn="r" indent="0" marL="0">
              <a:buNone/>
            </a:pPr>
            <a:r>
              <a:rPr lang="en-US" sz="1100" b="1" dirty="0">
                <a:solidFill>
                  <a:schemeClr val="accent1"/>
                </a:solidFill>
              </a:rPr>
              <a:t>PK</a:t>
            </a:r>
            <a:endParaRPr lang="en-US" sz="1100" dirty="0"/>
          </a:p>
        </p:txBody>
      </p:sp>
      <p:sp>
        <p:nvSpPr>
          <p:cNvPr id="11" name="row shade"/>
          <p:cNvSpPr/>
          <p:nvPr/>
        </p:nvSpPr>
        <p:spPr>
          <a:xfrm>
            <a:off x="585216" y="1755648"/>
            <a:ext cx="3493008" cy="228600"/>
          </a:xfrm>
          <a:prstGeom prst="rect">
            <a:avLst/>
          </a:prstGeom>
          <a:solidFill>
            <a:schemeClr val="bg2"/>
          </a:solidFill>
          <a:ln w="12700">
            <a:solidFill>
              <a:schemeClr val="bg2"/>
            </a:solidFill>
            <a:prstDash val="solid"/>
          </a:ln>
        </p:spPr>
      </p:sp>
      <p:sp>
        <p:nvSpPr>
          <p:cNvPr id="12" name="attr"/>
          <p:cNvSpPr txBox="1"/>
          <p:nvPr/>
        </p:nvSpPr>
        <p:spPr>
          <a:xfrm>
            <a:off x="658368" y="1755648"/>
            <a:ext cx="1497787" cy="228600"/>
          </a:xfrm>
          <a:prstGeom prst="rect">
            <a:avLst/>
          </a:prstGeom>
          <a:noFill/>
          <a:ln/>
        </p:spPr>
        <p:txBody>
          <a:bodyPr wrap="square" lIns="0" tIns="0" rIns="0" bIns="0" rtlCol="0" anchor="ctr"/>
          <a:lstStyle/>
          <a:p>
            <a:pPr indent="0" marL="0">
              <a:buNone/>
            </a:pPr>
            <a:r>
              <a:rPr lang="en-US" sz="1100" dirty="0">
                <a:solidFill>
                  <a:schemeClr val="tx1"/>
                </a:solidFill>
              </a:rPr>
              <a:t>full_name</a:t>
            </a:r>
            <a:endParaRPr lang="en-US" sz="1100" dirty="0"/>
          </a:p>
        </p:txBody>
      </p:sp>
      <p:sp>
        <p:nvSpPr>
          <p:cNvPr id="13" name="type"/>
          <p:cNvSpPr txBox="1"/>
          <p:nvPr/>
        </p:nvSpPr>
        <p:spPr>
          <a:xfrm>
            <a:off x="2156155" y="1755648"/>
            <a:ext cx="1212494" cy="228600"/>
          </a:xfrm>
          <a:prstGeom prst="rect">
            <a:avLst/>
          </a:prstGeom>
          <a:noFill/>
          <a:ln/>
        </p:spPr>
        <p:txBody>
          <a:bodyPr wrap="square" lIns="0" tIns="0" rIns="0" bIns="0" rtlCol="0" anchor="ctr"/>
          <a:lstStyle/>
          <a:p>
            <a:pPr indent="0" marL="0">
              <a:buNone/>
            </a:pPr>
            <a:r>
              <a:rPr lang="en-US" sz="1100" dirty="0">
                <a:solidFill>
                  <a:schemeClr val="accent5"/>
                </a:solidFill>
              </a:rPr>
              <a:t>VARCHAR(100)</a:t>
            </a:r>
            <a:endParaRPr lang="en-US" sz="1100" dirty="0"/>
          </a:p>
        </p:txBody>
      </p:sp>
      <p:sp>
        <p:nvSpPr>
          <p:cNvPr id="14" name="key tag"/>
          <p:cNvSpPr txBox="1"/>
          <p:nvPr/>
        </p:nvSpPr>
        <p:spPr>
          <a:xfrm>
            <a:off x="3337560" y="1755648"/>
            <a:ext cx="685800" cy="228600"/>
          </a:xfrm>
          <a:prstGeom prst="rect">
            <a:avLst/>
          </a:prstGeom>
          <a:noFill/>
          <a:ln/>
        </p:spPr>
        <p:txBody>
          <a:bodyPr wrap="square" lIns="0" tIns="0" rIns="0" bIns="0" rtlCol="0" anchor="ctr"/>
          <a:lstStyle/>
          <a:p>
            <a:pPr algn="r" indent="0" marL="0">
              <a:buNone/>
            </a:pPr>
            <a:endParaRPr lang="en-US" sz="1100" dirty="0"/>
          </a:p>
        </p:txBody>
      </p:sp>
      <p:sp>
        <p:nvSpPr>
          <p:cNvPr id="15" name="attr"/>
          <p:cNvSpPr txBox="1"/>
          <p:nvPr/>
        </p:nvSpPr>
        <p:spPr>
          <a:xfrm>
            <a:off x="658368" y="1984248"/>
            <a:ext cx="1497787" cy="228600"/>
          </a:xfrm>
          <a:prstGeom prst="rect">
            <a:avLst/>
          </a:prstGeom>
          <a:noFill/>
          <a:ln/>
        </p:spPr>
        <p:txBody>
          <a:bodyPr wrap="square" lIns="0" tIns="0" rIns="0" bIns="0" rtlCol="0" anchor="ctr"/>
          <a:lstStyle/>
          <a:p>
            <a:pPr indent="0" marL="0">
              <a:buNone/>
            </a:pPr>
            <a:r>
              <a:rPr lang="en-US" sz="1100" dirty="0">
                <a:solidFill>
                  <a:schemeClr val="tx1"/>
                </a:solidFill>
              </a:rPr>
              <a:t>date_of_birth</a:t>
            </a:r>
            <a:endParaRPr lang="en-US" sz="1100" dirty="0"/>
          </a:p>
        </p:txBody>
      </p:sp>
      <p:sp>
        <p:nvSpPr>
          <p:cNvPr id="16" name="type"/>
          <p:cNvSpPr txBox="1"/>
          <p:nvPr/>
        </p:nvSpPr>
        <p:spPr>
          <a:xfrm>
            <a:off x="2156155" y="1984248"/>
            <a:ext cx="1212494" cy="228600"/>
          </a:xfrm>
          <a:prstGeom prst="rect">
            <a:avLst/>
          </a:prstGeom>
          <a:noFill/>
          <a:ln/>
        </p:spPr>
        <p:txBody>
          <a:bodyPr wrap="square" lIns="0" tIns="0" rIns="0" bIns="0" rtlCol="0" anchor="ctr"/>
          <a:lstStyle/>
          <a:p>
            <a:pPr indent="0" marL="0">
              <a:buNone/>
            </a:pPr>
            <a:r>
              <a:rPr lang="en-US" sz="1100" dirty="0">
                <a:solidFill>
                  <a:schemeClr val="accent5"/>
                </a:solidFill>
              </a:rPr>
              <a:t>DATE</a:t>
            </a:r>
            <a:endParaRPr lang="en-US" sz="1100" dirty="0"/>
          </a:p>
        </p:txBody>
      </p:sp>
      <p:sp>
        <p:nvSpPr>
          <p:cNvPr id="17" name="key tag"/>
          <p:cNvSpPr txBox="1"/>
          <p:nvPr/>
        </p:nvSpPr>
        <p:spPr>
          <a:xfrm>
            <a:off x="3337560" y="1984248"/>
            <a:ext cx="685800" cy="228600"/>
          </a:xfrm>
          <a:prstGeom prst="rect">
            <a:avLst/>
          </a:prstGeom>
          <a:noFill/>
          <a:ln/>
        </p:spPr>
        <p:txBody>
          <a:bodyPr wrap="square" lIns="0" tIns="0" rIns="0" bIns="0" rtlCol="0" anchor="ctr"/>
          <a:lstStyle/>
          <a:p>
            <a:pPr algn="r" indent="0" marL="0">
              <a:buNone/>
            </a:pPr>
            <a:endParaRPr lang="en-US" sz="1100" dirty="0"/>
          </a:p>
        </p:txBody>
      </p:sp>
      <p:sp>
        <p:nvSpPr>
          <p:cNvPr id="18" name="row shade"/>
          <p:cNvSpPr/>
          <p:nvPr/>
        </p:nvSpPr>
        <p:spPr>
          <a:xfrm>
            <a:off x="585216" y="2212848"/>
            <a:ext cx="3493008" cy="228600"/>
          </a:xfrm>
          <a:prstGeom prst="rect">
            <a:avLst/>
          </a:prstGeom>
          <a:solidFill>
            <a:schemeClr val="bg2"/>
          </a:solidFill>
          <a:ln w="12700">
            <a:solidFill>
              <a:schemeClr val="bg2"/>
            </a:solidFill>
            <a:prstDash val="solid"/>
          </a:ln>
        </p:spPr>
      </p:sp>
      <p:sp>
        <p:nvSpPr>
          <p:cNvPr id="19" name="attr"/>
          <p:cNvSpPr txBox="1"/>
          <p:nvPr/>
        </p:nvSpPr>
        <p:spPr>
          <a:xfrm>
            <a:off x="658368" y="2212848"/>
            <a:ext cx="1497787" cy="228600"/>
          </a:xfrm>
          <a:prstGeom prst="rect">
            <a:avLst/>
          </a:prstGeom>
          <a:noFill/>
          <a:ln/>
        </p:spPr>
        <p:txBody>
          <a:bodyPr wrap="square" lIns="0" tIns="0" rIns="0" bIns="0" rtlCol="0" anchor="ctr"/>
          <a:lstStyle/>
          <a:p>
            <a:pPr indent="0" marL="0">
              <a:buNone/>
            </a:pPr>
            <a:r>
              <a:rPr lang="en-US" sz="1100" dirty="0">
                <a:solidFill>
                  <a:schemeClr val="tx1"/>
                </a:solidFill>
              </a:rPr>
              <a:t>gender</a:t>
            </a:r>
            <a:endParaRPr lang="en-US" sz="1100" dirty="0"/>
          </a:p>
        </p:txBody>
      </p:sp>
      <p:sp>
        <p:nvSpPr>
          <p:cNvPr id="20" name="type"/>
          <p:cNvSpPr txBox="1"/>
          <p:nvPr/>
        </p:nvSpPr>
        <p:spPr>
          <a:xfrm>
            <a:off x="2156155" y="2212848"/>
            <a:ext cx="1212494" cy="228600"/>
          </a:xfrm>
          <a:prstGeom prst="rect">
            <a:avLst/>
          </a:prstGeom>
          <a:noFill/>
          <a:ln/>
        </p:spPr>
        <p:txBody>
          <a:bodyPr wrap="square" lIns="0" tIns="0" rIns="0" bIns="0" rtlCol="0" anchor="ctr"/>
          <a:lstStyle/>
          <a:p>
            <a:pPr indent="0" marL="0">
              <a:buNone/>
            </a:pPr>
            <a:r>
              <a:rPr lang="en-US" sz="1100" dirty="0">
                <a:solidFill>
                  <a:schemeClr val="accent5"/>
                </a:solidFill>
              </a:rPr>
              <a:t>CHAR(1)</a:t>
            </a:r>
            <a:endParaRPr lang="en-US" sz="1100" dirty="0"/>
          </a:p>
        </p:txBody>
      </p:sp>
      <p:sp>
        <p:nvSpPr>
          <p:cNvPr id="21" name="key tag"/>
          <p:cNvSpPr txBox="1"/>
          <p:nvPr/>
        </p:nvSpPr>
        <p:spPr>
          <a:xfrm>
            <a:off x="3337560" y="2212848"/>
            <a:ext cx="685800" cy="228600"/>
          </a:xfrm>
          <a:prstGeom prst="rect">
            <a:avLst/>
          </a:prstGeom>
          <a:noFill/>
          <a:ln/>
        </p:spPr>
        <p:txBody>
          <a:bodyPr wrap="square" lIns="0" tIns="0" rIns="0" bIns="0" rtlCol="0" anchor="ctr"/>
          <a:lstStyle/>
          <a:p>
            <a:pPr algn="r" indent="0" marL="0">
              <a:buNone/>
            </a:pPr>
            <a:endParaRPr lang="en-US" sz="1100" dirty="0"/>
          </a:p>
        </p:txBody>
      </p:sp>
      <p:sp>
        <p:nvSpPr>
          <p:cNvPr id="22" name="attr"/>
          <p:cNvSpPr txBox="1"/>
          <p:nvPr/>
        </p:nvSpPr>
        <p:spPr>
          <a:xfrm>
            <a:off x="658368" y="2441448"/>
            <a:ext cx="1497787" cy="228600"/>
          </a:xfrm>
          <a:prstGeom prst="rect">
            <a:avLst/>
          </a:prstGeom>
          <a:noFill/>
          <a:ln/>
        </p:spPr>
        <p:txBody>
          <a:bodyPr wrap="square" lIns="0" tIns="0" rIns="0" bIns="0" rtlCol="0" anchor="ctr"/>
          <a:lstStyle/>
          <a:p>
            <a:pPr indent="0" marL="0">
              <a:buNone/>
            </a:pPr>
            <a:r>
              <a:rPr lang="en-US" sz="1100" dirty="0">
                <a:solidFill>
                  <a:schemeClr val="tx1"/>
                </a:solidFill>
              </a:rPr>
              <a:t>blood_group</a:t>
            </a:r>
            <a:endParaRPr lang="en-US" sz="1100" dirty="0"/>
          </a:p>
        </p:txBody>
      </p:sp>
      <p:sp>
        <p:nvSpPr>
          <p:cNvPr id="23" name="type"/>
          <p:cNvSpPr txBox="1"/>
          <p:nvPr/>
        </p:nvSpPr>
        <p:spPr>
          <a:xfrm>
            <a:off x="2156155" y="2441448"/>
            <a:ext cx="1212494" cy="228600"/>
          </a:xfrm>
          <a:prstGeom prst="rect">
            <a:avLst/>
          </a:prstGeom>
          <a:noFill/>
          <a:ln/>
        </p:spPr>
        <p:txBody>
          <a:bodyPr wrap="square" lIns="0" tIns="0" rIns="0" bIns="0" rtlCol="0" anchor="ctr"/>
          <a:lstStyle/>
          <a:p>
            <a:pPr indent="0" marL="0">
              <a:buNone/>
            </a:pPr>
            <a:r>
              <a:rPr lang="en-US" sz="1100" dirty="0">
                <a:solidFill>
                  <a:schemeClr val="accent5"/>
                </a:solidFill>
              </a:rPr>
              <a:t>VARCHAR(3)</a:t>
            </a:r>
            <a:endParaRPr lang="en-US" sz="1100" dirty="0"/>
          </a:p>
        </p:txBody>
      </p:sp>
      <p:sp>
        <p:nvSpPr>
          <p:cNvPr id="24" name="key tag"/>
          <p:cNvSpPr txBox="1"/>
          <p:nvPr/>
        </p:nvSpPr>
        <p:spPr>
          <a:xfrm>
            <a:off x="3337560" y="2441448"/>
            <a:ext cx="685800" cy="228600"/>
          </a:xfrm>
          <a:prstGeom prst="rect">
            <a:avLst/>
          </a:prstGeom>
          <a:noFill/>
          <a:ln/>
        </p:spPr>
        <p:txBody>
          <a:bodyPr wrap="square" lIns="0" tIns="0" rIns="0" bIns="0" rtlCol="0" anchor="ctr"/>
          <a:lstStyle/>
          <a:p>
            <a:pPr algn="r" indent="0" marL="0">
              <a:buNone/>
            </a:pPr>
            <a:endParaRPr lang="en-US" sz="1100" dirty="0"/>
          </a:p>
        </p:txBody>
      </p:sp>
      <p:sp>
        <p:nvSpPr>
          <p:cNvPr id="25" name="row shade"/>
          <p:cNvSpPr/>
          <p:nvPr/>
        </p:nvSpPr>
        <p:spPr>
          <a:xfrm>
            <a:off x="585216" y="2670048"/>
            <a:ext cx="3493008" cy="228600"/>
          </a:xfrm>
          <a:prstGeom prst="rect">
            <a:avLst/>
          </a:prstGeom>
          <a:solidFill>
            <a:schemeClr val="bg2"/>
          </a:solidFill>
          <a:ln w="12700">
            <a:solidFill>
              <a:schemeClr val="bg2"/>
            </a:solidFill>
            <a:prstDash val="solid"/>
          </a:ln>
        </p:spPr>
      </p:sp>
      <p:sp>
        <p:nvSpPr>
          <p:cNvPr id="26" name="attr"/>
          <p:cNvSpPr txBox="1"/>
          <p:nvPr/>
        </p:nvSpPr>
        <p:spPr>
          <a:xfrm>
            <a:off x="658368" y="2670048"/>
            <a:ext cx="1497787" cy="228600"/>
          </a:xfrm>
          <a:prstGeom prst="rect">
            <a:avLst/>
          </a:prstGeom>
          <a:noFill/>
          <a:ln/>
        </p:spPr>
        <p:txBody>
          <a:bodyPr wrap="square" lIns="0" tIns="0" rIns="0" bIns="0" rtlCol="0" anchor="ctr"/>
          <a:lstStyle/>
          <a:p>
            <a:pPr indent="0" marL="0">
              <a:buNone/>
            </a:pPr>
            <a:r>
              <a:rPr lang="en-US" sz="1100" dirty="0">
                <a:solidFill>
                  <a:schemeClr val="tx1"/>
                </a:solidFill>
              </a:rPr>
              <a:t>phone</a:t>
            </a:r>
            <a:endParaRPr lang="en-US" sz="1100" dirty="0"/>
          </a:p>
        </p:txBody>
      </p:sp>
      <p:sp>
        <p:nvSpPr>
          <p:cNvPr id="27" name="type"/>
          <p:cNvSpPr txBox="1"/>
          <p:nvPr/>
        </p:nvSpPr>
        <p:spPr>
          <a:xfrm>
            <a:off x="2156155" y="2670048"/>
            <a:ext cx="1212494" cy="228600"/>
          </a:xfrm>
          <a:prstGeom prst="rect">
            <a:avLst/>
          </a:prstGeom>
          <a:noFill/>
          <a:ln/>
        </p:spPr>
        <p:txBody>
          <a:bodyPr wrap="square" lIns="0" tIns="0" rIns="0" bIns="0" rtlCol="0" anchor="ctr"/>
          <a:lstStyle/>
          <a:p>
            <a:pPr indent="0" marL="0">
              <a:buNone/>
            </a:pPr>
            <a:r>
              <a:rPr lang="en-US" sz="1100" dirty="0">
                <a:solidFill>
                  <a:schemeClr val="accent5"/>
                </a:solidFill>
              </a:rPr>
              <a:t>VARCHAR(15)</a:t>
            </a:r>
            <a:endParaRPr lang="en-US" sz="1100" dirty="0"/>
          </a:p>
        </p:txBody>
      </p:sp>
      <p:sp>
        <p:nvSpPr>
          <p:cNvPr id="28" name="key tag"/>
          <p:cNvSpPr txBox="1"/>
          <p:nvPr/>
        </p:nvSpPr>
        <p:spPr>
          <a:xfrm>
            <a:off x="3337560" y="2670048"/>
            <a:ext cx="685800" cy="228600"/>
          </a:xfrm>
          <a:prstGeom prst="rect">
            <a:avLst/>
          </a:prstGeom>
          <a:noFill/>
          <a:ln/>
        </p:spPr>
        <p:txBody>
          <a:bodyPr wrap="square" lIns="0" tIns="0" rIns="0" bIns="0" rtlCol="0" anchor="ctr"/>
          <a:lstStyle/>
          <a:p>
            <a:pPr algn="r" indent="0" marL="0">
              <a:buNone/>
            </a:pPr>
            <a:r>
              <a:rPr lang="en-US" sz="1100" b="1" dirty="0">
                <a:solidFill>
                  <a:schemeClr val="accent2"/>
                </a:solidFill>
              </a:rPr>
              <a:t>UQ</a:t>
            </a:r>
            <a:endParaRPr lang="en-US" sz="1100" dirty="0"/>
          </a:p>
        </p:txBody>
      </p:sp>
      <p:sp>
        <p:nvSpPr>
          <p:cNvPr id="29" name="attr"/>
          <p:cNvSpPr txBox="1"/>
          <p:nvPr/>
        </p:nvSpPr>
        <p:spPr>
          <a:xfrm>
            <a:off x="658368" y="2898648"/>
            <a:ext cx="1497787" cy="228600"/>
          </a:xfrm>
          <a:prstGeom prst="rect">
            <a:avLst/>
          </a:prstGeom>
          <a:noFill/>
          <a:ln/>
        </p:spPr>
        <p:txBody>
          <a:bodyPr wrap="square" lIns="0" tIns="0" rIns="0" bIns="0" rtlCol="0" anchor="ctr"/>
          <a:lstStyle/>
          <a:p>
            <a:pPr indent="0" marL="0">
              <a:buNone/>
            </a:pPr>
            <a:r>
              <a:rPr lang="en-US" sz="1100" dirty="0">
                <a:solidFill>
                  <a:schemeClr val="tx1"/>
                </a:solidFill>
              </a:rPr>
              <a:t>city</a:t>
            </a:r>
            <a:endParaRPr lang="en-US" sz="1100" dirty="0"/>
          </a:p>
        </p:txBody>
      </p:sp>
      <p:sp>
        <p:nvSpPr>
          <p:cNvPr id="30" name="type"/>
          <p:cNvSpPr txBox="1"/>
          <p:nvPr/>
        </p:nvSpPr>
        <p:spPr>
          <a:xfrm>
            <a:off x="2156155" y="2898648"/>
            <a:ext cx="1212494" cy="228600"/>
          </a:xfrm>
          <a:prstGeom prst="rect">
            <a:avLst/>
          </a:prstGeom>
          <a:noFill/>
          <a:ln/>
        </p:spPr>
        <p:txBody>
          <a:bodyPr wrap="square" lIns="0" tIns="0" rIns="0" bIns="0" rtlCol="0" anchor="ctr"/>
          <a:lstStyle/>
          <a:p>
            <a:pPr indent="0" marL="0">
              <a:buNone/>
            </a:pPr>
            <a:r>
              <a:rPr lang="en-US" sz="1100" dirty="0">
                <a:solidFill>
                  <a:schemeClr val="accent5"/>
                </a:solidFill>
              </a:rPr>
              <a:t>VARCHAR(60)</a:t>
            </a:r>
            <a:endParaRPr lang="en-US" sz="1100" dirty="0"/>
          </a:p>
        </p:txBody>
      </p:sp>
      <p:sp>
        <p:nvSpPr>
          <p:cNvPr id="31" name="key tag"/>
          <p:cNvSpPr txBox="1"/>
          <p:nvPr/>
        </p:nvSpPr>
        <p:spPr>
          <a:xfrm>
            <a:off x="3337560" y="2898648"/>
            <a:ext cx="685800" cy="228600"/>
          </a:xfrm>
          <a:prstGeom prst="rect">
            <a:avLst/>
          </a:prstGeom>
          <a:noFill/>
          <a:ln/>
        </p:spPr>
        <p:txBody>
          <a:bodyPr wrap="square" lIns="0" tIns="0" rIns="0" bIns="0" rtlCol="0" anchor="ctr"/>
          <a:lstStyle/>
          <a:p>
            <a:pPr algn="r" indent="0" marL="0">
              <a:buNone/>
            </a:pPr>
            <a:endParaRPr lang="en-US" sz="1100" dirty="0"/>
          </a:p>
        </p:txBody>
      </p:sp>
      <p:sp>
        <p:nvSpPr>
          <p:cNvPr id="32" name="DONATION box"/>
          <p:cNvSpPr/>
          <p:nvPr/>
        </p:nvSpPr>
        <p:spPr>
          <a:xfrm>
            <a:off x="4311396" y="1143000"/>
            <a:ext cx="3566160" cy="2240280"/>
          </a:xfrm>
          <a:prstGeom prst="rect">
            <a:avLst/>
          </a:prstGeom>
          <a:solidFill>
            <a:schemeClr val="bg1"/>
          </a:solidFill>
          <a:ln w="15875">
            <a:solidFill>
              <a:schemeClr val="accent1"/>
            </a:solidFill>
            <a:prstDash val="solid"/>
          </a:ln>
        </p:spPr>
      </p:sp>
      <p:sp>
        <p:nvSpPr>
          <p:cNvPr id="33" name="DONATION header"/>
          <p:cNvSpPr/>
          <p:nvPr/>
        </p:nvSpPr>
        <p:spPr>
          <a:xfrm>
            <a:off x="4311396" y="1143000"/>
            <a:ext cx="3566160" cy="347472"/>
          </a:xfrm>
          <a:prstGeom prst="rect">
            <a:avLst/>
          </a:prstGeom>
          <a:solidFill>
            <a:schemeClr val="accent1"/>
          </a:solidFill>
          <a:ln w="12700">
            <a:solidFill>
              <a:schemeClr val="accent1"/>
            </a:solidFill>
            <a:prstDash val="solid"/>
          </a:ln>
        </p:spPr>
      </p:sp>
      <p:sp>
        <p:nvSpPr>
          <p:cNvPr id="34" name="DONATION title"/>
          <p:cNvSpPr txBox="1"/>
          <p:nvPr/>
        </p:nvSpPr>
        <p:spPr>
          <a:xfrm>
            <a:off x="4311396" y="1143000"/>
            <a:ext cx="3566160" cy="347472"/>
          </a:xfrm>
          <a:prstGeom prst="rect">
            <a:avLst/>
          </a:prstGeom>
          <a:noFill/>
          <a:ln/>
        </p:spPr>
        <p:txBody>
          <a:bodyPr wrap="square" lIns="0" tIns="0" rIns="0" bIns="0" rtlCol="0" anchor="ctr"/>
          <a:lstStyle/>
          <a:p>
            <a:pPr algn="ctr" indent="0" marL="0">
              <a:buNone/>
            </a:pPr>
            <a:r>
              <a:rPr lang="en-US" sz="1300" b="1" dirty="0">
                <a:solidFill>
                  <a:schemeClr val="bg1"/>
                </a:solidFill>
              </a:rPr>
              <a:t>DONATION</a:t>
            </a:r>
            <a:endParaRPr lang="en-US" sz="1300" dirty="0"/>
          </a:p>
        </p:txBody>
      </p:sp>
      <p:sp>
        <p:nvSpPr>
          <p:cNvPr id="35" name="attr"/>
          <p:cNvSpPr txBox="1"/>
          <p:nvPr/>
        </p:nvSpPr>
        <p:spPr>
          <a:xfrm>
            <a:off x="4421124" y="1527048"/>
            <a:ext cx="1497787" cy="228600"/>
          </a:xfrm>
          <a:prstGeom prst="rect">
            <a:avLst/>
          </a:prstGeom>
          <a:noFill/>
          <a:ln/>
        </p:spPr>
        <p:txBody>
          <a:bodyPr wrap="square" lIns="0" tIns="0" rIns="0" bIns="0" rtlCol="0" anchor="ctr"/>
          <a:lstStyle/>
          <a:p>
            <a:pPr indent="0" marL="0">
              <a:buNone/>
            </a:pPr>
            <a:r>
              <a:rPr lang="en-US" sz="1100" b="1" dirty="0">
                <a:solidFill>
                  <a:schemeClr val="tx1"/>
                </a:solidFill>
              </a:rPr>
              <a:t>donation_id</a:t>
            </a:r>
            <a:endParaRPr lang="en-US" sz="1100" dirty="0"/>
          </a:p>
        </p:txBody>
      </p:sp>
      <p:sp>
        <p:nvSpPr>
          <p:cNvPr id="36" name="type"/>
          <p:cNvSpPr txBox="1"/>
          <p:nvPr/>
        </p:nvSpPr>
        <p:spPr>
          <a:xfrm>
            <a:off x="5918911" y="1527048"/>
            <a:ext cx="1212494" cy="228600"/>
          </a:xfrm>
          <a:prstGeom prst="rect">
            <a:avLst/>
          </a:prstGeom>
          <a:noFill/>
          <a:ln/>
        </p:spPr>
        <p:txBody>
          <a:bodyPr wrap="square" lIns="0" tIns="0" rIns="0" bIns="0" rtlCol="0" anchor="ctr"/>
          <a:lstStyle/>
          <a:p>
            <a:pPr indent="0" marL="0">
              <a:buNone/>
            </a:pPr>
            <a:r>
              <a:rPr lang="en-US" sz="1100" dirty="0">
                <a:solidFill>
                  <a:schemeClr val="accent5"/>
                </a:solidFill>
              </a:rPr>
              <a:t>INT</a:t>
            </a:r>
            <a:endParaRPr lang="en-US" sz="1100" dirty="0"/>
          </a:p>
        </p:txBody>
      </p:sp>
      <p:sp>
        <p:nvSpPr>
          <p:cNvPr id="37" name="key tag"/>
          <p:cNvSpPr txBox="1"/>
          <p:nvPr/>
        </p:nvSpPr>
        <p:spPr>
          <a:xfrm>
            <a:off x="7100316" y="1527048"/>
            <a:ext cx="685800" cy="228600"/>
          </a:xfrm>
          <a:prstGeom prst="rect">
            <a:avLst/>
          </a:prstGeom>
          <a:noFill/>
          <a:ln/>
        </p:spPr>
        <p:txBody>
          <a:bodyPr wrap="square" lIns="0" tIns="0" rIns="0" bIns="0" rtlCol="0" anchor="ctr"/>
          <a:lstStyle/>
          <a:p>
            <a:pPr algn="r" indent="0" marL="0">
              <a:buNone/>
            </a:pPr>
            <a:r>
              <a:rPr lang="en-US" sz="1100" b="1" dirty="0">
                <a:solidFill>
                  <a:schemeClr val="accent1"/>
                </a:solidFill>
              </a:rPr>
              <a:t>PK</a:t>
            </a:r>
            <a:endParaRPr lang="en-US" sz="1100" dirty="0"/>
          </a:p>
        </p:txBody>
      </p:sp>
      <p:sp>
        <p:nvSpPr>
          <p:cNvPr id="38" name="row shade"/>
          <p:cNvSpPr/>
          <p:nvPr/>
        </p:nvSpPr>
        <p:spPr>
          <a:xfrm>
            <a:off x="4347972" y="1755648"/>
            <a:ext cx="3493008" cy="228600"/>
          </a:xfrm>
          <a:prstGeom prst="rect">
            <a:avLst/>
          </a:prstGeom>
          <a:solidFill>
            <a:schemeClr val="bg2"/>
          </a:solidFill>
          <a:ln w="12700">
            <a:solidFill>
              <a:schemeClr val="bg2"/>
            </a:solidFill>
            <a:prstDash val="solid"/>
          </a:ln>
        </p:spPr>
      </p:sp>
      <p:sp>
        <p:nvSpPr>
          <p:cNvPr id="39" name="attr"/>
          <p:cNvSpPr txBox="1"/>
          <p:nvPr/>
        </p:nvSpPr>
        <p:spPr>
          <a:xfrm>
            <a:off x="4421124" y="1755648"/>
            <a:ext cx="1497787" cy="228600"/>
          </a:xfrm>
          <a:prstGeom prst="rect">
            <a:avLst/>
          </a:prstGeom>
          <a:noFill/>
          <a:ln/>
        </p:spPr>
        <p:txBody>
          <a:bodyPr wrap="square" lIns="0" tIns="0" rIns="0" bIns="0" rtlCol="0" anchor="ctr"/>
          <a:lstStyle/>
          <a:p>
            <a:pPr indent="0" marL="0">
              <a:buNone/>
            </a:pPr>
            <a:r>
              <a:rPr lang="en-US" sz="1100" dirty="0">
                <a:solidFill>
                  <a:schemeClr val="tx1"/>
                </a:solidFill>
              </a:rPr>
              <a:t>donor_id</a:t>
            </a:r>
            <a:endParaRPr lang="en-US" sz="1100" dirty="0"/>
          </a:p>
        </p:txBody>
      </p:sp>
      <p:sp>
        <p:nvSpPr>
          <p:cNvPr id="40" name="type"/>
          <p:cNvSpPr txBox="1"/>
          <p:nvPr/>
        </p:nvSpPr>
        <p:spPr>
          <a:xfrm>
            <a:off x="5918911" y="1755648"/>
            <a:ext cx="1212494" cy="228600"/>
          </a:xfrm>
          <a:prstGeom prst="rect">
            <a:avLst/>
          </a:prstGeom>
          <a:noFill/>
          <a:ln/>
        </p:spPr>
        <p:txBody>
          <a:bodyPr wrap="square" lIns="0" tIns="0" rIns="0" bIns="0" rtlCol="0" anchor="ctr"/>
          <a:lstStyle/>
          <a:p>
            <a:pPr indent="0" marL="0">
              <a:buNone/>
            </a:pPr>
            <a:r>
              <a:rPr lang="en-US" sz="1100" dirty="0">
                <a:solidFill>
                  <a:schemeClr val="accent5"/>
                </a:solidFill>
              </a:rPr>
              <a:t>INT</a:t>
            </a:r>
            <a:endParaRPr lang="en-US" sz="1100" dirty="0"/>
          </a:p>
        </p:txBody>
      </p:sp>
      <p:sp>
        <p:nvSpPr>
          <p:cNvPr id="41" name="key tag"/>
          <p:cNvSpPr txBox="1"/>
          <p:nvPr/>
        </p:nvSpPr>
        <p:spPr>
          <a:xfrm>
            <a:off x="7100316" y="1755648"/>
            <a:ext cx="685800" cy="228600"/>
          </a:xfrm>
          <a:prstGeom prst="rect">
            <a:avLst/>
          </a:prstGeom>
          <a:noFill/>
          <a:ln/>
        </p:spPr>
        <p:txBody>
          <a:bodyPr wrap="square" lIns="0" tIns="0" rIns="0" bIns="0" rtlCol="0" anchor="ctr"/>
          <a:lstStyle/>
          <a:p>
            <a:pPr algn="r" indent="0" marL="0">
              <a:buNone/>
            </a:pPr>
            <a:r>
              <a:rPr lang="en-US" sz="1100" b="1" dirty="0">
                <a:solidFill>
                  <a:schemeClr val="accent2"/>
                </a:solidFill>
              </a:rPr>
              <a:t>FK</a:t>
            </a:r>
            <a:endParaRPr lang="en-US" sz="1100" dirty="0"/>
          </a:p>
        </p:txBody>
      </p:sp>
      <p:sp>
        <p:nvSpPr>
          <p:cNvPr id="42" name="attr"/>
          <p:cNvSpPr txBox="1"/>
          <p:nvPr/>
        </p:nvSpPr>
        <p:spPr>
          <a:xfrm>
            <a:off x="4421124" y="1984248"/>
            <a:ext cx="1497787" cy="228600"/>
          </a:xfrm>
          <a:prstGeom prst="rect">
            <a:avLst/>
          </a:prstGeom>
          <a:noFill/>
          <a:ln/>
        </p:spPr>
        <p:txBody>
          <a:bodyPr wrap="square" lIns="0" tIns="0" rIns="0" bIns="0" rtlCol="0" anchor="ctr"/>
          <a:lstStyle/>
          <a:p>
            <a:pPr indent="0" marL="0">
              <a:buNone/>
            </a:pPr>
            <a:r>
              <a:rPr lang="en-US" sz="1100" dirty="0">
                <a:solidFill>
                  <a:schemeClr val="tx1"/>
                </a:solidFill>
              </a:rPr>
              <a:t>donation_date</a:t>
            </a:r>
            <a:endParaRPr lang="en-US" sz="1100" dirty="0"/>
          </a:p>
        </p:txBody>
      </p:sp>
      <p:sp>
        <p:nvSpPr>
          <p:cNvPr id="43" name="type"/>
          <p:cNvSpPr txBox="1"/>
          <p:nvPr/>
        </p:nvSpPr>
        <p:spPr>
          <a:xfrm>
            <a:off x="5918911" y="1984248"/>
            <a:ext cx="1212494" cy="228600"/>
          </a:xfrm>
          <a:prstGeom prst="rect">
            <a:avLst/>
          </a:prstGeom>
          <a:noFill/>
          <a:ln/>
        </p:spPr>
        <p:txBody>
          <a:bodyPr wrap="square" lIns="0" tIns="0" rIns="0" bIns="0" rtlCol="0" anchor="ctr"/>
          <a:lstStyle/>
          <a:p>
            <a:pPr indent="0" marL="0">
              <a:buNone/>
            </a:pPr>
            <a:r>
              <a:rPr lang="en-US" sz="1100" dirty="0">
                <a:solidFill>
                  <a:schemeClr val="accent5"/>
                </a:solidFill>
              </a:rPr>
              <a:t>DATE</a:t>
            </a:r>
            <a:endParaRPr lang="en-US" sz="1100" dirty="0"/>
          </a:p>
        </p:txBody>
      </p:sp>
      <p:sp>
        <p:nvSpPr>
          <p:cNvPr id="44" name="key tag"/>
          <p:cNvSpPr txBox="1"/>
          <p:nvPr/>
        </p:nvSpPr>
        <p:spPr>
          <a:xfrm>
            <a:off x="7100316" y="1984248"/>
            <a:ext cx="685800" cy="228600"/>
          </a:xfrm>
          <a:prstGeom prst="rect">
            <a:avLst/>
          </a:prstGeom>
          <a:noFill/>
          <a:ln/>
        </p:spPr>
        <p:txBody>
          <a:bodyPr wrap="square" lIns="0" tIns="0" rIns="0" bIns="0" rtlCol="0" anchor="ctr"/>
          <a:lstStyle/>
          <a:p>
            <a:pPr algn="r" indent="0" marL="0">
              <a:buNone/>
            </a:pPr>
            <a:endParaRPr lang="en-US" sz="1100" dirty="0"/>
          </a:p>
        </p:txBody>
      </p:sp>
      <p:sp>
        <p:nvSpPr>
          <p:cNvPr id="45" name="row shade"/>
          <p:cNvSpPr/>
          <p:nvPr/>
        </p:nvSpPr>
        <p:spPr>
          <a:xfrm>
            <a:off x="4347972" y="2212848"/>
            <a:ext cx="3493008" cy="228600"/>
          </a:xfrm>
          <a:prstGeom prst="rect">
            <a:avLst/>
          </a:prstGeom>
          <a:solidFill>
            <a:schemeClr val="bg2"/>
          </a:solidFill>
          <a:ln w="12700">
            <a:solidFill>
              <a:schemeClr val="bg2"/>
            </a:solidFill>
            <a:prstDash val="solid"/>
          </a:ln>
        </p:spPr>
      </p:sp>
      <p:sp>
        <p:nvSpPr>
          <p:cNvPr id="46" name="attr"/>
          <p:cNvSpPr txBox="1"/>
          <p:nvPr/>
        </p:nvSpPr>
        <p:spPr>
          <a:xfrm>
            <a:off x="4421124" y="2212848"/>
            <a:ext cx="1497787" cy="228600"/>
          </a:xfrm>
          <a:prstGeom prst="rect">
            <a:avLst/>
          </a:prstGeom>
          <a:noFill/>
          <a:ln/>
        </p:spPr>
        <p:txBody>
          <a:bodyPr wrap="square" lIns="0" tIns="0" rIns="0" bIns="0" rtlCol="0" anchor="ctr"/>
          <a:lstStyle/>
          <a:p>
            <a:pPr indent="0" marL="0">
              <a:buNone/>
            </a:pPr>
            <a:r>
              <a:rPr lang="en-US" sz="1100" dirty="0">
                <a:solidFill>
                  <a:schemeClr val="tx1"/>
                </a:solidFill>
              </a:rPr>
              <a:t>volume_ml</a:t>
            </a:r>
            <a:endParaRPr lang="en-US" sz="1100" dirty="0"/>
          </a:p>
        </p:txBody>
      </p:sp>
      <p:sp>
        <p:nvSpPr>
          <p:cNvPr id="47" name="type"/>
          <p:cNvSpPr txBox="1"/>
          <p:nvPr/>
        </p:nvSpPr>
        <p:spPr>
          <a:xfrm>
            <a:off x="5918911" y="2212848"/>
            <a:ext cx="1212494" cy="228600"/>
          </a:xfrm>
          <a:prstGeom prst="rect">
            <a:avLst/>
          </a:prstGeom>
          <a:noFill/>
          <a:ln/>
        </p:spPr>
        <p:txBody>
          <a:bodyPr wrap="square" lIns="0" tIns="0" rIns="0" bIns="0" rtlCol="0" anchor="ctr"/>
          <a:lstStyle/>
          <a:p>
            <a:pPr indent="0" marL="0">
              <a:buNone/>
            </a:pPr>
            <a:r>
              <a:rPr lang="en-US" sz="1100" dirty="0">
                <a:solidFill>
                  <a:schemeClr val="accent5"/>
                </a:solidFill>
              </a:rPr>
              <a:t>INT</a:t>
            </a:r>
            <a:endParaRPr lang="en-US" sz="1100" dirty="0"/>
          </a:p>
        </p:txBody>
      </p:sp>
      <p:sp>
        <p:nvSpPr>
          <p:cNvPr id="48" name="key tag"/>
          <p:cNvSpPr txBox="1"/>
          <p:nvPr/>
        </p:nvSpPr>
        <p:spPr>
          <a:xfrm>
            <a:off x="7100316" y="2212848"/>
            <a:ext cx="685800" cy="228600"/>
          </a:xfrm>
          <a:prstGeom prst="rect">
            <a:avLst/>
          </a:prstGeom>
          <a:noFill/>
          <a:ln/>
        </p:spPr>
        <p:txBody>
          <a:bodyPr wrap="square" lIns="0" tIns="0" rIns="0" bIns="0" rtlCol="0" anchor="ctr"/>
          <a:lstStyle/>
          <a:p>
            <a:pPr algn="r" indent="0" marL="0">
              <a:buNone/>
            </a:pPr>
            <a:endParaRPr lang="en-US" sz="1100" dirty="0"/>
          </a:p>
        </p:txBody>
      </p:sp>
      <p:sp>
        <p:nvSpPr>
          <p:cNvPr id="49" name="attr"/>
          <p:cNvSpPr txBox="1"/>
          <p:nvPr/>
        </p:nvSpPr>
        <p:spPr>
          <a:xfrm>
            <a:off x="4421124" y="2441448"/>
            <a:ext cx="1497787" cy="228600"/>
          </a:xfrm>
          <a:prstGeom prst="rect">
            <a:avLst/>
          </a:prstGeom>
          <a:noFill/>
          <a:ln/>
        </p:spPr>
        <p:txBody>
          <a:bodyPr wrap="square" lIns="0" tIns="0" rIns="0" bIns="0" rtlCol="0" anchor="ctr"/>
          <a:lstStyle/>
          <a:p>
            <a:pPr indent="0" marL="0">
              <a:buNone/>
            </a:pPr>
            <a:r>
              <a:rPr lang="en-US" sz="1100" dirty="0">
                <a:solidFill>
                  <a:schemeClr val="tx1"/>
                </a:solidFill>
              </a:rPr>
              <a:t>hemoglobin_gdl</a:t>
            </a:r>
            <a:endParaRPr lang="en-US" sz="1100" dirty="0"/>
          </a:p>
        </p:txBody>
      </p:sp>
      <p:sp>
        <p:nvSpPr>
          <p:cNvPr id="50" name="type"/>
          <p:cNvSpPr txBox="1"/>
          <p:nvPr/>
        </p:nvSpPr>
        <p:spPr>
          <a:xfrm>
            <a:off x="5918911" y="2441448"/>
            <a:ext cx="1212494" cy="228600"/>
          </a:xfrm>
          <a:prstGeom prst="rect">
            <a:avLst/>
          </a:prstGeom>
          <a:noFill/>
          <a:ln/>
        </p:spPr>
        <p:txBody>
          <a:bodyPr wrap="square" lIns="0" tIns="0" rIns="0" bIns="0" rtlCol="0" anchor="ctr"/>
          <a:lstStyle/>
          <a:p>
            <a:pPr indent="0" marL="0">
              <a:buNone/>
            </a:pPr>
            <a:r>
              <a:rPr lang="en-US" sz="1100" dirty="0">
                <a:solidFill>
                  <a:schemeClr val="accent5"/>
                </a:solidFill>
              </a:rPr>
              <a:t>DECIMAL(4,1)</a:t>
            </a:r>
            <a:endParaRPr lang="en-US" sz="1100" dirty="0"/>
          </a:p>
        </p:txBody>
      </p:sp>
      <p:sp>
        <p:nvSpPr>
          <p:cNvPr id="51" name="key tag"/>
          <p:cNvSpPr txBox="1"/>
          <p:nvPr/>
        </p:nvSpPr>
        <p:spPr>
          <a:xfrm>
            <a:off x="7100316" y="2441448"/>
            <a:ext cx="685800" cy="228600"/>
          </a:xfrm>
          <a:prstGeom prst="rect">
            <a:avLst/>
          </a:prstGeom>
          <a:noFill/>
          <a:ln/>
        </p:spPr>
        <p:txBody>
          <a:bodyPr wrap="square" lIns="0" tIns="0" rIns="0" bIns="0" rtlCol="0" anchor="ctr"/>
          <a:lstStyle/>
          <a:p>
            <a:pPr algn="r" indent="0" marL="0">
              <a:buNone/>
            </a:pPr>
            <a:endParaRPr lang="en-US" sz="1100" dirty="0"/>
          </a:p>
        </p:txBody>
      </p:sp>
      <p:sp>
        <p:nvSpPr>
          <p:cNvPr id="52" name="row shade"/>
          <p:cNvSpPr/>
          <p:nvPr/>
        </p:nvSpPr>
        <p:spPr>
          <a:xfrm>
            <a:off x="4347972" y="2670048"/>
            <a:ext cx="3493008" cy="228600"/>
          </a:xfrm>
          <a:prstGeom prst="rect">
            <a:avLst/>
          </a:prstGeom>
          <a:solidFill>
            <a:schemeClr val="bg2"/>
          </a:solidFill>
          <a:ln w="12700">
            <a:solidFill>
              <a:schemeClr val="bg2"/>
            </a:solidFill>
            <a:prstDash val="solid"/>
          </a:ln>
        </p:spPr>
      </p:sp>
      <p:sp>
        <p:nvSpPr>
          <p:cNvPr id="53" name="attr"/>
          <p:cNvSpPr txBox="1"/>
          <p:nvPr/>
        </p:nvSpPr>
        <p:spPr>
          <a:xfrm>
            <a:off x="4421124" y="2670048"/>
            <a:ext cx="1497787" cy="228600"/>
          </a:xfrm>
          <a:prstGeom prst="rect">
            <a:avLst/>
          </a:prstGeom>
          <a:noFill/>
          <a:ln/>
        </p:spPr>
        <p:txBody>
          <a:bodyPr wrap="square" lIns="0" tIns="0" rIns="0" bIns="0" rtlCol="0" anchor="ctr"/>
          <a:lstStyle/>
          <a:p>
            <a:pPr indent="0" marL="0">
              <a:buNone/>
            </a:pPr>
            <a:r>
              <a:rPr lang="en-US" sz="1100" dirty="0">
                <a:solidFill>
                  <a:schemeClr val="tx1"/>
                </a:solidFill>
              </a:rPr>
              <a:t>screening_status</a:t>
            </a:r>
            <a:endParaRPr lang="en-US" sz="1100" dirty="0"/>
          </a:p>
        </p:txBody>
      </p:sp>
      <p:sp>
        <p:nvSpPr>
          <p:cNvPr id="54" name="type"/>
          <p:cNvSpPr txBox="1"/>
          <p:nvPr/>
        </p:nvSpPr>
        <p:spPr>
          <a:xfrm>
            <a:off x="5918911" y="2670048"/>
            <a:ext cx="1212494" cy="228600"/>
          </a:xfrm>
          <a:prstGeom prst="rect">
            <a:avLst/>
          </a:prstGeom>
          <a:noFill/>
          <a:ln/>
        </p:spPr>
        <p:txBody>
          <a:bodyPr wrap="square" lIns="0" tIns="0" rIns="0" bIns="0" rtlCol="0" anchor="ctr"/>
          <a:lstStyle/>
          <a:p>
            <a:pPr indent="0" marL="0">
              <a:buNone/>
            </a:pPr>
            <a:r>
              <a:rPr lang="en-US" sz="1100" dirty="0">
                <a:solidFill>
                  <a:schemeClr val="accent5"/>
                </a:solidFill>
              </a:rPr>
              <a:t>VARCHAR(10)</a:t>
            </a:r>
            <a:endParaRPr lang="en-US" sz="1100" dirty="0"/>
          </a:p>
        </p:txBody>
      </p:sp>
      <p:sp>
        <p:nvSpPr>
          <p:cNvPr id="55" name="key tag"/>
          <p:cNvSpPr txBox="1"/>
          <p:nvPr/>
        </p:nvSpPr>
        <p:spPr>
          <a:xfrm>
            <a:off x="7100316" y="2670048"/>
            <a:ext cx="685800" cy="228600"/>
          </a:xfrm>
          <a:prstGeom prst="rect">
            <a:avLst/>
          </a:prstGeom>
          <a:noFill/>
          <a:ln/>
        </p:spPr>
        <p:txBody>
          <a:bodyPr wrap="square" lIns="0" tIns="0" rIns="0" bIns="0" rtlCol="0" anchor="ctr"/>
          <a:lstStyle/>
          <a:p>
            <a:pPr algn="r" indent="0" marL="0">
              <a:buNone/>
            </a:pPr>
            <a:endParaRPr lang="en-US" sz="1100" dirty="0"/>
          </a:p>
        </p:txBody>
      </p:sp>
      <p:sp>
        <p:nvSpPr>
          <p:cNvPr id="56" name="BLOOD_UNIT box"/>
          <p:cNvSpPr/>
          <p:nvPr/>
        </p:nvSpPr>
        <p:spPr>
          <a:xfrm>
            <a:off x="8074152" y="1143000"/>
            <a:ext cx="3566160" cy="2240280"/>
          </a:xfrm>
          <a:prstGeom prst="rect">
            <a:avLst/>
          </a:prstGeom>
          <a:solidFill>
            <a:schemeClr val="bg1"/>
          </a:solidFill>
          <a:ln w="15875">
            <a:solidFill>
              <a:schemeClr val="accent1"/>
            </a:solidFill>
            <a:prstDash val="solid"/>
          </a:ln>
        </p:spPr>
      </p:sp>
      <p:sp>
        <p:nvSpPr>
          <p:cNvPr id="57" name="BLOOD_UNIT header"/>
          <p:cNvSpPr/>
          <p:nvPr/>
        </p:nvSpPr>
        <p:spPr>
          <a:xfrm>
            <a:off x="8074152" y="1143000"/>
            <a:ext cx="3566160" cy="347472"/>
          </a:xfrm>
          <a:prstGeom prst="rect">
            <a:avLst/>
          </a:prstGeom>
          <a:solidFill>
            <a:schemeClr val="accent1"/>
          </a:solidFill>
          <a:ln w="12700">
            <a:solidFill>
              <a:schemeClr val="accent1"/>
            </a:solidFill>
            <a:prstDash val="solid"/>
          </a:ln>
        </p:spPr>
      </p:sp>
      <p:sp>
        <p:nvSpPr>
          <p:cNvPr id="58" name="BLOOD_UNIT title"/>
          <p:cNvSpPr txBox="1"/>
          <p:nvPr/>
        </p:nvSpPr>
        <p:spPr>
          <a:xfrm>
            <a:off x="8074152" y="1143000"/>
            <a:ext cx="3566160" cy="347472"/>
          </a:xfrm>
          <a:prstGeom prst="rect">
            <a:avLst/>
          </a:prstGeom>
          <a:noFill/>
          <a:ln/>
        </p:spPr>
        <p:txBody>
          <a:bodyPr wrap="square" lIns="0" tIns="0" rIns="0" bIns="0" rtlCol="0" anchor="ctr"/>
          <a:lstStyle/>
          <a:p>
            <a:pPr algn="ctr" indent="0" marL="0">
              <a:buNone/>
            </a:pPr>
            <a:r>
              <a:rPr lang="en-US" sz="1300" b="1" dirty="0">
                <a:solidFill>
                  <a:schemeClr val="bg1"/>
                </a:solidFill>
              </a:rPr>
              <a:t>BLOOD_UNIT</a:t>
            </a:r>
            <a:endParaRPr lang="en-US" sz="1300" dirty="0"/>
          </a:p>
        </p:txBody>
      </p:sp>
      <p:sp>
        <p:nvSpPr>
          <p:cNvPr id="59" name="attr"/>
          <p:cNvSpPr txBox="1"/>
          <p:nvPr/>
        </p:nvSpPr>
        <p:spPr>
          <a:xfrm>
            <a:off x="8183880" y="1527048"/>
            <a:ext cx="1497787" cy="228600"/>
          </a:xfrm>
          <a:prstGeom prst="rect">
            <a:avLst/>
          </a:prstGeom>
          <a:noFill/>
          <a:ln/>
        </p:spPr>
        <p:txBody>
          <a:bodyPr wrap="square" lIns="0" tIns="0" rIns="0" bIns="0" rtlCol="0" anchor="ctr"/>
          <a:lstStyle/>
          <a:p>
            <a:pPr indent="0" marL="0">
              <a:buNone/>
            </a:pPr>
            <a:r>
              <a:rPr lang="en-US" sz="1100" b="1" dirty="0">
                <a:solidFill>
                  <a:schemeClr val="tx1"/>
                </a:solidFill>
              </a:rPr>
              <a:t>unit_id</a:t>
            </a:r>
            <a:endParaRPr lang="en-US" sz="1100" dirty="0"/>
          </a:p>
        </p:txBody>
      </p:sp>
      <p:sp>
        <p:nvSpPr>
          <p:cNvPr id="60" name="type"/>
          <p:cNvSpPr txBox="1"/>
          <p:nvPr/>
        </p:nvSpPr>
        <p:spPr>
          <a:xfrm>
            <a:off x="9681667" y="1527048"/>
            <a:ext cx="1212494" cy="228600"/>
          </a:xfrm>
          <a:prstGeom prst="rect">
            <a:avLst/>
          </a:prstGeom>
          <a:noFill/>
          <a:ln/>
        </p:spPr>
        <p:txBody>
          <a:bodyPr wrap="square" lIns="0" tIns="0" rIns="0" bIns="0" rtlCol="0" anchor="ctr"/>
          <a:lstStyle/>
          <a:p>
            <a:pPr indent="0" marL="0">
              <a:buNone/>
            </a:pPr>
            <a:r>
              <a:rPr lang="en-US" sz="1100" dirty="0">
                <a:solidFill>
                  <a:schemeClr val="accent5"/>
                </a:solidFill>
              </a:rPr>
              <a:t>INT</a:t>
            </a:r>
            <a:endParaRPr lang="en-US" sz="1100" dirty="0"/>
          </a:p>
        </p:txBody>
      </p:sp>
      <p:sp>
        <p:nvSpPr>
          <p:cNvPr id="61" name="key tag"/>
          <p:cNvSpPr txBox="1"/>
          <p:nvPr/>
        </p:nvSpPr>
        <p:spPr>
          <a:xfrm>
            <a:off x="10863072" y="1527048"/>
            <a:ext cx="685800" cy="228600"/>
          </a:xfrm>
          <a:prstGeom prst="rect">
            <a:avLst/>
          </a:prstGeom>
          <a:noFill/>
          <a:ln/>
        </p:spPr>
        <p:txBody>
          <a:bodyPr wrap="square" lIns="0" tIns="0" rIns="0" bIns="0" rtlCol="0" anchor="ctr"/>
          <a:lstStyle/>
          <a:p>
            <a:pPr algn="r" indent="0" marL="0">
              <a:buNone/>
            </a:pPr>
            <a:r>
              <a:rPr lang="en-US" sz="1100" b="1" dirty="0">
                <a:solidFill>
                  <a:schemeClr val="accent1"/>
                </a:solidFill>
              </a:rPr>
              <a:t>PK</a:t>
            </a:r>
            <a:endParaRPr lang="en-US" sz="1100" dirty="0"/>
          </a:p>
        </p:txBody>
      </p:sp>
      <p:sp>
        <p:nvSpPr>
          <p:cNvPr id="62" name="row shade"/>
          <p:cNvSpPr/>
          <p:nvPr/>
        </p:nvSpPr>
        <p:spPr>
          <a:xfrm>
            <a:off x="8110728" y="1755648"/>
            <a:ext cx="3493008" cy="228600"/>
          </a:xfrm>
          <a:prstGeom prst="rect">
            <a:avLst/>
          </a:prstGeom>
          <a:solidFill>
            <a:schemeClr val="bg2"/>
          </a:solidFill>
          <a:ln w="12700">
            <a:solidFill>
              <a:schemeClr val="bg2"/>
            </a:solidFill>
            <a:prstDash val="solid"/>
          </a:ln>
        </p:spPr>
      </p:sp>
      <p:sp>
        <p:nvSpPr>
          <p:cNvPr id="63" name="attr"/>
          <p:cNvSpPr txBox="1"/>
          <p:nvPr/>
        </p:nvSpPr>
        <p:spPr>
          <a:xfrm>
            <a:off x="8183880" y="1755648"/>
            <a:ext cx="1497787" cy="228600"/>
          </a:xfrm>
          <a:prstGeom prst="rect">
            <a:avLst/>
          </a:prstGeom>
          <a:noFill/>
          <a:ln/>
        </p:spPr>
        <p:txBody>
          <a:bodyPr wrap="square" lIns="0" tIns="0" rIns="0" bIns="0" rtlCol="0" anchor="ctr"/>
          <a:lstStyle/>
          <a:p>
            <a:pPr indent="0" marL="0">
              <a:buNone/>
            </a:pPr>
            <a:r>
              <a:rPr lang="en-US" sz="1100" dirty="0">
                <a:solidFill>
                  <a:schemeClr val="tx1"/>
                </a:solidFill>
              </a:rPr>
              <a:t>donation_id</a:t>
            </a:r>
            <a:endParaRPr lang="en-US" sz="1100" dirty="0"/>
          </a:p>
        </p:txBody>
      </p:sp>
      <p:sp>
        <p:nvSpPr>
          <p:cNvPr id="64" name="type"/>
          <p:cNvSpPr txBox="1"/>
          <p:nvPr/>
        </p:nvSpPr>
        <p:spPr>
          <a:xfrm>
            <a:off x="9681667" y="1755648"/>
            <a:ext cx="1212494" cy="228600"/>
          </a:xfrm>
          <a:prstGeom prst="rect">
            <a:avLst/>
          </a:prstGeom>
          <a:noFill/>
          <a:ln/>
        </p:spPr>
        <p:txBody>
          <a:bodyPr wrap="square" lIns="0" tIns="0" rIns="0" bIns="0" rtlCol="0" anchor="ctr"/>
          <a:lstStyle/>
          <a:p>
            <a:pPr indent="0" marL="0">
              <a:buNone/>
            </a:pPr>
            <a:r>
              <a:rPr lang="en-US" sz="1100" dirty="0">
                <a:solidFill>
                  <a:schemeClr val="accent5"/>
                </a:solidFill>
              </a:rPr>
              <a:t>INT</a:t>
            </a:r>
            <a:endParaRPr lang="en-US" sz="1100" dirty="0"/>
          </a:p>
        </p:txBody>
      </p:sp>
      <p:sp>
        <p:nvSpPr>
          <p:cNvPr id="65" name="key tag"/>
          <p:cNvSpPr txBox="1"/>
          <p:nvPr/>
        </p:nvSpPr>
        <p:spPr>
          <a:xfrm>
            <a:off x="10863072" y="1755648"/>
            <a:ext cx="685800" cy="228600"/>
          </a:xfrm>
          <a:prstGeom prst="rect">
            <a:avLst/>
          </a:prstGeom>
          <a:noFill/>
          <a:ln/>
        </p:spPr>
        <p:txBody>
          <a:bodyPr wrap="square" lIns="0" tIns="0" rIns="0" bIns="0" rtlCol="0" anchor="ctr"/>
          <a:lstStyle/>
          <a:p>
            <a:pPr algn="r" indent="0" marL="0">
              <a:buNone/>
            </a:pPr>
            <a:r>
              <a:rPr lang="en-US" sz="1100" b="1" dirty="0">
                <a:solidFill>
                  <a:schemeClr val="accent2"/>
                </a:solidFill>
              </a:rPr>
              <a:t>FK</a:t>
            </a:r>
            <a:endParaRPr lang="en-US" sz="1100" dirty="0"/>
          </a:p>
        </p:txBody>
      </p:sp>
      <p:sp>
        <p:nvSpPr>
          <p:cNvPr id="66" name="attr"/>
          <p:cNvSpPr txBox="1"/>
          <p:nvPr/>
        </p:nvSpPr>
        <p:spPr>
          <a:xfrm>
            <a:off x="8183880" y="1984248"/>
            <a:ext cx="1497787" cy="228600"/>
          </a:xfrm>
          <a:prstGeom prst="rect">
            <a:avLst/>
          </a:prstGeom>
          <a:noFill/>
          <a:ln/>
        </p:spPr>
        <p:txBody>
          <a:bodyPr wrap="square" lIns="0" tIns="0" rIns="0" bIns="0" rtlCol="0" anchor="ctr"/>
          <a:lstStyle/>
          <a:p>
            <a:pPr indent="0" marL="0">
              <a:buNone/>
            </a:pPr>
            <a:r>
              <a:rPr lang="en-US" sz="1100" dirty="0">
                <a:solidFill>
                  <a:schemeClr val="tx1"/>
                </a:solidFill>
              </a:rPr>
              <a:t>component</a:t>
            </a:r>
            <a:endParaRPr lang="en-US" sz="1100" dirty="0"/>
          </a:p>
        </p:txBody>
      </p:sp>
      <p:sp>
        <p:nvSpPr>
          <p:cNvPr id="67" name="type"/>
          <p:cNvSpPr txBox="1"/>
          <p:nvPr/>
        </p:nvSpPr>
        <p:spPr>
          <a:xfrm>
            <a:off x="9681667" y="1984248"/>
            <a:ext cx="1212494" cy="228600"/>
          </a:xfrm>
          <a:prstGeom prst="rect">
            <a:avLst/>
          </a:prstGeom>
          <a:noFill/>
          <a:ln/>
        </p:spPr>
        <p:txBody>
          <a:bodyPr wrap="square" lIns="0" tIns="0" rIns="0" bIns="0" rtlCol="0" anchor="ctr"/>
          <a:lstStyle/>
          <a:p>
            <a:pPr indent="0" marL="0">
              <a:buNone/>
            </a:pPr>
            <a:r>
              <a:rPr lang="en-US" sz="1100" dirty="0">
                <a:solidFill>
                  <a:schemeClr val="accent5"/>
                </a:solidFill>
              </a:rPr>
              <a:t>VARCHAR(20)</a:t>
            </a:r>
            <a:endParaRPr lang="en-US" sz="1100" dirty="0"/>
          </a:p>
        </p:txBody>
      </p:sp>
      <p:sp>
        <p:nvSpPr>
          <p:cNvPr id="68" name="key tag"/>
          <p:cNvSpPr txBox="1"/>
          <p:nvPr/>
        </p:nvSpPr>
        <p:spPr>
          <a:xfrm>
            <a:off x="10863072" y="1984248"/>
            <a:ext cx="685800" cy="228600"/>
          </a:xfrm>
          <a:prstGeom prst="rect">
            <a:avLst/>
          </a:prstGeom>
          <a:noFill/>
          <a:ln/>
        </p:spPr>
        <p:txBody>
          <a:bodyPr wrap="square" lIns="0" tIns="0" rIns="0" bIns="0" rtlCol="0" anchor="ctr"/>
          <a:lstStyle/>
          <a:p>
            <a:pPr algn="r" indent="0" marL="0">
              <a:buNone/>
            </a:pPr>
            <a:endParaRPr lang="en-US" sz="1100" dirty="0"/>
          </a:p>
        </p:txBody>
      </p:sp>
      <p:sp>
        <p:nvSpPr>
          <p:cNvPr id="69" name="row shade"/>
          <p:cNvSpPr/>
          <p:nvPr/>
        </p:nvSpPr>
        <p:spPr>
          <a:xfrm>
            <a:off x="8110728" y="2212848"/>
            <a:ext cx="3493008" cy="228600"/>
          </a:xfrm>
          <a:prstGeom prst="rect">
            <a:avLst/>
          </a:prstGeom>
          <a:solidFill>
            <a:schemeClr val="bg2"/>
          </a:solidFill>
          <a:ln w="12700">
            <a:solidFill>
              <a:schemeClr val="bg2"/>
            </a:solidFill>
            <a:prstDash val="solid"/>
          </a:ln>
        </p:spPr>
      </p:sp>
      <p:sp>
        <p:nvSpPr>
          <p:cNvPr id="70" name="attr"/>
          <p:cNvSpPr txBox="1"/>
          <p:nvPr/>
        </p:nvSpPr>
        <p:spPr>
          <a:xfrm>
            <a:off x="8183880" y="2212848"/>
            <a:ext cx="1497787" cy="228600"/>
          </a:xfrm>
          <a:prstGeom prst="rect">
            <a:avLst/>
          </a:prstGeom>
          <a:noFill/>
          <a:ln/>
        </p:spPr>
        <p:txBody>
          <a:bodyPr wrap="square" lIns="0" tIns="0" rIns="0" bIns="0" rtlCol="0" anchor="ctr"/>
          <a:lstStyle/>
          <a:p>
            <a:pPr indent="0" marL="0">
              <a:buNone/>
            </a:pPr>
            <a:r>
              <a:rPr lang="en-US" sz="1100" dirty="0">
                <a:solidFill>
                  <a:schemeClr val="tx1"/>
                </a:solidFill>
              </a:rPr>
              <a:t>expiry_date</a:t>
            </a:r>
            <a:endParaRPr lang="en-US" sz="1100" dirty="0"/>
          </a:p>
        </p:txBody>
      </p:sp>
      <p:sp>
        <p:nvSpPr>
          <p:cNvPr id="71" name="type"/>
          <p:cNvSpPr txBox="1"/>
          <p:nvPr/>
        </p:nvSpPr>
        <p:spPr>
          <a:xfrm>
            <a:off x="9681667" y="2212848"/>
            <a:ext cx="1212494" cy="228600"/>
          </a:xfrm>
          <a:prstGeom prst="rect">
            <a:avLst/>
          </a:prstGeom>
          <a:noFill/>
          <a:ln/>
        </p:spPr>
        <p:txBody>
          <a:bodyPr wrap="square" lIns="0" tIns="0" rIns="0" bIns="0" rtlCol="0" anchor="ctr"/>
          <a:lstStyle/>
          <a:p>
            <a:pPr indent="0" marL="0">
              <a:buNone/>
            </a:pPr>
            <a:r>
              <a:rPr lang="en-US" sz="1100" dirty="0">
                <a:solidFill>
                  <a:schemeClr val="accent5"/>
                </a:solidFill>
              </a:rPr>
              <a:t>DATE</a:t>
            </a:r>
            <a:endParaRPr lang="en-US" sz="1100" dirty="0"/>
          </a:p>
        </p:txBody>
      </p:sp>
      <p:sp>
        <p:nvSpPr>
          <p:cNvPr id="72" name="key tag"/>
          <p:cNvSpPr txBox="1"/>
          <p:nvPr/>
        </p:nvSpPr>
        <p:spPr>
          <a:xfrm>
            <a:off x="10863072" y="2212848"/>
            <a:ext cx="685800" cy="228600"/>
          </a:xfrm>
          <a:prstGeom prst="rect">
            <a:avLst/>
          </a:prstGeom>
          <a:noFill/>
          <a:ln/>
        </p:spPr>
        <p:txBody>
          <a:bodyPr wrap="square" lIns="0" tIns="0" rIns="0" bIns="0" rtlCol="0" anchor="ctr"/>
          <a:lstStyle/>
          <a:p>
            <a:pPr algn="r" indent="0" marL="0">
              <a:buNone/>
            </a:pPr>
            <a:endParaRPr lang="en-US" sz="1100" dirty="0"/>
          </a:p>
        </p:txBody>
      </p:sp>
      <p:sp>
        <p:nvSpPr>
          <p:cNvPr id="73" name="attr"/>
          <p:cNvSpPr txBox="1"/>
          <p:nvPr/>
        </p:nvSpPr>
        <p:spPr>
          <a:xfrm>
            <a:off x="8183880" y="2441448"/>
            <a:ext cx="1497787" cy="228600"/>
          </a:xfrm>
          <a:prstGeom prst="rect">
            <a:avLst/>
          </a:prstGeom>
          <a:noFill/>
          <a:ln/>
        </p:spPr>
        <p:txBody>
          <a:bodyPr wrap="square" lIns="0" tIns="0" rIns="0" bIns="0" rtlCol="0" anchor="ctr"/>
          <a:lstStyle/>
          <a:p>
            <a:pPr indent="0" marL="0">
              <a:buNone/>
            </a:pPr>
            <a:r>
              <a:rPr lang="en-US" sz="1100" dirty="0">
                <a:solidFill>
                  <a:schemeClr val="tx1"/>
                </a:solidFill>
              </a:rPr>
              <a:t>status</a:t>
            </a:r>
            <a:endParaRPr lang="en-US" sz="1100" dirty="0"/>
          </a:p>
        </p:txBody>
      </p:sp>
      <p:sp>
        <p:nvSpPr>
          <p:cNvPr id="74" name="type"/>
          <p:cNvSpPr txBox="1"/>
          <p:nvPr/>
        </p:nvSpPr>
        <p:spPr>
          <a:xfrm>
            <a:off x="9681667" y="2441448"/>
            <a:ext cx="1212494" cy="228600"/>
          </a:xfrm>
          <a:prstGeom prst="rect">
            <a:avLst/>
          </a:prstGeom>
          <a:noFill/>
          <a:ln/>
        </p:spPr>
        <p:txBody>
          <a:bodyPr wrap="square" lIns="0" tIns="0" rIns="0" bIns="0" rtlCol="0" anchor="ctr"/>
          <a:lstStyle/>
          <a:p>
            <a:pPr indent="0" marL="0">
              <a:buNone/>
            </a:pPr>
            <a:r>
              <a:rPr lang="en-US" sz="1100" dirty="0">
                <a:solidFill>
                  <a:schemeClr val="accent5"/>
                </a:solidFill>
              </a:rPr>
              <a:t>VARCHAR(12)</a:t>
            </a:r>
            <a:endParaRPr lang="en-US" sz="1100" dirty="0"/>
          </a:p>
        </p:txBody>
      </p:sp>
      <p:sp>
        <p:nvSpPr>
          <p:cNvPr id="75" name="key tag"/>
          <p:cNvSpPr txBox="1"/>
          <p:nvPr/>
        </p:nvSpPr>
        <p:spPr>
          <a:xfrm>
            <a:off x="10863072" y="2441448"/>
            <a:ext cx="685800" cy="228600"/>
          </a:xfrm>
          <a:prstGeom prst="rect">
            <a:avLst/>
          </a:prstGeom>
          <a:noFill/>
          <a:ln/>
        </p:spPr>
        <p:txBody>
          <a:bodyPr wrap="square" lIns="0" tIns="0" rIns="0" bIns="0" rtlCol="0" anchor="ctr"/>
          <a:lstStyle/>
          <a:p>
            <a:pPr algn="r" indent="0" marL="0">
              <a:buNone/>
            </a:pPr>
            <a:endParaRPr lang="en-US" sz="1100" dirty="0"/>
          </a:p>
        </p:txBody>
      </p:sp>
      <p:sp>
        <p:nvSpPr>
          <p:cNvPr id="76" name="HOSPITAL box"/>
          <p:cNvSpPr/>
          <p:nvPr/>
        </p:nvSpPr>
        <p:spPr>
          <a:xfrm>
            <a:off x="548640" y="3703320"/>
            <a:ext cx="3566160" cy="2240280"/>
          </a:xfrm>
          <a:prstGeom prst="rect">
            <a:avLst/>
          </a:prstGeom>
          <a:solidFill>
            <a:schemeClr val="bg1"/>
          </a:solidFill>
          <a:ln w="15875">
            <a:solidFill>
              <a:schemeClr val="accent1"/>
            </a:solidFill>
            <a:prstDash val="solid"/>
          </a:ln>
        </p:spPr>
      </p:sp>
      <p:sp>
        <p:nvSpPr>
          <p:cNvPr id="77" name="HOSPITAL header"/>
          <p:cNvSpPr/>
          <p:nvPr/>
        </p:nvSpPr>
        <p:spPr>
          <a:xfrm>
            <a:off x="548640" y="3703320"/>
            <a:ext cx="3566160" cy="347472"/>
          </a:xfrm>
          <a:prstGeom prst="rect">
            <a:avLst/>
          </a:prstGeom>
          <a:solidFill>
            <a:schemeClr val="accent1"/>
          </a:solidFill>
          <a:ln w="12700">
            <a:solidFill>
              <a:schemeClr val="accent1"/>
            </a:solidFill>
            <a:prstDash val="solid"/>
          </a:ln>
        </p:spPr>
      </p:sp>
      <p:sp>
        <p:nvSpPr>
          <p:cNvPr id="78" name="HOSPITAL title"/>
          <p:cNvSpPr txBox="1"/>
          <p:nvPr/>
        </p:nvSpPr>
        <p:spPr>
          <a:xfrm>
            <a:off x="548640" y="3703320"/>
            <a:ext cx="3566160" cy="347472"/>
          </a:xfrm>
          <a:prstGeom prst="rect">
            <a:avLst/>
          </a:prstGeom>
          <a:noFill/>
          <a:ln/>
        </p:spPr>
        <p:txBody>
          <a:bodyPr wrap="square" lIns="0" tIns="0" rIns="0" bIns="0" rtlCol="0" anchor="ctr"/>
          <a:lstStyle/>
          <a:p>
            <a:pPr algn="ctr" indent="0" marL="0">
              <a:buNone/>
            </a:pPr>
            <a:r>
              <a:rPr lang="en-US" sz="1300" b="1" dirty="0">
                <a:solidFill>
                  <a:schemeClr val="bg1"/>
                </a:solidFill>
              </a:rPr>
              <a:t>HOSPITAL</a:t>
            </a:r>
            <a:endParaRPr lang="en-US" sz="1300" dirty="0"/>
          </a:p>
        </p:txBody>
      </p:sp>
      <p:sp>
        <p:nvSpPr>
          <p:cNvPr id="79" name="attr"/>
          <p:cNvSpPr txBox="1"/>
          <p:nvPr/>
        </p:nvSpPr>
        <p:spPr>
          <a:xfrm>
            <a:off x="658368" y="4087368"/>
            <a:ext cx="1497787" cy="228600"/>
          </a:xfrm>
          <a:prstGeom prst="rect">
            <a:avLst/>
          </a:prstGeom>
          <a:noFill/>
          <a:ln/>
        </p:spPr>
        <p:txBody>
          <a:bodyPr wrap="square" lIns="0" tIns="0" rIns="0" bIns="0" rtlCol="0" anchor="ctr"/>
          <a:lstStyle/>
          <a:p>
            <a:pPr indent="0" marL="0">
              <a:buNone/>
            </a:pPr>
            <a:r>
              <a:rPr lang="en-US" sz="1100" b="1" dirty="0">
                <a:solidFill>
                  <a:schemeClr val="tx1"/>
                </a:solidFill>
              </a:rPr>
              <a:t>hospital_id</a:t>
            </a:r>
            <a:endParaRPr lang="en-US" sz="1100" dirty="0"/>
          </a:p>
        </p:txBody>
      </p:sp>
      <p:sp>
        <p:nvSpPr>
          <p:cNvPr id="80" name="type"/>
          <p:cNvSpPr txBox="1"/>
          <p:nvPr/>
        </p:nvSpPr>
        <p:spPr>
          <a:xfrm>
            <a:off x="2156155" y="4087368"/>
            <a:ext cx="1212494" cy="228600"/>
          </a:xfrm>
          <a:prstGeom prst="rect">
            <a:avLst/>
          </a:prstGeom>
          <a:noFill/>
          <a:ln/>
        </p:spPr>
        <p:txBody>
          <a:bodyPr wrap="square" lIns="0" tIns="0" rIns="0" bIns="0" rtlCol="0" anchor="ctr"/>
          <a:lstStyle/>
          <a:p>
            <a:pPr indent="0" marL="0">
              <a:buNone/>
            </a:pPr>
            <a:r>
              <a:rPr lang="en-US" sz="1100" dirty="0">
                <a:solidFill>
                  <a:schemeClr val="accent5"/>
                </a:solidFill>
              </a:rPr>
              <a:t>INT</a:t>
            </a:r>
            <a:endParaRPr lang="en-US" sz="1100" dirty="0"/>
          </a:p>
        </p:txBody>
      </p:sp>
      <p:sp>
        <p:nvSpPr>
          <p:cNvPr id="81" name="key tag"/>
          <p:cNvSpPr txBox="1"/>
          <p:nvPr/>
        </p:nvSpPr>
        <p:spPr>
          <a:xfrm>
            <a:off x="3337560" y="4087368"/>
            <a:ext cx="685800" cy="228600"/>
          </a:xfrm>
          <a:prstGeom prst="rect">
            <a:avLst/>
          </a:prstGeom>
          <a:noFill/>
          <a:ln/>
        </p:spPr>
        <p:txBody>
          <a:bodyPr wrap="square" lIns="0" tIns="0" rIns="0" bIns="0" rtlCol="0" anchor="ctr"/>
          <a:lstStyle/>
          <a:p>
            <a:pPr algn="r" indent="0" marL="0">
              <a:buNone/>
            </a:pPr>
            <a:r>
              <a:rPr lang="en-US" sz="1100" b="1" dirty="0">
                <a:solidFill>
                  <a:schemeClr val="accent1"/>
                </a:solidFill>
              </a:rPr>
              <a:t>PK</a:t>
            </a:r>
            <a:endParaRPr lang="en-US" sz="1100" dirty="0"/>
          </a:p>
        </p:txBody>
      </p:sp>
      <p:sp>
        <p:nvSpPr>
          <p:cNvPr id="82" name="row shade"/>
          <p:cNvSpPr/>
          <p:nvPr/>
        </p:nvSpPr>
        <p:spPr>
          <a:xfrm>
            <a:off x="585216" y="4315968"/>
            <a:ext cx="3493008" cy="228600"/>
          </a:xfrm>
          <a:prstGeom prst="rect">
            <a:avLst/>
          </a:prstGeom>
          <a:solidFill>
            <a:schemeClr val="bg2"/>
          </a:solidFill>
          <a:ln w="12700">
            <a:solidFill>
              <a:schemeClr val="bg2"/>
            </a:solidFill>
            <a:prstDash val="solid"/>
          </a:ln>
        </p:spPr>
      </p:sp>
      <p:sp>
        <p:nvSpPr>
          <p:cNvPr id="83" name="attr"/>
          <p:cNvSpPr txBox="1"/>
          <p:nvPr/>
        </p:nvSpPr>
        <p:spPr>
          <a:xfrm>
            <a:off x="658368" y="4315968"/>
            <a:ext cx="1497787" cy="228600"/>
          </a:xfrm>
          <a:prstGeom prst="rect">
            <a:avLst/>
          </a:prstGeom>
          <a:noFill/>
          <a:ln/>
        </p:spPr>
        <p:txBody>
          <a:bodyPr wrap="square" lIns="0" tIns="0" rIns="0" bIns="0" rtlCol="0" anchor="ctr"/>
          <a:lstStyle/>
          <a:p>
            <a:pPr indent="0" marL="0">
              <a:buNone/>
            </a:pPr>
            <a:r>
              <a:rPr lang="en-US" sz="1100" dirty="0">
                <a:solidFill>
                  <a:schemeClr val="tx1"/>
                </a:solidFill>
              </a:rPr>
              <a:t>hospital_name</a:t>
            </a:r>
            <a:endParaRPr lang="en-US" sz="1100" dirty="0"/>
          </a:p>
        </p:txBody>
      </p:sp>
      <p:sp>
        <p:nvSpPr>
          <p:cNvPr id="84" name="type"/>
          <p:cNvSpPr txBox="1"/>
          <p:nvPr/>
        </p:nvSpPr>
        <p:spPr>
          <a:xfrm>
            <a:off x="2156155" y="4315968"/>
            <a:ext cx="1212494" cy="228600"/>
          </a:xfrm>
          <a:prstGeom prst="rect">
            <a:avLst/>
          </a:prstGeom>
          <a:noFill/>
          <a:ln/>
        </p:spPr>
        <p:txBody>
          <a:bodyPr wrap="square" lIns="0" tIns="0" rIns="0" bIns="0" rtlCol="0" anchor="ctr"/>
          <a:lstStyle/>
          <a:p>
            <a:pPr indent="0" marL="0">
              <a:buNone/>
            </a:pPr>
            <a:r>
              <a:rPr lang="en-US" sz="1100" dirty="0">
                <a:solidFill>
                  <a:schemeClr val="accent5"/>
                </a:solidFill>
              </a:rPr>
              <a:t>VARCHAR(120)</a:t>
            </a:r>
            <a:endParaRPr lang="en-US" sz="1100" dirty="0"/>
          </a:p>
        </p:txBody>
      </p:sp>
      <p:sp>
        <p:nvSpPr>
          <p:cNvPr id="85" name="key tag"/>
          <p:cNvSpPr txBox="1"/>
          <p:nvPr/>
        </p:nvSpPr>
        <p:spPr>
          <a:xfrm>
            <a:off x="3337560" y="4315968"/>
            <a:ext cx="685800" cy="228600"/>
          </a:xfrm>
          <a:prstGeom prst="rect">
            <a:avLst/>
          </a:prstGeom>
          <a:noFill/>
          <a:ln/>
        </p:spPr>
        <p:txBody>
          <a:bodyPr wrap="square" lIns="0" tIns="0" rIns="0" bIns="0" rtlCol="0" anchor="ctr"/>
          <a:lstStyle/>
          <a:p>
            <a:pPr algn="r" indent="0" marL="0">
              <a:buNone/>
            </a:pPr>
            <a:endParaRPr lang="en-US" sz="1100" dirty="0"/>
          </a:p>
        </p:txBody>
      </p:sp>
      <p:sp>
        <p:nvSpPr>
          <p:cNvPr id="86" name="attr"/>
          <p:cNvSpPr txBox="1"/>
          <p:nvPr/>
        </p:nvSpPr>
        <p:spPr>
          <a:xfrm>
            <a:off x="658368" y="4544568"/>
            <a:ext cx="1497787" cy="228600"/>
          </a:xfrm>
          <a:prstGeom prst="rect">
            <a:avLst/>
          </a:prstGeom>
          <a:noFill/>
          <a:ln/>
        </p:spPr>
        <p:txBody>
          <a:bodyPr wrap="square" lIns="0" tIns="0" rIns="0" bIns="0" rtlCol="0" anchor="ctr"/>
          <a:lstStyle/>
          <a:p>
            <a:pPr indent="0" marL="0">
              <a:buNone/>
            </a:pPr>
            <a:r>
              <a:rPr lang="en-US" sz="1100" dirty="0">
                <a:solidFill>
                  <a:schemeClr val="tx1"/>
                </a:solidFill>
              </a:rPr>
              <a:t>license_no</a:t>
            </a:r>
            <a:endParaRPr lang="en-US" sz="1100" dirty="0"/>
          </a:p>
        </p:txBody>
      </p:sp>
      <p:sp>
        <p:nvSpPr>
          <p:cNvPr id="87" name="type"/>
          <p:cNvSpPr txBox="1"/>
          <p:nvPr/>
        </p:nvSpPr>
        <p:spPr>
          <a:xfrm>
            <a:off x="2156155" y="4544568"/>
            <a:ext cx="1212494" cy="228600"/>
          </a:xfrm>
          <a:prstGeom prst="rect">
            <a:avLst/>
          </a:prstGeom>
          <a:noFill/>
          <a:ln/>
        </p:spPr>
        <p:txBody>
          <a:bodyPr wrap="square" lIns="0" tIns="0" rIns="0" bIns="0" rtlCol="0" anchor="ctr"/>
          <a:lstStyle/>
          <a:p>
            <a:pPr indent="0" marL="0">
              <a:buNone/>
            </a:pPr>
            <a:r>
              <a:rPr lang="en-US" sz="1100" dirty="0">
                <a:solidFill>
                  <a:schemeClr val="accent5"/>
                </a:solidFill>
              </a:rPr>
              <a:t>VARCHAR(30)</a:t>
            </a:r>
            <a:endParaRPr lang="en-US" sz="1100" dirty="0"/>
          </a:p>
        </p:txBody>
      </p:sp>
      <p:sp>
        <p:nvSpPr>
          <p:cNvPr id="88" name="key tag"/>
          <p:cNvSpPr txBox="1"/>
          <p:nvPr/>
        </p:nvSpPr>
        <p:spPr>
          <a:xfrm>
            <a:off x="3337560" y="4544568"/>
            <a:ext cx="685800" cy="228600"/>
          </a:xfrm>
          <a:prstGeom prst="rect">
            <a:avLst/>
          </a:prstGeom>
          <a:noFill/>
          <a:ln/>
        </p:spPr>
        <p:txBody>
          <a:bodyPr wrap="square" lIns="0" tIns="0" rIns="0" bIns="0" rtlCol="0" anchor="ctr"/>
          <a:lstStyle/>
          <a:p>
            <a:pPr algn="r" indent="0" marL="0">
              <a:buNone/>
            </a:pPr>
            <a:r>
              <a:rPr lang="en-US" sz="1100" b="1" dirty="0">
                <a:solidFill>
                  <a:schemeClr val="accent2"/>
                </a:solidFill>
              </a:rPr>
              <a:t>UQ</a:t>
            </a:r>
            <a:endParaRPr lang="en-US" sz="1100" dirty="0"/>
          </a:p>
        </p:txBody>
      </p:sp>
      <p:sp>
        <p:nvSpPr>
          <p:cNvPr id="89" name="row shade"/>
          <p:cNvSpPr/>
          <p:nvPr/>
        </p:nvSpPr>
        <p:spPr>
          <a:xfrm>
            <a:off x="585216" y="4773168"/>
            <a:ext cx="3493008" cy="228600"/>
          </a:xfrm>
          <a:prstGeom prst="rect">
            <a:avLst/>
          </a:prstGeom>
          <a:solidFill>
            <a:schemeClr val="bg2"/>
          </a:solidFill>
          <a:ln w="12700">
            <a:solidFill>
              <a:schemeClr val="bg2"/>
            </a:solidFill>
            <a:prstDash val="solid"/>
          </a:ln>
        </p:spPr>
      </p:sp>
      <p:sp>
        <p:nvSpPr>
          <p:cNvPr id="90" name="attr"/>
          <p:cNvSpPr txBox="1"/>
          <p:nvPr/>
        </p:nvSpPr>
        <p:spPr>
          <a:xfrm>
            <a:off x="658368" y="4773168"/>
            <a:ext cx="1497787" cy="228600"/>
          </a:xfrm>
          <a:prstGeom prst="rect">
            <a:avLst/>
          </a:prstGeom>
          <a:noFill/>
          <a:ln/>
        </p:spPr>
        <p:txBody>
          <a:bodyPr wrap="square" lIns="0" tIns="0" rIns="0" bIns="0" rtlCol="0" anchor="ctr"/>
          <a:lstStyle/>
          <a:p>
            <a:pPr indent="0" marL="0">
              <a:buNone/>
            </a:pPr>
            <a:r>
              <a:rPr lang="en-US" sz="1100" dirty="0">
                <a:solidFill>
                  <a:schemeClr val="tx1"/>
                </a:solidFill>
              </a:rPr>
              <a:t>contact_person</a:t>
            </a:r>
            <a:endParaRPr lang="en-US" sz="1100" dirty="0"/>
          </a:p>
        </p:txBody>
      </p:sp>
      <p:sp>
        <p:nvSpPr>
          <p:cNvPr id="91" name="type"/>
          <p:cNvSpPr txBox="1"/>
          <p:nvPr/>
        </p:nvSpPr>
        <p:spPr>
          <a:xfrm>
            <a:off x="2156155" y="4773168"/>
            <a:ext cx="1212494" cy="228600"/>
          </a:xfrm>
          <a:prstGeom prst="rect">
            <a:avLst/>
          </a:prstGeom>
          <a:noFill/>
          <a:ln/>
        </p:spPr>
        <p:txBody>
          <a:bodyPr wrap="square" lIns="0" tIns="0" rIns="0" bIns="0" rtlCol="0" anchor="ctr"/>
          <a:lstStyle/>
          <a:p>
            <a:pPr indent="0" marL="0">
              <a:buNone/>
            </a:pPr>
            <a:r>
              <a:rPr lang="en-US" sz="1100" dirty="0">
                <a:solidFill>
                  <a:schemeClr val="accent5"/>
                </a:solidFill>
              </a:rPr>
              <a:t>VARCHAR(100)</a:t>
            </a:r>
            <a:endParaRPr lang="en-US" sz="1100" dirty="0"/>
          </a:p>
        </p:txBody>
      </p:sp>
      <p:sp>
        <p:nvSpPr>
          <p:cNvPr id="92" name="key tag"/>
          <p:cNvSpPr txBox="1"/>
          <p:nvPr/>
        </p:nvSpPr>
        <p:spPr>
          <a:xfrm>
            <a:off x="3337560" y="4773168"/>
            <a:ext cx="685800" cy="228600"/>
          </a:xfrm>
          <a:prstGeom prst="rect">
            <a:avLst/>
          </a:prstGeom>
          <a:noFill/>
          <a:ln/>
        </p:spPr>
        <p:txBody>
          <a:bodyPr wrap="square" lIns="0" tIns="0" rIns="0" bIns="0" rtlCol="0" anchor="ctr"/>
          <a:lstStyle/>
          <a:p>
            <a:pPr algn="r" indent="0" marL="0">
              <a:buNone/>
            </a:pPr>
            <a:endParaRPr lang="en-US" sz="1100" dirty="0"/>
          </a:p>
        </p:txBody>
      </p:sp>
      <p:sp>
        <p:nvSpPr>
          <p:cNvPr id="93" name="attr"/>
          <p:cNvSpPr txBox="1"/>
          <p:nvPr/>
        </p:nvSpPr>
        <p:spPr>
          <a:xfrm>
            <a:off x="658368" y="5001768"/>
            <a:ext cx="1497787" cy="228600"/>
          </a:xfrm>
          <a:prstGeom prst="rect">
            <a:avLst/>
          </a:prstGeom>
          <a:noFill/>
          <a:ln/>
        </p:spPr>
        <p:txBody>
          <a:bodyPr wrap="square" lIns="0" tIns="0" rIns="0" bIns="0" rtlCol="0" anchor="ctr"/>
          <a:lstStyle/>
          <a:p>
            <a:pPr indent="0" marL="0">
              <a:buNone/>
            </a:pPr>
            <a:r>
              <a:rPr lang="en-US" sz="1100" dirty="0">
                <a:solidFill>
                  <a:schemeClr val="tx1"/>
                </a:solidFill>
              </a:rPr>
              <a:t>phone</a:t>
            </a:r>
            <a:endParaRPr lang="en-US" sz="1100" dirty="0"/>
          </a:p>
        </p:txBody>
      </p:sp>
      <p:sp>
        <p:nvSpPr>
          <p:cNvPr id="94" name="type"/>
          <p:cNvSpPr txBox="1"/>
          <p:nvPr/>
        </p:nvSpPr>
        <p:spPr>
          <a:xfrm>
            <a:off x="2156155" y="5001768"/>
            <a:ext cx="1212494" cy="228600"/>
          </a:xfrm>
          <a:prstGeom prst="rect">
            <a:avLst/>
          </a:prstGeom>
          <a:noFill/>
          <a:ln/>
        </p:spPr>
        <p:txBody>
          <a:bodyPr wrap="square" lIns="0" tIns="0" rIns="0" bIns="0" rtlCol="0" anchor="ctr"/>
          <a:lstStyle/>
          <a:p>
            <a:pPr indent="0" marL="0">
              <a:buNone/>
            </a:pPr>
            <a:r>
              <a:rPr lang="en-US" sz="1100" dirty="0">
                <a:solidFill>
                  <a:schemeClr val="accent5"/>
                </a:solidFill>
              </a:rPr>
              <a:t>VARCHAR(15)</a:t>
            </a:r>
            <a:endParaRPr lang="en-US" sz="1100" dirty="0"/>
          </a:p>
        </p:txBody>
      </p:sp>
      <p:sp>
        <p:nvSpPr>
          <p:cNvPr id="95" name="key tag"/>
          <p:cNvSpPr txBox="1"/>
          <p:nvPr/>
        </p:nvSpPr>
        <p:spPr>
          <a:xfrm>
            <a:off x="3337560" y="5001768"/>
            <a:ext cx="685800" cy="228600"/>
          </a:xfrm>
          <a:prstGeom prst="rect">
            <a:avLst/>
          </a:prstGeom>
          <a:noFill/>
          <a:ln/>
        </p:spPr>
        <p:txBody>
          <a:bodyPr wrap="square" lIns="0" tIns="0" rIns="0" bIns="0" rtlCol="0" anchor="ctr"/>
          <a:lstStyle/>
          <a:p>
            <a:pPr algn="r" indent="0" marL="0">
              <a:buNone/>
            </a:pPr>
            <a:endParaRPr lang="en-US" sz="1100" dirty="0"/>
          </a:p>
        </p:txBody>
      </p:sp>
      <p:sp>
        <p:nvSpPr>
          <p:cNvPr id="96" name="row shade"/>
          <p:cNvSpPr/>
          <p:nvPr/>
        </p:nvSpPr>
        <p:spPr>
          <a:xfrm>
            <a:off x="585216" y="5230368"/>
            <a:ext cx="3493008" cy="228600"/>
          </a:xfrm>
          <a:prstGeom prst="rect">
            <a:avLst/>
          </a:prstGeom>
          <a:solidFill>
            <a:schemeClr val="bg2"/>
          </a:solidFill>
          <a:ln w="12700">
            <a:solidFill>
              <a:schemeClr val="bg2"/>
            </a:solidFill>
            <a:prstDash val="solid"/>
          </a:ln>
        </p:spPr>
      </p:sp>
      <p:sp>
        <p:nvSpPr>
          <p:cNvPr id="97" name="attr"/>
          <p:cNvSpPr txBox="1"/>
          <p:nvPr/>
        </p:nvSpPr>
        <p:spPr>
          <a:xfrm>
            <a:off x="658368" y="5230368"/>
            <a:ext cx="1497787" cy="228600"/>
          </a:xfrm>
          <a:prstGeom prst="rect">
            <a:avLst/>
          </a:prstGeom>
          <a:noFill/>
          <a:ln/>
        </p:spPr>
        <p:txBody>
          <a:bodyPr wrap="square" lIns="0" tIns="0" rIns="0" bIns="0" rtlCol="0" anchor="ctr"/>
          <a:lstStyle/>
          <a:p>
            <a:pPr indent="0" marL="0">
              <a:buNone/>
            </a:pPr>
            <a:r>
              <a:rPr lang="en-US" sz="1100" dirty="0">
                <a:solidFill>
                  <a:schemeClr val="tx1"/>
                </a:solidFill>
              </a:rPr>
              <a:t>city</a:t>
            </a:r>
            <a:endParaRPr lang="en-US" sz="1100" dirty="0"/>
          </a:p>
        </p:txBody>
      </p:sp>
      <p:sp>
        <p:nvSpPr>
          <p:cNvPr id="98" name="type"/>
          <p:cNvSpPr txBox="1"/>
          <p:nvPr/>
        </p:nvSpPr>
        <p:spPr>
          <a:xfrm>
            <a:off x="2156155" y="5230368"/>
            <a:ext cx="1212494" cy="228600"/>
          </a:xfrm>
          <a:prstGeom prst="rect">
            <a:avLst/>
          </a:prstGeom>
          <a:noFill/>
          <a:ln/>
        </p:spPr>
        <p:txBody>
          <a:bodyPr wrap="square" lIns="0" tIns="0" rIns="0" bIns="0" rtlCol="0" anchor="ctr"/>
          <a:lstStyle/>
          <a:p>
            <a:pPr indent="0" marL="0">
              <a:buNone/>
            </a:pPr>
            <a:r>
              <a:rPr lang="en-US" sz="1100" dirty="0">
                <a:solidFill>
                  <a:schemeClr val="accent5"/>
                </a:solidFill>
              </a:rPr>
              <a:t>VARCHAR(60)</a:t>
            </a:r>
            <a:endParaRPr lang="en-US" sz="1100" dirty="0"/>
          </a:p>
        </p:txBody>
      </p:sp>
      <p:sp>
        <p:nvSpPr>
          <p:cNvPr id="99" name="key tag"/>
          <p:cNvSpPr txBox="1"/>
          <p:nvPr/>
        </p:nvSpPr>
        <p:spPr>
          <a:xfrm>
            <a:off x="3337560" y="5230368"/>
            <a:ext cx="685800" cy="228600"/>
          </a:xfrm>
          <a:prstGeom prst="rect">
            <a:avLst/>
          </a:prstGeom>
          <a:noFill/>
          <a:ln/>
        </p:spPr>
        <p:txBody>
          <a:bodyPr wrap="square" lIns="0" tIns="0" rIns="0" bIns="0" rtlCol="0" anchor="ctr"/>
          <a:lstStyle/>
          <a:p>
            <a:pPr algn="r" indent="0" marL="0">
              <a:buNone/>
            </a:pPr>
            <a:endParaRPr lang="en-US" sz="1100" dirty="0"/>
          </a:p>
        </p:txBody>
      </p:sp>
      <p:sp>
        <p:nvSpPr>
          <p:cNvPr id="100" name="BLOOD_REQUEST box"/>
          <p:cNvSpPr/>
          <p:nvPr/>
        </p:nvSpPr>
        <p:spPr>
          <a:xfrm>
            <a:off x="4311396" y="3703320"/>
            <a:ext cx="3566160" cy="2240280"/>
          </a:xfrm>
          <a:prstGeom prst="rect">
            <a:avLst/>
          </a:prstGeom>
          <a:solidFill>
            <a:schemeClr val="bg1"/>
          </a:solidFill>
          <a:ln w="15875">
            <a:solidFill>
              <a:schemeClr val="accent1"/>
            </a:solidFill>
            <a:prstDash val="solid"/>
          </a:ln>
        </p:spPr>
      </p:sp>
      <p:sp>
        <p:nvSpPr>
          <p:cNvPr id="101" name="BLOOD_REQUEST header"/>
          <p:cNvSpPr/>
          <p:nvPr/>
        </p:nvSpPr>
        <p:spPr>
          <a:xfrm>
            <a:off x="4311396" y="3703320"/>
            <a:ext cx="3566160" cy="347472"/>
          </a:xfrm>
          <a:prstGeom prst="rect">
            <a:avLst/>
          </a:prstGeom>
          <a:solidFill>
            <a:schemeClr val="accent1"/>
          </a:solidFill>
          <a:ln w="12700">
            <a:solidFill>
              <a:schemeClr val="accent1"/>
            </a:solidFill>
            <a:prstDash val="solid"/>
          </a:ln>
        </p:spPr>
      </p:sp>
      <p:sp>
        <p:nvSpPr>
          <p:cNvPr id="102" name="BLOOD_REQUEST title"/>
          <p:cNvSpPr txBox="1"/>
          <p:nvPr/>
        </p:nvSpPr>
        <p:spPr>
          <a:xfrm>
            <a:off x="4311396" y="3703320"/>
            <a:ext cx="3566160" cy="347472"/>
          </a:xfrm>
          <a:prstGeom prst="rect">
            <a:avLst/>
          </a:prstGeom>
          <a:noFill/>
          <a:ln/>
        </p:spPr>
        <p:txBody>
          <a:bodyPr wrap="square" lIns="0" tIns="0" rIns="0" bIns="0" rtlCol="0" anchor="ctr"/>
          <a:lstStyle/>
          <a:p>
            <a:pPr algn="ctr" indent="0" marL="0">
              <a:buNone/>
            </a:pPr>
            <a:r>
              <a:rPr lang="en-US" sz="1300" b="1" dirty="0">
                <a:solidFill>
                  <a:schemeClr val="bg1"/>
                </a:solidFill>
              </a:rPr>
              <a:t>BLOOD_REQUEST</a:t>
            </a:r>
            <a:endParaRPr lang="en-US" sz="1300" dirty="0"/>
          </a:p>
        </p:txBody>
      </p:sp>
      <p:sp>
        <p:nvSpPr>
          <p:cNvPr id="103" name="attr"/>
          <p:cNvSpPr txBox="1"/>
          <p:nvPr/>
        </p:nvSpPr>
        <p:spPr>
          <a:xfrm>
            <a:off x="4421124" y="4087368"/>
            <a:ext cx="1497787" cy="228600"/>
          </a:xfrm>
          <a:prstGeom prst="rect">
            <a:avLst/>
          </a:prstGeom>
          <a:noFill/>
          <a:ln/>
        </p:spPr>
        <p:txBody>
          <a:bodyPr wrap="square" lIns="0" tIns="0" rIns="0" bIns="0" rtlCol="0" anchor="ctr"/>
          <a:lstStyle/>
          <a:p>
            <a:pPr indent="0" marL="0">
              <a:buNone/>
            </a:pPr>
            <a:r>
              <a:rPr lang="en-US" sz="1100" b="1" dirty="0">
                <a:solidFill>
                  <a:schemeClr val="tx1"/>
                </a:solidFill>
              </a:rPr>
              <a:t>request_id</a:t>
            </a:r>
            <a:endParaRPr lang="en-US" sz="1100" dirty="0"/>
          </a:p>
        </p:txBody>
      </p:sp>
      <p:sp>
        <p:nvSpPr>
          <p:cNvPr id="104" name="type"/>
          <p:cNvSpPr txBox="1"/>
          <p:nvPr/>
        </p:nvSpPr>
        <p:spPr>
          <a:xfrm>
            <a:off x="5918911" y="4087368"/>
            <a:ext cx="1212494" cy="228600"/>
          </a:xfrm>
          <a:prstGeom prst="rect">
            <a:avLst/>
          </a:prstGeom>
          <a:noFill/>
          <a:ln/>
        </p:spPr>
        <p:txBody>
          <a:bodyPr wrap="square" lIns="0" tIns="0" rIns="0" bIns="0" rtlCol="0" anchor="ctr"/>
          <a:lstStyle/>
          <a:p>
            <a:pPr indent="0" marL="0">
              <a:buNone/>
            </a:pPr>
            <a:r>
              <a:rPr lang="en-US" sz="1100" dirty="0">
                <a:solidFill>
                  <a:schemeClr val="accent5"/>
                </a:solidFill>
              </a:rPr>
              <a:t>INT</a:t>
            </a:r>
            <a:endParaRPr lang="en-US" sz="1100" dirty="0"/>
          </a:p>
        </p:txBody>
      </p:sp>
      <p:sp>
        <p:nvSpPr>
          <p:cNvPr id="105" name="key tag"/>
          <p:cNvSpPr txBox="1"/>
          <p:nvPr/>
        </p:nvSpPr>
        <p:spPr>
          <a:xfrm>
            <a:off x="7100316" y="4087368"/>
            <a:ext cx="685800" cy="228600"/>
          </a:xfrm>
          <a:prstGeom prst="rect">
            <a:avLst/>
          </a:prstGeom>
          <a:noFill/>
          <a:ln/>
        </p:spPr>
        <p:txBody>
          <a:bodyPr wrap="square" lIns="0" tIns="0" rIns="0" bIns="0" rtlCol="0" anchor="ctr"/>
          <a:lstStyle/>
          <a:p>
            <a:pPr algn="r" indent="0" marL="0">
              <a:buNone/>
            </a:pPr>
            <a:r>
              <a:rPr lang="en-US" sz="1100" b="1" dirty="0">
                <a:solidFill>
                  <a:schemeClr val="accent1"/>
                </a:solidFill>
              </a:rPr>
              <a:t>PK</a:t>
            </a:r>
            <a:endParaRPr lang="en-US" sz="1100" dirty="0"/>
          </a:p>
        </p:txBody>
      </p:sp>
      <p:sp>
        <p:nvSpPr>
          <p:cNvPr id="106" name="row shade"/>
          <p:cNvSpPr/>
          <p:nvPr/>
        </p:nvSpPr>
        <p:spPr>
          <a:xfrm>
            <a:off x="4347972" y="4315968"/>
            <a:ext cx="3493008" cy="228600"/>
          </a:xfrm>
          <a:prstGeom prst="rect">
            <a:avLst/>
          </a:prstGeom>
          <a:solidFill>
            <a:schemeClr val="bg2"/>
          </a:solidFill>
          <a:ln w="12700">
            <a:solidFill>
              <a:schemeClr val="bg2"/>
            </a:solidFill>
            <a:prstDash val="solid"/>
          </a:ln>
        </p:spPr>
      </p:sp>
      <p:sp>
        <p:nvSpPr>
          <p:cNvPr id="107" name="attr"/>
          <p:cNvSpPr txBox="1"/>
          <p:nvPr/>
        </p:nvSpPr>
        <p:spPr>
          <a:xfrm>
            <a:off x="4421124" y="4315968"/>
            <a:ext cx="1497787" cy="228600"/>
          </a:xfrm>
          <a:prstGeom prst="rect">
            <a:avLst/>
          </a:prstGeom>
          <a:noFill/>
          <a:ln/>
        </p:spPr>
        <p:txBody>
          <a:bodyPr wrap="square" lIns="0" tIns="0" rIns="0" bIns="0" rtlCol="0" anchor="ctr"/>
          <a:lstStyle/>
          <a:p>
            <a:pPr indent="0" marL="0">
              <a:buNone/>
            </a:pPr>
            <a:r>
              <a:rPr lang="en-US" sz="1100" dirty="0">
                <a:solidFill>
                  <a:schemeClr val="tx1"/>
                </a:solidFill>
              </a:rPr>
              <a:t>hospital_id</a:t>
            </a:r>
            <a:endParaRPr lang="en-US" sz="1100" dirty="0"/>
          </a:p>
        </p:txBody>
      </p:sp>
      <p:sp>
        <p:nvSpPr>
          <p:cNvPr id="108" name="type"/>
          <p:cNvSpPr txBox="1"/>
          <p:nvPr/>
        </p:nvSpPr>
        <p:spPr>
          <a:xfrm>
            <a:off x="5918911" y="4315968"/>
            <a:ext cx="1212494" cy="228600"/>
          </a:xfrm>
          <a:prstGeom prst="rect">
            <a:avLst/>
          </a:prstGeom>
          <a:noFill/>
          <a:ln/>
        </p:spPr>
        <p:txBody>
          <a:bodyPr wrap="square" lIns="0" tIns="0" rIns="0" bIns="0" rtlCol="0" anchor="ctr"/>
          <a:lstStyle/>
          <a:p>
            <a:pPr indent="0" marL="0">
              <a:buNone/>
            </a:pPr>
            <a:r>
              <a:rPr lang="en-US" sz="1100" dirty="0">
                <a:solidFill>
                  <a:schemeClr val="accent5"/>
                </a:solidFill>
              </a:rPr>
              <a:t>INT</a:t>
            </a:r>
            <a:endParaRPr lang="en-US" sz="1100" dirty="0"/>
          </a:p>
        </p:txBody>
      </p:sp>
      <p:sp>
        <p:nvSpPr>
          <p:cNvPr id="109" name="key tag"/>
          <p:cNvSpPr txBox="1"/>
          <p:nvPr/>
        </p:nvSpPr>
        <p:spPr>
          <a:xfrm>
            <a:off x="7100316" y="4315968"/>
            <a:ext cx="685800" cy="228600"/>
          </a:xfrm>
          <a:prstGeom prst="rect">
            <a:avLst/>
          </a:prstGeom>
          <a:noFill/>
          <a:ln/>
        </p:spPr>
        <p:txBody>
          <a:bodyPr wrap="square" lIns="0" tIns="0" rIns="0" bIns="0" rtlCol="0" anchor="ctr"/>
          <a:lstStyle/>
          <a:p>
            <a:pPr algn="r" indent="0" marL="0">
              <a:buNone/>
            </a:pPr>
            <a:r>
              <a:rPr lang="en-US" sz="1100" b="1" dirty="0">
                <a:solidFill>
                  <a:schemeClr val="accent2"/>
                </a:solidFill>
              </a:rPr>
              <a:t>FK</a:t>
            </a:r>
            <a:endParaRPr lang="en-US" sz="1100" dirty="0"/>
          </a:p>
        </p:txBody>
      </p:sp>
      <p:sp>
        <p:nvSpPr>
          <p:cNvPr id="110" name="attr"/>
          <p:cNvSpPr txBox="1"/>
          <p:nvPr/>
        </p:nvSpPr>
        <p:spPr>
          <a:xfrm>
            <a:off x="4421124" y="4544568"/>
            <a:ext cx="1497787" cy="228600"/>
          </a:xfrm>
          <a:prstGeom prst="rect">
            <a:avLst/>
          </a:prstGeom>
          <a:noFill/>
          <a:ln/>
        </p:spPr>
        <p:txBody>
          <a:bodyPr wrap="square" lIns="0" tIns="0" rIns="0" bIns="0" rtlCol="0" anchor="ctr"/>
          <a:lstStyle/>
          <a:p>
            <a:pPr indent="0" marL="0">
              <a:buNone/>
            </a:pPr>
            <a:r>
              <a:rPr lang="en-US" sz="1100" dirty="0">
                <a:solidFill>
                  <a:schemeClr val="tx1"/>
                </a:solidFill>
              </a:rPr>
              <a:t>blood_group</a:t>
            </a:r>
            <a:endParaRPr lang="en-US" sz="1100" dirty="0"/>
          </a:p>
        </p:txBody>
      </p:sp>
      <p:sp>
        <p:nvSpPr>
          <p:cNvPr id="111" name="type"/>
          <p:cNvSpPr txBox="1"/>
          <p:nvPr/>
        </p:nvSpPr>
        <p:spPr>
          <a:xfrm>
            <a:off x="5918911" y="4544568"/>
            <a:ext cx="1212494" cy="228600"/>
          </a:xfrm>
          <a:prstGeom prst="rect">
            <a:avLst/>
          </a:prstGeom>
          <a:noFill/>
          <a:ln/>
        </p:spPr>
        <p:txBody>
          <a:bodyPr wrap="square" lIns="0" tIns="0" rIns="0" bIns="0" rtlCol="0" anchor="ctr"/>
          <a:lstStyle/>
          <a:p>
            <a:pPr indent="0" marL="0">
              <a:buNone/>
            </a:pPr>
            <a:r>
              <a:rPr lang="en-US" sz="1100" dirty="0">
                <a:solidFill>
                  <a:schemeClr val="accent5"/>
                </a:solidFill>
              </a:rPr>
              <a:t>VARCHAR(3)</a:t>
            </a:r>
            <a:endParaRPr lang="en-US" sz="1100" dirty="0"/>
          </a:p>
        </p:txBody>
      </p:sp>
      <p:sp>
        <p:nvSpPr>
          <p:cNvPr id="112" name="key tag"/>
          <p:cNvSpPr txBox="1"/>
          <p:nvPr/>
        </p:nvSpPr>
        <p:spPr>
          <a:xfrm>
            <a:off x="7100316" y="4544568"/>
            <a:ext cx="685800" cy="228600"/>
          </a:xfrm>
          <a:prstGeom prst="rect">
            <a:avLst/>
          </a:prstGeom>
          <a:noFill/>
          <a:ln/>
        </p:spPr>
        <p:txBody>
          <a:bodyPr wrap="square" lIns="0" tIns="0" rIns="0" bIns="0" rtlCol="0" anchor="ctr"/>
          <a:lstStyle/>
          <a:p>
            <a:pPr algn="r" indent="0" marL="0">
              <a:buNone/>
            </a:pPr>
            <a:endParaRPr lang="en-US" sz="1100" dirty="0"/>
          </a:p>
        </p:txBody>
      </p:sp>
      <p:sp>
        <p:nvSpPr>
          <p:cNvPr id="113" name="row shade"/>
          <p:cNvSpPr/>
          <p:nvPr/>
        </p:nvSpPr>
        <p:spPr>
          <a:xfrm>
            <a:off x="4347972" y="4773168"/>
            <a:ext cx="3493008" cy="228600"/>
          </a:xfrm>
          <a:prstGeom prst="rect">
            <a:avLst/>
          </a:prstGeom>
          <a:solidFill>
            <a:schemeClr val="bg2"/>
          </a:solidFill>
          <a:ln w="12700">
            <a:solidFill>
              <a:schemeClr val="bg2"/>
            </a:solidFill>
            <a:prstDash val="solid"/>
          </a:ln>
        </p:spPr>
      </p:sp>
      <p:sp>
        <p:nvSpPr>
          <p:cNvPr id="114" name="attr"/>
          <p:cNvSpPr txBox="1"/>
          <p:nvPr/>
        </p:nvSpPr>
        <p:spPr>
          <a:xfrm>
            <a:off x="4421124" y="4773168"/>
            <a:ext cx="1497787" cy="228600"/>
          </a:xfrm>
          <a:prstGeom prst="rect">
            <a:avLst/>
          </a:prstGeom>
          <a:noFill/>
          <a:ln/>
        </p:spPr>
        <p:txBody>
          <a:bodyPr wrap="square" lIns="0" tIns="0" rIns="0" bIns="0" rtlCol="0" anchor="ctr"/>
          <a:lstStyle/>
          <a:p>
            <a:pPr indent="0" marL="0">
              <a:buNone/>
            </a:pPr>
            <a:r>
              <a:rPr lang="en-US" sz="1100" dirty="0">
                <a:solidFill>
                  <a:schemeClr val="tx1"/>
                </a:solidFill>
              </a:rPr>
              <a:t>component</a:t>
            </a:r>
            <a:endParaRPr lang="en-US" sz="1100" dirty="0"/>
          </a:p>
        </p:txBody>
      </p:sp>
      <p:sp>
        <p:nvSpPr>
          <p:cNvPr id="115" name="type"/>
          <p:cNvSpPr txBox="1"/>
          <p:nvPr/>
        </p:nvSpPr>
        <p:spPr>
          <a:xfrm>
            <a:off x="5918911" y="4773168"/>
            <a:ext cx="1212494" cy="228600"/>
          </a:xfrm>
          <a:prstGeom prst="rect">
            <a:avLst/>
          </a:prstGeom>
          <a:noFill/>
          <a:ln/>
        </p:spPr>
        <p:txBody>
          <a:bodyPr wrap="square" lIns="0" tIns="0" rIns="0" bIns="0" rtlCol="0" anchor="ctr"/>
          <a:lstStyle/>
          <a:p>
            <a:pPr indent="0" marL="0">
              <a:buNone/>
            </a:pPr>
            <a:r>
              <a:rPr lang="en-US" sz="1100" dirty="0">
                <a:solidFill>
                  <a:schemeClr val="accent5"/>
                </a:solidFill>
              </a:rPr>
              <a:t>VARCHAR(20)</a:t>
            </a:r>
            <a:endParaRPr lang="en-US" sz="1100" dirty="0"/>
          </a:p>
        </p:txBody>
      </p:sp>
      <p:sp>
        <p:nvSpPr>
          <p:cNvPr id="116" name="key tag"/>
          <p:cNvSpPr txBox="1"/>
          <p:nvPr/>
        </p:nvSpPr>
        <p:spPr>
          <a:xfrm>
            <a:off x="7100316" y="4773168"/>
            <a:ext cx="685800" cy="228600"/>
          </a:xfrm>
          <a:prstGeom prst="rect">
            <a:avLst/>
          </a:prstGeom>
          <a:noFill/>
          <a:ln/>
        </p:spPr>
        <p:txBody>
          <a:bodyPr wrap="square" lIns="0" tIns="0" rIns="0" bIns="0" rtlCol="0" anchor="ctr"/>
          <a:lstStyle/>
          <a:p>
            <a:pPr algn="r" indent="0" marL="0">
              <a:buNone/>
            </a:pPr>
            <a:endParaRPr lang="en-US" sz="1100" dirty="0"/>
          </a:p>
        </p:txBody>
      </p:sp>
      <p:sp>
        <p:nvSpPr>
          <p:cNvPr id="117" name="attr"/>
          <p:cNvSpPr txBox="1"/>
          <p:nvPr/>
        </p:nvSpPr>
        <p:spPr>
          <a:xfrm>
            <a:off x="4421124" y="5001768"/>
            <a:ext cx="1497787" cy="228600"/>
          </a:xfrm>
          <a:prstGeom prst="rect">
            <a:avLst/>
          </a:prstGeom>
          <a:noFill/>
          <a:ln/>
        </p:spPr>
        <p:txBody>
          <a:bodyPr wrap="square" lIns="0" tIns="0" rIns="0" bIns="0" rtlCol="0" anchor="ctr"/>
          <a:lstStyle/>
          <a:p>
            <a:pPr indent="0" marL="0">
              <a:buNone/>
            </a:pPr>
            <a:r>
              <a:rPr lang="en-US" sz="1100" dirty="0">
                <a:solidFill>
                  <a:schemeClr val="tx1"/>
                </a:solidFill>
              </a:rPr>
              <a:t>units_required</a:t>
            </a:r>
            <a:endParaRPr lang="en-US" sz="1100" dirty="0"/>
          </a:p>
        </p:txBody>
      </p:sp>
      <p:sp>
        <p:nvSpPr>
          <p:cNvPr id="118" name="type"/>
          <p:cNvSpPr txBox="1"/>
          <p:nvPr/>
        </p:nvSpPr>
        <p:spPr>
          <a:xfrm>
            <a:off x="5918911" y="5001768"/>
            <a:ext cx="1212494" cy="228600"/>
          </a:xfrm>
          <a:prstGeom prst="rect">
            <a:avLst/>
          </a:prstGeom>
          <a:noFill/>
          <a:ln/>
        </p:spPr>
        <p:txBody>
          <a:bodyPr wrap="square" lIns="0" tIns="0" rIns="0" bIns="0" rtlCol="0" anchor="ctr"/>
          <a:lstStyle/>
          <a:p>
            <a:pPr indent="0" marL="0">
              <a:buNone/>
            </a:pPr>
            <a:r>
              <a:rPr lang="en-US" sz="1100" dirty="0">
                <a:solidFill>
                  <a:schemeClr val="accent5"/>
                </a:solidFill>
              </a:rPr>
              <a:t>INT</a:t>
            </a:r>
            <a:endParaRPr lang="en-US" sz="1100" dirty="0"/>
          </a:p>
        </p:txBody>
      </p:sp>
      <p:sp>
        <p:nvSpPr>
          <p:cNvPr id="119" name="key tag"/>
          <p:cNvSpPr txBox="1"/>
          <p:nvPr/>
        </p:nvSpPr>
        <p:spPr>
          <a:xfrm>
            <a:off x="7100316" y="5001768"/>
            <a:ext cx="685800" cy="228600"/>
          </a:xfrm>
          <a:prstGeom prst="rect">
            <a:avLst/>
          </a:prstGeom>
          <a:noFill/>
          <a:ln/>
        </p:spPr>
        <p:txBody>
          <a:bodyPr wrap="square" lIns="0" tIns="0" rIns="0" bIns="0" rtlCol="0" anchor="ctr"/>
          <a:lstStyle/>
          <a:p>
            <a:pPr algn="r" indent="0" marL="0">
              <a:buNone/>
            </a:pPr>
            <a:endParaRPr lang="en-US" sz="1100" dirty="0"/>
          </a:p>
        </p:txBody>
      </p:sp>
      <p:sp>
        <p:nvSpPr>
          <p:cNvPr id="120" name="row shade"/>
          <p:cNvSpPr/>
          <p:nvPr/>
        </p:nvSpPr>
        <p:spPr>
          <a:xfrm>
            <a:off x="4347972" y="5230368"/>
            <a:ext cx="3493008" cy="228600"/>
          </a:xfrm>
          <a:prstGeom prst="rect">
            <a:avLst/>
          </a:prstGeom>
          <a:solidFill>
            <a:schemeClr val="bg2"/>
          </a:solidFill>
          <a:ln w="12700">
            <a:solidFill>
              <a:schemeClr val="bg2"/>
            </a:solidFill>
            <a:prstDash val="solid"/>
          </a:ln>
        </p:spPr>
      </p:sp>
      <p:sp>
        <p:nvSpPr>
          <p:cNvPr id="121" name="attr"/>
          <p:cNvSpPr txBox="1"/>
          <p:nvPr/>
        </p:nvSpPr>
        <p:spPr>
          <a:xfrm>
            <a:off x="4421124" y="5230368"/>
            <a:ext cx="1497787" cy="228600"/>
          </a:xfrm>
          <a:prstGeom prst="rect">
            <a:avLst/>
          </a:prstGeom>
          <a:noFill/>
          <a:ln/>
        </p:spPr>
        <p:txBody>
          <a:bodyPr wrap="square" lIns="0" tIns="0" rIns="0" bIns="0" rtlCol="0" anchor="ctr"/>
          <a:lstStyle/>
          <a:p>
            <a:pPr indent="0" marL="0">
              <a:buNone/>
            </a:pPr>
            <a:r>
              <a:rPr lang="en-US" sz="1100" dirty="0">
                <a:solidFill>
                  <a:schemeClr val="tx1"/>
                </a:solidFill>
              </a:rPr>
              <a:t>urgency</a:t>
            </a:r>
            <a:endParaRPr lang="en-US" sz="1100" dirty="0"/>
          </a:p>
        </p:txBody>
      </p:sp>
      <p:sp>
        <p:nvSpPr>
          <p:cNvPr id="122" name="type"/>
          <p:cNvSpPr txBox="1"/>
          <p:nvPr/>
        </p:nvSpPr>
        <p:spPr>
          <a:xfrm>
            <a:off x="5918911" y="5230368"/>
            <a:ext cx="1212494" cy="228600"/>
          </a:xfrm>
          <a:prstGeom prst="rect">
            <a:avLst/>
          </a:prstGeom>
          <a:noFill/>
          <a:ln/>
        </p:spPr>
        <p:txBody>
          <a:bodyPr wrap="square" lIns="0" tIns="0" rIns="0" bIns="0" rtlCol="0" anchor="ctr"/>
          <a:lstStyle/>
          <a:p>
            <a:pPr indent="0" marL="0">
              <a:buNone/>
            </a:pPr>
            <a:r>
              <a:rPr lang="en-US" sz="1100" dirty="0">
                <a:solidFill>
                  <a:schemeClr val="accent5"/>
                </a:solidFill>
              </a:rPr>
              <a:t>VARCHAR(10)</a:t>
            </a:r>
            <a:endParaRPr lang="en-US" sz="1100" dirty="0"/>
          </a:p>
        </p:txBody>
      </p:sp>
      <p:sp>
        <p:nvSpPr>
          <p:cNvPr id="123" name="key tag"/>
          <p:cNvSpPr txBox="1"/>
          <p:nvPr/>
        </p:nvSpPr>
        <p:spPr>
          <a:xfrm>
            <a:off x="7100316" y="5230368"/>
            <a:ext cx="685800" cy="228600"/>
          </a:xfrm>
          <a:prstGeom prst="rect">
            <a:avLst/>
          </a:prstGeom>
          <a:noFill/>
          <a:ln/>
        </p:spPr>
        <p:txBody>
          <a:bodyPr wrap="square" lIns="0" tIns="0" rIns="0" bIns="0" rtlCol="0" anchor="ctr"/>
          <a:lstStyle/>
          <a:p>
            <a:pPr algn="r" indent="0" marL="0">
              <a:buNone/>
            </a:pPr>
            <a:endParaRPr lang="en-US" sz="1100" dirty="0"/>
          </a:p>
        </p:txBody>
      </p:sp>
      <p:sp>
        <p:nvSpPr>
          <p:cNvPr id="124" name="attr"/>
          <p:cNvSpPr txBox="1"/>
          <p:nvPr/>
        </p:nvSpPr>
        <p:spPr>
          <a:xfrm>
            <a:off x="4421124" y="5458968"/>
            <a:ext cx="1497787" cy="228600"/>
          </a:xfrm>
          <a:prstGeom prst="rect">
            <a:avLst/>
          </a:prstGeom>
          <a:noFill/>
          <a:ln/>
        </p:spPr>
        <p:txBody>
          <a:bodyPr wrap="square" lIns="0" tIns="0" rIns="0" bIns="0" rtlCol="0" anchor="ctr"/>
          <a:lstStyle/>
          <a:p>
            <a:pPr indent="0" marL="0">
              <a:buNone/>
            </a:pPr>
            <a:r>
              <a:rPr lang="en-US" sz="1100" dirty="0">
                <a:solidFill>
                  <a:schemeClr val="tx1"/>
                </a:solidFill>
              </a:rPr>
              <a:t>request_date</a:t>
            </a:r>
            <a:endParaRPr lang="en-US" sz="1100" dirty="0"/>
          </a:p>
        </p:txBody>
      </p:sp>
      <p:sp>
        <p:nvSpPr>
          <p:cNvPr id="125" name="type"/>
          <p:cNvSpPr txBox="1"/>
          <p:nvPr/>
        </p:nvSpPr>
        <p:spPr>
          <a:xfrm>
            <a:off x="5918911" y="5458968"/>
            <a:ext cx="1212494" cy="228600"/>
          </a:xfrm>
          <a:prstGeom prst="rect">
            <a:avLst/>
          </a:prstGeom>
          <a:noFill/>
          <a:ln/>
        </p:spPr>
        <p:txBody>
          <a:bodyPr wrap="square" lIns="0" tIns="0" rIns="0" bIns="0" rtlCol="0" anchor="ctr"/>
          <a:lstStyle/>
          <a:p>
            <a:pPr indent="0" marL="0">
              <a:buNone/>
            </a:pPr>
            <a:r>
              <a:rPr lang="en-US" sz="1100" dirty="0">
                <a:solidFill>
                  <a:schemeClr val="accent5"/>
                </a:solidFill>
              </a:rPr>
              <a:t>DATE</a:t>
            </a:r>
            <a:endParaRPr lang="en-US" sz="1100" dirty="0"/>
          </a:p>
        </p:txBody>
      </p:sp>
      <p:sp>
        <p:nvSpPr>
          <p:cNvPr id="126" name="key tag"/>
          <p:cNvSpPr txBox="1"/>
          <p:nvPr/>
        </p:nvSpPr>
        <p:spPr>
          <a:xfrm>
            <a:off x="7100316" y="5458968"/>
            <a:ext cx="685800" cy="228600"/>
          </a:xfrm>
          <a:prstGeom prst="rect">
            <a:avLst/>
          </a:prstGeom>
          <a:noFill/>
          <a:ln/>
        </p:spPr>
        <p:txBody>
          <a:bodyPr wrap="square" lIns="0" tIns="0" rIns="0" bIns="0" rtlCol="0" anchor="ctr"/>
          <a:lstStyle/>
          <a:p>
            <a:pPr algn="r" indent="0" marL="0">
              <a:buNone/>
            </a:pPr>
            <a:endParaRPr lang="en-US" sz="1100" dirty="0"/>
          </a:p>
        </p:txBody>
      </p:sp>
      <p:sp>
        <p:nvSpPr>
          <p:cNvPr id="127" name="row shade"/>
          <p:cNvSpPr/>
          <p:nvPr/>
        </p:nvSpPr>
        <p:spPr>
          <a:xfrm>
            <a:off x="4347972" y="5687568"/>
            <a:ext cx="3493008" cy="228600"/>
          </a:xfrm>
          <a:prstGeom prst="rect">
            <a:avLst/>
          </a:prstGeom>
          <a:solidFill>
            <a:schemeClr val="bg2"/>
          </a:solidFill>
          <a:ln w="12700">
            <a:solidFill>
              <a:schemeClr val="bg2"/>
            </a:solidFill>
            <a:prstDash val="solid"/>
          </a:ln>
        </p:spPr>
      </p:sp>
      <p:sp>
        <p:nvSpPr>
          <p:cNvPr id="128" name="attr"/>
          <p:cNvSpPr txBox="1"/>
          <p:nvPr/>
        </p:nvSpPr>
        <p:spPr>
          <a:xfrm>
            <a:off x="4421124" y="5687568"/>
            <a:ext cx="1497787" cy="228600"/>
          </a:xfrm>
          <a:prstGeom prst="rect">
            <a:avLst/>
          </a:prstGeom>
          <a:noFill/>
          <a:ln/>
        </p:spPr>
        <p:txBody>
          <a:bodyPr wrap="square" lIns="0" tIns="0" rIns="0" bIns="0" rtlCol="0" anchor="ctr"/>
          <a:lstStyle/>
          <a:p>
            <a:pPr indent="0" marL="0">
              <a:buNone/>
            </a:pPr>
            <a:r>
              <a:rPr lang="en-US" sz="1100" dirty="0">
                <a:solidFill>
                  <a:schemeClr val="tx1"/>
                </a:solidFill>
              </a:rPr>
              <a:t>status</a:t>
            </a:r>
            <a:endParaRPr lang="en-US" sz="1100" dirty="0"/>
          </a:p>
        </p:txBody>
      </p:sp>
      <p:sp>
        <p:nvSpPr>
          <p:cNvPr id="129" name="type"/>
          <p:cNvSpPr txBox="1"/>
          <p:nvPr/>
        </p:nvSpPr>
        <p:spPr>
          <a:xfrm>
            <a:off x="5918911" y="5687568"/>
            <a:ext cx="1212494" cy="228600"/>
          </a:xfrm>
          <a:prstGeom prst="rect">
            <a:avLst/>
          </a:prstGeom>
          <a:noFill/>
          <a:ln/>
        </p:spPr>
        <p:txBody>
          <a:bodyPr wrap="square" lIns="0" tIns="0" rIns="0" bIns="0" rtlCol="0" anchor="ctr"/>
          <a:lstStyle/>
          <a:p>
            <a:pPr indent="0" marL="0">
              <a:buNone/>
            </a:pPr>
            <a:r>
              <a:rPr lang="en-US" sz="1100" dirty="0">
                <a:solidFill>
                  <a:schemeClr val="accent5"/>
                </a:solidFill>
              </a:rPr>
              <a:t>VARCHAR(12)</a:t>
            </a:r>
            <a:endParaRPr lang="en-US" sz="1100" dirty="0"/>
          </a:p>
        </p:txBody>
      </p:sp>
      <p:sp>
        <p:nvSpPr>
          <p:cNvPr id="130" name="key tag"/>
          <p:cNvSpPr txBox="1"/>
          <p:nvPr/>
        </p:nvSpPr>
        <p:spPr>
          <a:xfrm>
            <a:off x="7100316" y="5687568"/>
            <a:ext cx="685800" cy="228600"/>
          </a:xfrm>
          <a:prstGeom prst="rect">
            <a:avLst/>
          </a:prstGeom>
          <a:noFill/>
          <a:ln/>
        </p:spPr>
        <p:txBody>
          <a:bodyPr wrap="square" lIns="0" tIns="0" rIns="0" bIns="0" rtlCol="0" anchor="ctr"/>
          <a:lstStyle/>
          <a:p>
            <a:pPr algn="r" indent="0" marL="0">
              <a:buNone/>
            </a:pPr>
            <a:endParaRPr lang="en-US" sz="1100" dirty="0"/>
          </a:p>
        </p:txBody>
      </p:sp>
      <p:sp>
        <p:nvSpPr>
          <p:cNvPr id="131" name="BLOOD_ISSUE box"/>
          <p:cNvSpPr/>
          <p:nvPr/>
        </p:nvSpPr>
        <p:spPr>
          <a:xfrm>
            <a:off x="8074152" y="3703320"/>
            <a:ext cx="3566160" cy="2240280"/>
          </a:xfrm>
          <a:prstGeom prst="rect">
            <a:avLst/>
          </a:prstGeom>
          <a:solidFill>
            <a:schemeClr val="bg1"/>
          </a:solidFill>
          <a:ln w="15875">
            <a:solidFill>
              <a:schemeClr val="accent1"/>
            </a:solidFill>
            <a:prstDash val="solid"/>
          </a:ln>
        </p:spPr>
      </p:sp>
      <p:sp>
        <p:nvSpPr>
          <p:cNvPr id="132" name="BLOOD_ISSUE header"/>
          <p:cNvSpPr/>
          <p:nvPr/>
        </p:nvSpPr>
        <p:spPr>
          <a:xfrm>
            <a:off x="8074152" y="3703320"/>
            <a:ext cx="3566160" cy="347472"/>
          </a:xfrm>
          <a:prstGeom prst="rect">
            <a:avLst/>
          </a:prstGeom>
          <a:solidFill>
            <a:schemeClr val="accent1"/>
          </a:solidFill>
          <a:ln w="12700">
            <a:solidFill>
              <a:schemeClr val="accent1"/>
            </a:solidFill>
            <a:prstDash val="solid"/>
          </a:ln>
        </p:spPr>
      </p:sp>
      <p:sp>
        <p:nvSpPr>
          <p:cNvPr id="133" name="BLOOD_ISSUE title"/>
          <p:cNvSpPr txBox="1"/>
          <p:nvPr/>
        </p:nvSpPr>
        <p:spPr>
          <a:xfrm>
            <a:off x="8074152" y="3703320"/>
            <a:ext cx="3566160" cy="347472"/>
          </a:xfrm>
          <a:prstGeom prst="rect">
            <a:avLst/>
          </a:prstGeom>
          <a:noFill/>
          <a:ln/>
        </p:spPr>
        <p:txBody>
          <a:bodyPr wrap="square" lIns="0" tIns="0" rIns="0" bIns="0" rtlCol="0" anchor="ctr"/>
          <a:lstStyle/>
          <a:p>
            <a:pPr algn="ctr" indent="0" marL="0">
              <a:buNone/>
            </a:pPr>
            <a:r>
              <a:rPr lang="en-US" sz="1300" b="1" dirty="0">
                <a:solidFill>
                  <a:schemeClr val="bg1"/>
                </a:solidFill>
              </a:rPr>
              <a:t>BLOOD_ISSUE</a:t>
            </a:r>
            <a:endParaRPr lang="en-US" sz="1300" dirty="0"/>
          </a:p>
        </p:txBody>
      </p:sp>
      <p:sp>
        <p:nvSpPr>
          <p:cNvPr id="134" name="attr"/>
          <p:cNvSpPr txBox="1"/>
          <p:nvPr/>
        </p:nvSpPr>
        <p:spPr>
          <a:xfrm>
            <a:off x="8183880" y="4087368"/>
            <a:ext cx="1497787" cy="228600"/>
          </a:xfrm>
          <a:prstGeom prst="rect">
            <a:avLst/>
          </a:prstGeom>
          <a:noFill/>
          <a:ln/>
        </p:spPr>
        <p:txBody>
          <a:bodyPr wrap="square" lIns="0" tIns="0" rIns="0" bIns="0" rtlCol="0" anchor="ctr"/>
          <a:lstStyle/>
          <a:p>
            <a:pPr indent="0" marL="0">
              <a:buNone/>
            </a:pPr>
            <a:r>
              <a:rPr lang="en-US" sz="1100" b="1" dirty="0">
                <a:solidFill>
                  <a:schemeClr val="tx1"/>
                </a:solidFill>
              </a:rPr>
              <a:t>issue_id</a:t>
            </a:r>
            <a:endParaRPr lang="en-US" sz="1100" dirty="0"/>
          </a:p>
        </p:txBody>
      </p:sp>
      <p:sp>
        <p:nvSpPr>
          <p:cNvPr id="135" name="type"/>
          <p:cNvSpPr txBox="1"/>
          <p:nvPr/>
        </p:nvSpPr>
        <p:spPr>
          <a:xfrm>
            <a:off x="9681667" y="4087368"/>
            <a:ext cx="1212494" cy="228600"/>
          </a:xfrm>
          <a:prstGeom prst="rect">
            <a:avLst/>
          </a:prstGeom>
          <a:noFill/>
          <a:ln/>
        </p:spPr>
        <p:txBody>
          <a:bodyPr wrap="square" lIns="0" tIns="0" rIns="0" bIns="0" rtlCol="0" anchor="ctr"/>
          <a:lstStyle/>
          <a:p>
            <a:pPr indent="0" marL="0">
              <a:buNone/>
            </a:pPr>
            <a:r>
              <a:rPr lang="en-US" sz="1100" dirty="0">
                <a:solidFill>
                  <a:schemeClr val="accent5"/>
                </a:solidFill>
              </a:rPr>
              <a:t>INT</a:t>
            </a:r>
            <a:endParaRPr lang="en-US" sz="1100" dirty="0"/>
          </a:p>
        </p:txBody>
      </p:sp>
      <p:sp>
        <p:nvSpPr>
          <p:cNvPr id="136" name="key tag"/>
          <p:cNvSpPr txBox="1"/>
          <p:nvPr/>
        </p:nvSpPr>
        <p:spPr>
          <a:xfrm>
            <a:off x="10863072" y="4087368"/>
            <a:ext cx="685800" cy="228600"/>
          </a:xfrm>
          <a:prstGeom prst="rect">
            <a:avLst/>
          </a:prstGeom>
          <a:noFill/>
          <a:ln/>
        </p:spPr>
        <p:txBody>
          <a:bodyPr wrap="square" lIns="0" tIns="0" rIns="0" bIns="0" rtlCol="0" anchor="ctr"/>
          <a:lstStyle/>
          <a:p>
            <a:pPr algn="r" indent="0" marL="0">
              <a:buNone/>
            </a:pPr>
            <a:r>
              <a:rPr lang="en-US" sz="1100" b="1" dirty="0">
                <a:solidFill>
                  <a:schemeClr val="accent1"/>
                </a:solidFill>
              </a:rPr>
              <a:t>PK</a:t>
            </a:r>
            <a:endParaRPr lang="en-US" sz="1100" dirty="0"/>
          </a:p>
        </p:txBody>
      </p:sp>
      <p:sp>
        <p:nvSpPr>
          <p:cNvPr id="137" name="row shade"/>
          <p:cNvSpPr/>
          <p:nvPr/>
        </p:nvSpPr>
        <p:spPr>
          <a:xfrm>
            <a:off x="8110728" y="4315968"/>
            <a:ext cx="3493008" cy="228600"/>
          </a:xfrm>
          <a:prstGeom prst="rect">
            <a:avLst/>
          </a:prstGeom>
          <a:solidFill>
            <a:schemeClr val="bg2"/>
          </a:solidFill>
          <a:ln w="12700">
            <a:solidFill>
              <a:schemeClr val="bg2"/>
            </a:solidFill>
            <a:prstDash val="solid"/>
          </a:ln>
        </p:spPr>
      </p:sp>
      <p:sp>
        <p:nvSpPr>
          <p:cNvPr id="138" name="attr"/>
          <p:cNvSpPr txBox="1"/>
          <p:nvPr/>
        </p:nvSpPr>
        <p:spPr>
          <a:xfrm>
            <a:off x="8183880" y="4315968"/>
            <a:ext cx="1497787" cy="228600"/>
          </a:xfrm>
          <a:prstGeom prst="rect">
            <a:avLst/>
          </a:prstGeom>
          <a:noFill/>
          <a:ln/>
        </p:spPr>
        <p:txBody>
          <a:bodyPr wrap="square" lIns="0" tIns="0" rIns="0" bIns="0" rtlCol="0" anchor="ctr"/>
          <a:lstStyle/>
          <a:p>
            <a:pPr indent="0" marL="0">
              <a:buNone/>
            </a:pPr>
            <a:r>
              <a:rPr lang="en-US" sz="1100" dirty="0">
                <a:solidFill>
                  <a:schemeClr val="tx1"/>
                </a:solidFill>
              </a:rPr>
              <a:t>request_id</a:t>
            </a:r>
            <a:endParaRPr lang="en-US" sz="1100" dirty="0"/>
          </a:p>
        </p:txBody>
      </p:sp>
      <p:sp>
        <p:nvSpPr>
          <p:cNvPr id="139" name="type"/>
          <p:cNvSpPr txBox="1"/>
          <p:nvPr/>
        </p:nvSpPr>
        <p:spPr>
          <a:xfrm>
            <a:off x="9681667" y="4315968"/>
            <a:ext cx="1212494" cy="228600"/>
          </a:xfrm>
          <a:prstGeom prst="rect">
            <a:avLst/>
          </a:prstGeom>
          <a:noFill/>
          <a:ln/>
        </p:spPr>
        <p:txBody>
          <a:bodyPr wrap="square" lIns="0" tIns="0" rIns="0" bIns="0" rtlCol="0" anchor="ctr"/>
          <a:lstStyle/>
          <a:p>
            <a:pPr indent="0" marL="0">
              <a:buNone/>
            </a:pPr>
            <a:r>
              <a:rPr lang="en-US" sz="1100" dirty="0">
                <a:solidFill>
                  <a:schemeClr val="accent5"/>
                </a:solidFill>
              </a:rPr>
              <a:t>INT</a:t>
            </a:r>
            <a:endParaRPr lang="en-US" sz="1100" dirty="0"/>
          </a:p>
        </p:txBody>
      </p:sp>
      <p:sp>
        <p:nvSpPr>
          <p:cNvPr id="140" name="key tag"/>
          <p:cNvSpPr txBox="1"/>
          <p:nvPr/>
        </p:nvSpPr>
        <p:spPr>
          <a:xfrm>
            <a:off x="10863072" y="4315968"/>
            <a:ext cx="685800" cy="228600"/>
          </a:xfrm>
          <a:prstGeom prst="rect">
            <a:avLst/>
          </a:prstGeom>
          <a:noFill/>
          <a:ln/>
        </p:spPr>
        <p:txBody>
          <a:bodyPr wrap="square" lIns="0" tIns="0" rIns="0" bIns="0" rtlCol="0" anchor="ctr"/>
          <a:lstStyle/>
          <a:p>
            <a:pPr algn="r" indent="0" marL="0">
              <a:buNone/>
            </a:pPr>
            <a:r>
              <a:rPr lang="en-US" sz="1100" b="1" dirty="0">
                <a:solidFill>
                  <a:schemeClr val="accent2"/>
                </a:solidFill>
              </a:rPr>
              <a:t>FK</a:t>
            </a:r>
            <a:endParaRPr lang="en-US" sz="1100" dirty="0"/>
          </a:p>
        </p:txBody>
      </p:sp>
      <p:sp>
        <p:nvSpPr>
          <p:cNvPr id="141" name="attr"/>
          <p:cNvSpPr txBox="1"/>
          <p:nvPr/>
        </p:nvSpPr>
        <p:spPr>
          <a:xfrm>
            <a:off x="8183880" y="4544568"/>
            <a:ext cx="1497787" cy="228600"/>
          </a:xfrm>
          <a:prstGeom prst="rect">
            <a:avLst/>
          </a:prstGeom>
          <a:noFill/>
          <a:ln/>
        </p:spPr>
        <p:txBody>
          <a:bodyPr wrap="square" lIns="0" tIns="0" rIns="0" bIns="0" rtlCol="0" anchor="ctr"/>
          <a:lstStyle/>
          <a:p>
            <a:pPr indent="0" marL="0">
              <a:buNone/>
            </a:pPr>
            <a:r>
              <a:rPr lang="en-US" sz="1100" dirty="0">
                <a:solidFill>
                  <a:schemeClr val="tx1"/>
                </a:solidFill>
              </a:rPr>
              <a:t>unit_id</a:t>
            </a:r>
            <a:endParaRPr lang="en-US" sz="1100" dirty="0"/>
          </a:p>
        </p:txBody>
      </p:sp>
      <p:sp>
        <p:nvSpPr>
          <p:cNvPr id="142" name="type"/>
          <p:cNvSpPr txBox="1"/>
          <p:nvPr/>
        </p:nvSpPr>
        <p:spPr>
          <a:xfrm>
            <a:off x="9681667" y="4544568"/>
            <a:ext cx="1212494" cy="228600"/>
          </a:xfrm>
          <a:prstGeom prst="rect">
            <a:avLst/>
          </a:prstGeom>
          <a:noFill/>
          <a:ln/>
        </p:spPr>
        <p:txBody>
          <a:bodyPr wrap="square" lIns="0" tIns="0" rIns="0" bIns="0" rtlCol="0" anchor="ctr"/>
          <a:lstStyle/>
          <a:p>
            <a:pPr indent="0" marL="0">
              <a:buNone/>
            </a:pPr>
            <a:r>
              <a:rPr lang="en-US" sz="1100" dirty="0">
                <a:solidFill>
                  <a:schemeClr val="accent5"/>
                </a:solidFill>
              </a:rPr>
              <a:t>INT</a:t>
            </a:r>
            <a:endParaRPr lang="en-US" sz="1100" dirty="0"/>
          </a:p>
        </p:txBody>
      </p:sp>
      <p:sp>
        <p:nvSpPr>
          <p:cNvPr id="143" name="key tag"/>
          <p:cNvSpPr txBox="1"/>
          <p:nvPr/>
        </p:nvSpPr>
        <p:spPr>
          <a:xfrm>
            <a:off x="10863072" y="4544568"/>
            <a:ext cx="685800" cy="228600"/>
          </a:xfrm>
          <a:prstGeom prst="rect">
            <a:avLst/>
          </a:prstGeom>
          <a:noFill/>
          <a:ln/>
        </p:spPr>
        <p:txBody>
          <a:bodyPr wrap="square" lIns="0" tIns="0" rIns="0" bIns="0" rtlCol="0" anchor="ctr"/>
          <a:lstStyle/>
          <a:p>
            <a:pPr algn="r" indent="0" marL="0">
              <a:buNone/>
            </a:pPr>
            <a:r>
              <a:rPr lang="en-US" sz="1100" b="1" dirty="0">
                <a:solidFill>
                  <a:schemeClr val="accent2"/>
                </a:solidFill>
              </a:rPr>
              <a:t>FK, UQ</a:t>
            </a:r>
            <a:endParaRPr lang="en-US" sz="1100" dirty="0"/>
          </a:p>
        </p:txBody>
      </p:sp>
      <p:sp>
        <p:nvSpPr>
          <p:cNvPr id="144" name="row shade"/>
          <p:cNvSpPr/>
          <p:nvPr/>
        </p:nvSpPr>
        <p:spPr>
          <a:xfrm>
            <a:off x="8110728" y="4773168"/>
            <a:ext cx="3493008" cy="228600"/>
          </a:xfrm>
          <a:prstGeom prst="rect">
            <a:avLst/>
          </a:prstGeom>
          <a:solidFill>
            <a:schemeClr val="bg2"/>
          </a:solidFill>
          <a:ln w="12700">
            <a:solidFill>
              <a:schemeClr val="bg2"/>
            </a:solidFill>
            <a:prstDash val="solid"/>
          </a:ln>
        </p:spPr>
      </p:sp>
      <p:sp>
        <p:nvSpPr>
          <p:cNvPr id="145" name="attr"/>
          <p:cNvSpPr txBox="1"/>
          <p:nvPr/>
        </p:nvSpPr>
        <p:spPr>
          <a:xfrm>
            <a:off x="8183880" y="4773168"/>
            <a:ext cx="1497787" cy="228600"/>
          </a:xfrm>
          <a:prstGeom prst="rect">
            <a:avLst/>
          </a:prstGeom>
          <a:noFill/>
          <a:ln/>
        </p:spPr>
        <p:txBody>
          <a:bodyPr wrap="square" lIns="0" tIns="0" rIns="0" bIns="0" rtlCol="0" anchor="ctr"/>
          <a:lstStyle/>
          <a:p>
            <a:pPr indent="0" marL="0">
              <a:buNone/>
            </a:pPr>
            <a:r>
              <a:rPr lang="en-US" sz="1100" dirty="0">
                <a:solidFill>
                  <a:schemeClr val="tx1"/>
                </a:solidFill>
              </a:rPr>
              <a:t>issue_date</a:t>
            </a:r>
            <a:endParaRPr lang="en-US" sz="1100" dirty="0"/>
          </a:p>
        </p:txBody>
      </p:sp>
      <p:sp>
        <p:nvSpPr>
          <p:cNvPr id="146" name="type"/>
          <p:cNvSpPr txBox="1"/>
          <p:nvPr/>
        </p:nvSpPr>
        <p:spPr>
          <a:xfrm>
            <a:off x="9681667" y="4773168"/>
            <a:ext cx="1212494" cy="228600"/>
          </a:xfrm>
          <a:prstGeom prst="rect">
            <a:avLst/>
          </a:prstGeom>
          <a:noFill/>
          <a:ln/>
        </p:spPr>
        <p:txBody>
          <a:bodyPr wrap="square" lIns="0" tIns="0" rIns="0" bIns="0" rtlCol="0" anchor="ctr"/>
          <a:lstStyle/>
          <a:p>
            <a:pPr indent="0" marL="0">
              <a:buNone/>
            </a:pPr>
            <a:r>
              <a:rPr lang="en-US" sz="1100" dirty="0">
                <a:solidFill>
                  <a:schemeClr val="accent5"/>
                </a:solidFill>
              </a:rPr>
              <a:t>DATE</a:t>
            </a:r>
            <a:endParaRPr lang="en-US" sz="1100" dirty="0"/>
          </a:p>
        </p:txBody>
      </p:sp>
      <p:sp>
        <p:nvSpPr>
          <p:cNvPr id="147" name="key tag"/>
          <p:cNvSpPr txBox="1"/>
          <p:nvPr/>
        </p:nvSpPr>
        <p:spPr>
          <a:xfrm>
            <a:off x="10863072" y="4773168"/>
            <a:ext cx="685800" cy="228600"/>
          </a:xfrm>
          <a:prstGeom prst="rect">
            <a:avLst/>
          </a:prstGeom>
          <a:noFill/>
          <a:ln/>
        </p:spPr>
        <p:txBody>
          <a:bodyPr wrap="square" lIns="0" tIns="0" rIns="0" bIns="0" rtlCol="0" anchor="ctr"/>
          <a:lstStyle/>
          <a:p>
            <a:pPr algn="r" indent="0" marL="0">
              <a:buNone/>
            </a:pPr>
            <a:endParaRPr lang="en-US" sz="1100" dirty="0"/>
          </a:p>
        </p:txBody>
      </p:sp>
      <p:sp>
        <p:nvSpPr>
          <p:cNvPr id="148" name="attr"/>
          <p:cNvSpPr txBox="1"/>
          <p:nvPr/>
        </p:nvSpPr>
        <p:spPr>
          <a:xfrm>
            <a:off x="8183880" y="5001768"/>
            <a:ext cx="1497787" cy="228600"/>
          </a:xfrm>
          <a:prstGeom prst="rect">
            <a:avLst/>
          </a:prstGeom>
          <a:noFill/>
          <a:ln/>
        </p:spPr>
        <p:txBody>
          <a:bodyPr wrap="square" lIns="0" tIns="0" rIns="0" bIns="0" rtlCol="0" anchor="ctr"/>
          <a:lstStyle/>
          <a:p>
            <a:pPr indent="0" marL="0">
              <a:buNone/>
            </a:pPr>
            <a:r>
              <a:rPr lang="en-US" sz="1100" dirty="0">
                <a:solidFill>
                  <a:schemeClr val="tx1"/>
                </a:solidFill>
              </a:rPr>
              <a:t>issued_by</a:t>
            </a:r>
            <a:endParaRPr lang="en-US" sz="1100" dirty="0"/>
          </a:p>
        </p:txBody>
      </p:sp>
      <p:sp>
        <p:nvSpPr>
          <p:cNvPr id="149" name="type"/>
          <p:cNvSpPr txBox="1"/>
          <p:nvPr/>
        </p:nvSpPr>
        <p:spPr>
          <a:xfrm>
            <a:off x="9681667" y="5001768"/>
            <a:ext cx="1212494" cy="228600"/>
          </a:xfrm>
          <a:prstGeom prst="rect">
            <a:avLst/>
          </a:prstGeom>
          <a:noFill/>
          <a:ln/>
        </p:spPr>
        <p:txBody>
          <a:bodyPr wrap="square" lIns="0" tIns="0" rIns="0" bIns="0" rtlCol="0" anchor="ctr"/>
          <a:lstStyle/>
          <a:p>
            <a:pPr indent="0" marL="0">
              <a:buNone/>
            </a:pPr>
            <a:r>
              <a:rPr lang="en-US" sz="1100" dirty="0">
                <a:solidFill>
                  <a:schemeClr val="accent5"/>
                </a:solidFill>
              </a:rPr>
              <a:t>VARCHAR(100)</a:t>
            </a:r>
            <a:endParaRPr lang="en-US" sz="1100" dirty="0"/>
          </a:p>
        </p:txBody>
      </p:sp>
      <p:sp>
        <p:nvSpPr>
          <p:cNvPr id="150" name="key tag"/>
          <p:cNvSpPr txBox="1"/>
          <p:nvPr/>
        </p:nvSpPr>
        <p:spPr>
          <a:xfrm>
            <a:off x="10863072" y="5001768"/>
            <a:ext cx="685800" cy="228600"/>
          </a:xfrm>
          <a:prstGeom prst="rect">
            <a:avLst/>
          </a:prstGeom>
          <a:noFill/>
          <a:ln/>
        </p:spPr>
        <p:txBody>
          <a:bodyPr wrap="square" lIns="0" tIns="0" rIns="0" bIns="0" rtlCol="0" anchor="ctr"/>
          <a:lstStyle/>
          <a:p>
            <a:pPr algn="r" indent="0" marL="0">
              <a:buNone/>
            </a:pPr>
            <a:endParaRPr lang="en-US" sz="1100" dirty="0"/>
          </a:p>
        </p:txBody>
      </p:sp>
      <p:sp>
        <p:nvSpPr>
          <p:cNvPr id="151" name="row shade"/>
          <p:cNvSpPr/>
          <p:nvPr/>
        </p:nvSpPr>
        <p:spPr>
          <a:xfrm>
            <a:off x="8110728" y="5230368"/>
            <a:ext cx="3493008" cy="228600"/>
          </a:xfrm>
          <a:prstGeom prst="rect">
            <a:avLst/>
          </a:prstGeom>
          <a:solidFill>
            <a:schemeClr val="bg2"/>
          </a:solidFill>
          <a:ln w="12700">
            <a:solidFill>
              <a:schemeClr val="bg2"/>
            </a:solidFill>
            <a:prstDash val="solid"/>
          </a:ln>
        </p:spPr>
      </p:sp>
      <p:sp>
        <p:nvSpPr>
          <p:cNvPr id="152" name="attr"/>
          <p:cNvSpPr txBox="1"/>
          <p:nvPr/>
        </p:nvSpPr>
        <p:spPr>
          <a:xfrm>
            <a:off x="8183880" y="5230368"/>
            <a:ext cx="1497787" cy="228600"/>
          </a:xfrm>
          <a:prstGeom prst="rect">
            <a:avLst/>
          </a:prstGeom>
          <a:noFill/>
          <a:ln/>
        </p:spPr>
        <p:txBody>
          <a:bodyPr wrap="square" lIns="0" tIns="0" rIns="0" bIns="0" rtlCol="0" anchor="ctr"/>
          <a:lstStyle/>
          <a:p>
            <a:pPr indent="0" marL="0">
              <a:buNone/>
            </a:pPr>
            <a:r>
              <a:rPr lang="en-US" sz="1100" dirty="0">
                <a:solidFill>
                  <a:schemeClr val="tx1"/>
                </a:solidFill>
              </a:rPr>
              <a:t>remarks</a:t>
            </a:r>
            <a:endParaRPr lang="en-US" sz="1100" dirty="0"/>
          </a:p>
        </p:txBody>
      </p:sp>
      <p:sp>
        <p:nvSpPr>
          <p:cNvPr id="153" name="type"/>
          <p:cNvSpPr txBox="1"/>
          <p:nvPr/>
        </p:nvSpPr>
        <p:spPr>
          <a:xfrm>
            <a:off x="9681667" y="5230368"/>
            <a:ext cx="1212494" cy="228600"/>
          </a:xfrm>
          <a:prstGeom prst="rect">
            <a:avLst/>
          </a:prstGeom>
          <a:noFill/>
          <a:ln/>
        </p:spPr>
        <p:txBody>
          <a:bodyPr wrap="square" lIns="0" tIns="0" rIns="0" bIns="0" rtlCol="0" anchor="ctr"/>
          <a:lstStyle/>
          <a:p>
            <a:pPr indent="0" marL="0">
              <a:buNone/>
            </a:pPr>
            <a:r>
              <a:rPr lang="en-US" sz="1100" dirty="0">
                <a:solidFill>
                  <a:schemeClr val="accent5"/>
                </a:solidFill>
              </a:rPr>
              <a:t>VARCHAR(200)</a:t>
            </a:r>
            <a:endParaRPr lang="en-US" sz="1100" dirty="0"/>
          </a:p>
        </p:txBody>
      </p:sp>
      <p:sp>
        <p:nvSpPr>
          <p:cNvPr id="154" name="key tag"/>
          <p:cNvSpPr txBox="1"/>
          <p:nvPr/>
        </p:nvSpPr>
        <p:spPr>
          <a:xfrm>
            <a:off x="10863072" y="5230368"/>
            <a:ext cx="685800" cy="228600"/>
          </a:xfrm>
          <a:prstGeom prst="rect">
            <a:avLst/>
          </a:prstGeom>
          <a:noFill/>
          <a:ln/>
        </p:spPr>
        <p:txBody>
          <a:bodyPr wrap="square" lIns="0" tIns="0" rIns="0" bIns="0" rtlCol="0" anchor="ctr"/>
          <a:lstStyle/>
          <a:p>
            <a:pPr algn="r" indent="0" marL="0">
              <a:buNone/>
            </a:pPr>
            <a:endParaRPr lang="en-US" sz="1100" dirty="0"/>
          </a:p>
        </p:txBody>
      </p:sp>
      <p:sp>
        <p:nvSpPr>
          <p:cNvPr id="155" name="Text 153"/>
          <p:cNvSpPr txBox="1"/>
          <p:nvPr/>
        </p:nvSpPr>
        <p:spPr>
          <a:xfrm>
            <a:off x="548640" y="6035040"/>
            <a:ext cx="11064240" cy="365760"/>
          </a:xfrm>
          <a:prstGeom prst="rect">
            <a:avLst/>
          </a:prstGeom>
          <a:noFill/>
          <a:ln/>
        </p:spPr>
        <p:txBody>
          <a:bodyPr wrap="square" lIns="0" tIns="0" rIns="0" bIns="0" rtlCol="0" anchor="t"/>
          <a:lstStyle/>
          <a:p>
            <a:pPr indent="0" marL="0">
              <a:buNone/>
            </a:pPr>
            <a:r>
              <a:rPr lang="en-US" sz="1000" dirty="0">
                <a:solidFill>
                  <a:schemeClr val="accent5"/>
                </a:solidFill>
              </a:rPr>
              <a:t>Foreign keys: DONATION.donor_id to DONOR; BLOOD_UNIT.donation_id to DONATION; BLOOD_REQUEST.hospital_id to HOSPITAL; BLOOD_ISSUE.request_id to BLOOD_REQUEST; BLOOD_ISSUE.unit_id to BLOOD_UNIT</a:t>
            </a:r>
            <a:endParaRPr lang="en-US" sz="1000" dirty="0"/>
          </a:p>
        </p:txBody>
      </p:sp>
      <p:sp>
        <p:nvSpPr>
          <p:cNvPr id="25" name="Slide Number Placeholder 0"/>
          <p:cNvSpPr>
            <a:spLocks noGrp="1"/>
          </p:cNvSpPr>
          <p:nvPr>
            <p:ph type="sldNum" sz="quarter" idx="4294967295"/>
          </p:nvPr>
        </p:nvSpPr>
        <p:spPr>
          <a:xfrm>
            <a:off x="11064240" y="647395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731520"/>
          </a:xfrm>
          <a:prstGeom prst="rect">
            <a:avLst/>
          </a:prstGeom>
          <a:noFill/>
          <a:ln/>
        </p:spPr>
        <p:txBody>
          <a:bodyPr wrap="square" lIns="0" tIns="0" rIns="0" bIns="0" rtlCol="0" anchor="ctr"/>
          <a:lstStyle/>
          <a:p>
            <a:pPr algn="l" indent="0" marL="0">
              <a:buNone/>
            </a:pPr>
            <a:r>
              <a:rPr lang="en-US" sz="3400" b="1" dirty="0">
                <a:solidFill>
                  <a:schemeClr val="tx2"/>
                </a:solidFill>
              </a:rPr>
              <a:t>Normalisation to 3NF</a:t>
            </a:r>
            <a:endParaRPr lang="en-US" sz="3400" dirty="0"/>
          </a:p>
        </p:txBody>
      </p:sp>
      <p:sp>
        <p:nvSpPr>
          <p:cNvPr id="3" name="Review tag"/>
          <p:cNvSpPr/>
          <p:nvPr/>
        </p:nvSpPr>
        <p:spPr>
          <a:xfrm>
            <a:off x="9079992" y="420624"/>
            <a:ext cx="2560320" cy="329184"/>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9079992" y="420624"/>
            <a:ext cx="2560320" cy="329184"/>
          </a:xfrm>
          <a:prstGeom prst="rect">
            <a:avLst/>
          </a:prstGeom>
          <a:noFill/>
          <a:ln/>
        </p:spPr>
        <p:txBody>
          <a:bodyPr wrap="square" lIns="0" tIns="0" rIns="0" bIns="0" rtlCol="0" anchor="ctr"/>
          <a:lstStyle/>
          <a:p>
            <a:pPr algn="ctr" indent="0" marL="0">
              <a:buNone/>
            </a:pPr>
            <a:r>
              <a:rPr lang="en-US" sz="1200" b="1" spc="100" kern="0" dirty="0">
                <a:solidFill>
                  <a:schemeClr val="accent1"/>
                </a:solidFill>
              </a:rPr>
              <a:t>REVIEW 2  |  WEEK 11</a:t>
            </a:r>
            <a:endParaRPr lang="en-US" sz="1200" dirty="0"/>
          </a:p>
        </p:txBody>
      </p:sp>
      <p:sp>
        <p:nvSpPr>
          <p:cNvPr id="5" name="1NF card"/>
          <p:cNvSpPr/>
          <p:nvPr/>
        </p:nvSpPr>
        <p:spPr>
          <a:xfrm>
            <a:off x="548640" y="1188720"/>
            <a:ext cx="3566160" cy="1188720"/>
          </a:xfrm>
          <a:prstGeom prst="roundRect">
            <a:avLst>
              <a:gd name="adj" fmla="val 7692"/>
            </a:avLst>
          </a:prstGeom>
          <a:solidFill>
            <a:schemeClr val="bg2"/>
          </a:solidFill>
          <a:ln w="12700">
            <a:solidFill>
              <a:schemeClr val="bg2"/>
            </a:solidFill>
            <a:prstDash val="solid"/>
          </a:ln>
        </p:spPr>
      </p:sp>
      <p:sp>
        <p:nvSpPr>
          <p:cNvPr id="6" name="Text 4"/>
          <p:cNvSpPr txBox="1"/>
          <p:nvPr/>
        </p:nvSpPr>
        <p:spPr>
          <a:xfrm>
            <a:off x="777240" y="1188720"/>
            <a:ext cx="914400" cy="1188720"/>
          </a:xfrm>
          <a:prstGeom prst="rect">
            <a:avLst/>
          </a:prstGeom>
          <a:noFill/>
          <a:ln/>
        </p:spPr>
        <p:txBody>
          <a:bodyPr wrap="square" lIns="0" tIns="0" rIns="0" bIns="0" rtlCol="0" anchor="ctr"/>
          <a:lstStyle/>
          <a:p>
            <a:pPr indent="0" marL="0">
              <a:buNone/>
            </a:pPr>
            <a:r>
              <a:rPr lang="en-US" sz="2800" b="1" dirty="0">
                <a:solidFill>
                  <a:schemeClr val="accent1"/>
                </a:solidFill>
              </a:rPr>
              <a:t>1NF</a:t>
            </a:r>
            <a:endParaRPr lang="en-US" sz="2800" dirty="0"/>
          </a:p>
        </p:txBody>
      </p:sp>
      <p:sp>
        <p:nvSpPr>
          <p:cNvPr id="7" name="Text 5"/>
          <p:cNvSpPr txBox="1"/>
          <p:nvPr/>
        </p:nvSpPr>
        <p:spPr>
          <a:xfrm>
            <a:off x="1737360" y="1188720"/>
            <a:ext cx="2240280" cy="1188720"/>
          </a:xfrm>
          <a:prstGeom prst="rect">
            <a:avLst/>
          </a:prstGeom>
          <a:noFill/>
          <a:ln/>
        </p:spPr>
        <p:txBody>
          <a:bodyPr wrap="square" lIns="0" tIns="0" rIns="0" bIns="0" rtlCol="0" anchor="ctr"/>
          <a:lstStyle/>
          <a:p>
            <a:pPr indent="0" marL="0">
              <a:buNone/>
            </a:pPr>
            <a:r>
              <a:rPr lang="en-US" sz="1400" dirty="0">
                <a:solidFill>
                  <a:schemeClr val="tx1"/>
                </a:solidFill>
              </a:rPr>
              <a:t>Atomic values only, no repeating groups</a:t>
            </a:r>
            <a:endParaRPr lang="en-US" sz="1400" dirty="0"/>
          </a:p>
        </p:txBody>
      </p:sp>
      <p:sp>
        <p:nvSpPr>
          <p:cNvPr id="8" name="2NF card"/>
          <p:cNvSpPr/>
          <p:nvPr/>
        </p:nvSpPr>
        <p:spPr>
          <a:xfrm>
            <a:off x="4311396" y="1188720"/>
            <a:ext cx="3566160" cy="1188720"/>
          </a:xfrm>
          <a:prstGeom prst="roundRect">
            <a:avLst>
              <a:gd name="adj" fmla="val 7692"/>
            </a:avLst>
          </a:prstGeom>
          <a:solidFill>
            <a:schemeClr val="bg2"/>
          </a:solidFill>
          <a:ln w="12700">
            <a:solidFill>
              <a:schemeClr val="bg2"/>
            </a:solidFill>
            <a:prstDash val="solid"/>
          </a:ln>
        </p:spPr>
      </p:sp>
      <p:sp>
        <p:nvSpPr>
          <p:cNvPr id="9" name="Text 7"/>
          <p:cNvSpPr txBox="1"/>
          <p:nvPr/>
        </p:nvSpPr>
        <p:spPr>
          <a:xfrm>
            <a:off x="4539996" y="1188720"/>
            <a:ext cx="914400" cy="1188720"/>
          </a:xfrm>
          <a:prstGeom prst="rect">
            <a:avLst/>
          </a:prstGeom>
          <a:noFill/>
          <a:ln/>
        </p:spPr>
        <p:txBody>
          <a:bodyPr wrap="square" lIns="0" tIns="0" rIns="0" bIns="0" rtlCol="0" anchor="ctr"/>
          <a:lstStyle/>
          <a:p>
            <a:pPr indent="0" marL="0">
              <a:buNone/>
            </a:pPr>
            <a:r>
              <a:rPr lang="en-US" sz="2800" b="1" dirty="0">
                <a:solidFill>
                  <a:schemeClr val="accent1"/>
                </a:solidFill>
              </a:rPr>
              <a:t>2NF</a:t>
            </a:r>
            <a:endParaRPr lang="en-US" sz="2800" dirty="0"/>
          </a:p>
        </p:txBody>
      </p:sp>
      <p:sp>
        <p:nvSpPr>
          <p:cNvPr id="10" name="Text 8"/>
          <p:cNvSpPr txBox="1"/>
          <p:nvPr/>
        </p:nvSpPr>
        <p:spPr>
          <a:xfrm>
            <a:off x="5500116" y="1188720"/>
            <a:ext cx="2240280" cy="1188720"/>
          </a:xfrm>
          <a:prstGeom prst="rect">
            <a:avLst/>
          </a:prstGeom>
          <a:noFill/>
          <a:ln/>
        </p:spPr>
        <p:txBody>
          <a:bodyPr wrap="square" lIns="0" tIns="0" rIns="0" bIns="0" rtlCol="0" anchor="ctr"/>
          <a:lstStyle/>
          <a:p>
            <a:pPr indent="0" marL="0">
              <a:buNone/>
            </a:pPr>
            <a:r>
              <a:rPr lang="en-US" sz="1400" dirty="0">
                <a:solidFill>
                  <a:schemeClr val="tx1"/>
                </a:solidFill>
              </a:rPr>
              <a:t>Every table has a single-column key, so no partial dependencies</a:t>
            </a:r>
            <a:endParaRPr lang="en-US" sz="1400" dirty="0"/>
          </a:p>
        </p:txBody>
      </p:sp>
      <p:sp>
        <p:nvSpPr>
          <p:cNvPr id="11" name="3NF card"/>
          <p:cNvSpPr/>
          <p:nvPr/>
        </p:nvSpPr>
        <p:spPr>
          <a:xfrm>
            <a:off x="8074152" y="1188720"/>
            <a:ext cx="3566160" cy="1188720"/>
          </a:xfrm>
          <a:prstGeom prst="roundRect">
            <a:avLst>
              <a:gd name="adj" fmla="val 7692"/>
            </a:avLst>
          </a:prstGeom>
          <a:solidFill>
            <a:schemeClr val="bg2"/>
          </a:solidFill>
          <a:ln w="12700">
            <a:solidFill>
              <a:schemeClr val="bg2"/>
            </a:solidFill>
            <a:prstDash val="solid"/>
          </a:ln>
        </p:spPr>
      </p:sp>
      <p:sp>
        <p:nvSpPr>
          <p:cNvPr id="12" name="Text 10"/>
          <p:cNvSpPr txBox="1"/>
          <p:nvPr/>
        </p:nvSpPr>
        <p:spPr>
          <a:xfrm>
            <a:off x="8302752" y="1188720"/>
            <a:ext cx="914400" cy="1188720"/>
          </a:xfrm>
          <a:prstGeom prst="rect">
            <a:avLst/>
          </a:prstGeom>
          <a:noFill/>
          <a:ln/>
        </p:spPr>
        <p:txBody>
          <a:bodyPr wrap="square" lIns="0" tIns="0" rIns="0" bIns="0" rtlCol="0" anchor="ctr"/>
          <a:lstStyle/>
          <a:p>
            <a:pPr indent="0" marL="0">
              <a:buNone/>
            </a:pPr>
            <a:r>
              <a:rPr lang="en-US" sz="2800" b="1" dirty="0">
                <a:solidFill>
                  <a:schemeClr val="accent1"/>
                </a:solidFill>
              </a:rPr>
              <a:t>3NF</a:t>
            </a:r>
            <a:endParaRPr lang="en-US" sz="2800" dirty="0"/>
          </a:p>
        </p:txBody>
      </p:sp>
      <p:sp>
        <p:nvSpPr>
          <p:cNvPr id="13" name="Text 11"/>
          <p:cNvSpPr txBox="1"/>
          <p:nvPr/>
        </p:nvSpPr>
        <p:spPr>
          <a:xfrm>
            <a:off x="9262872" y="1188720"/>
            <a:ext cx="2240280" cy="1188720"/>
          </a:xfrm>
          <a:prstGeom prst="rect">
            <a:avLst/>
          </a:prstGeom>
          <a:noFill/>
          <a:ln/>
        </p:spPr>
        <p:txBody>
          <a:bodyPr wrap="square" lIns="0" tIns="0" rIns="0" bIns="0" rtlCol="0" anchor="ctr"/>
          <a:lstStyle/>
          <a:p>
            <a:pPr indent="0" marL="0">
              <a:buNone/>
            </a:pPr>
            <a:r>
              <a:rPr lang="en-US" sz="1400" dirty="0">
                <a:solidFill>
                  <a:schemeClr val="tx1"/>
                </a:solidFill>
              </a:rPr>
              <a:t>No transitive dependencies: a unit's blood group comes via donation and donor</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606040"/>
          <a:ext cx="11091672" cy="914400"/>
        </p:xfrm>
        <a:graphic>
          <a:graphicData uri="http://schemas.openxmlformats.org/drawingml/2006/table">
            <a:tbl>
              <a:tblPr/>
              <a:tblGrid>
                <a:gridCol w="1737360"/>
                <a:gridCol w="6766560"/>
                <a:gridCol w="2587752"/>
              </a:tblGrid>
              <a:tr h="365760">
                <a:tc>
                  <a:txBody>
                    <a:bodyPr/>
                    <a:lstStyle/>
                    <a:p>
                      <a:pPr indent="0" marL="0">
                        <a:buNone/>
                      </a:pPr>
                      <a:r>
                        <a:rPr lang="en-US" sz="1300" b="1" dirty="0">
                          <a:solidFill>
                            <a:srgbClr val="FFFFFF"/>
                          </a:solidFill>
                        </a:rPr>
                        <a:t>Table</a:t>
                      </a:r>
                      <a:endParaRPr lang="en-US" sz="13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B3203A"/>
                    </a:solidFill>
                  </a:tcPr>
                </a:tc>
                <a:tc>
                  <a:txBody>
                    <a:bodyPr/>
                    <a:lstStyle/>
                    <a:p>
                      <a:pPr indent="0" marL="0">
                        <a:buNone/>
                      </a:pPr>
                      <a:r>
                        <a:rPr lang="en-US" sz="1300" b="1" dirty="0">
                          <a:solidFill>
                            <a:srgbClr val="FFFFFF"/>
                          </a:solidFill>
                        </a:rPr>
                        <a:t>Functional dependencies</a:t>
                      </a:r>
                      <a:endParaRPr lang="en-US" sz="13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B3203A"/>
                    </a:solidFill>
                  </a:tcPr>
                </a:tc>
                <a:tc>
                  <a:txBody>
                    <a:bodyPr/>
                    <a:lstStyle/>
                    <a:p>
                      <a:pPr indent="0" marL="0">
                        <a:buNone/>
                      </a:pPr>
                      <a:r>
                        <a:rPr lang="en-US" sz="1300" b="1" dirty="0">
                          <a:solidFill>
                            <a:srgbClr val="FFFFFF"/>
                          </a:solidFill>
                        </a:rPr>
                        <a:t>Candidate keys</a:t>
                      </a:r>
                      <a:endParaRPr lang="en-US" sz="13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B3203A"/>
                    </a:solidFill>
                  </a:tcPr>
                </a:tc>
              </a:tr>
              <a:tr h="530352">
                <a:tc>
                  <a:txBody>
                    <a:bodyPr/>
                    <a:lstStyle/>
                    <a:p>
                      <a:pPr indent="0" marL="0">
                        <a:buNone/>
                      </a:pPr>
                      <a:r>
                        <a:rPr lang="en-US" sz="1300" b="1" dirty="0">
                          <a:solidFill>
                            <a:srgbClr val="B3203A"/>
                          </a:solidFill>
                        </a:rPr>
                        <a:t>DONOR</a:t>
                      </a:r>
                      <a:endParaRPr lang="en-US" sz="13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FFFFF"/>
                    </a:solidFill>
                  </a:tcPr>
                </a:tc>
                <a:tc>
                  <a:txBody>
                    <a:bodyPr/>
                    <a:lstStyle/>
                    <a:p>
                      <a:pPr indent="0" marL="0">
                        <a:buNone/>
                      </a:pPr>
                      <a:r>
                        <a:rPr lang="en-US" sz="1300" dirty="0">
                          <a:solidFill>
                            <a:srgbClr val="1F1A1B"/>
                          </a:solidFill>
                        </a:rPr>
                        <a:t>donor_id → full_name, date_of_birth, gender, blood_group, phone, city</a:t>
                      </a:r>
                      <a:endParaRPr lang="en-US" sz="13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FFFFF"/>
                    </a:solidFill>
                  </a:tcPr>
                </a:tc>
                <a:tc>
                  <a:txBody>
                    <a:bodyPr/>
                    <a:lstStyle/>
                    <a:p>
                      <a:pPr indent="0" marL="0">
                        <a:buNone/>
                      </a:pPr>
                      <a:r>
                        <a:rPr lang="en-US" sz="1300" dirty="0">
                          <a:solidFill>
                            <a:srgbClr val="1F1A1B"/>
                          </a:solidFill>
                        </a:rPr>
                        <a:t>donor_id, phone</a:t>
                      </a:r>
                      <a:endParaRPr lang="en-US" sz="13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FFFFF"/>
                    </a:solidFill>
                  </a:tcPr>
                </a:tc>
              </a:tr>
              <a:tr h="530352">
                <a:tc>
                  <a:txBody>
                    <a:bodyPr/>
                    <a:lstStyle/>
                    <a:p>
                      <a:pPr indent="0" marL="0">
                        <a:buNone/>
                      </a:pPr>
                      <a:r>
                        <a:rPr lang="en-US" sz="1300" b="1" dirty="0">
                          <a:solidFill>
                            <a:srgbClr val="B3203A"/>
                          </a:solidFill>
                        </a:rPr>
                        <a:t>DONATION</a:t>
                      </a:r>
                      <a:endParaRPr lang="en-US" sz="13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BEFF1"/>
                    </a:solidFill>
                  </a:tcPr>
                </a:tc>
                <a:tc>
                  <a:txBody>
                    <a:bodyPr/>
                    <a:lstStyle/>
                    <a:p>
                      <a:pPr indent="0" marL="0">
                        <a:buNone/>
                      </a:pPr>
                      <a:r>
                        <a:rPr lang="en-US" sz="1300" dirty="0">
                          <a:solidFill>
                            <a:srgbClr val="1F1A1B"/>
                          </a:solidFill>
                        </a:rPr>
                        <a:t>donation_id → donor_id, donation_date, volume_ml, hemoglobin_gdl, screening_status</a:t>
                      </a:r>
                      <a:endParaRPr lang="en-US" sz="13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BEFF1"/>
                    </a:solidFill>
                  </a:tcPr>
                </a:tc>
                <a:tc>
                  <a:txBody>
                    <a:bodyPr/>
                    <a:lstStyle/>
                    <a:p>
                      <a:pPr indent="0" marL="0">
                        <a:buNone/>
                      </a:pPr>
                      <a:r>
                        <a:rPr lang="en-US" sz="1300" dirty="0">
                          <a:solidFill>
                            <a:srgbClr val="1F1A1B"/>
                          </a:solidFill>
                        </a:rPr>
                        <a:t>donation_id</a:t>
                      </a:r>
                      <a:endParaRPr lang="en-US" sz="13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BEFF1"/>
                    </a:solidFill>
                  </a:tcPr>
                </a:tc>
              </a:tr>
              <a:tr h="530352">
                <a:tc>
                  <a:txBody>
                    <a:bodyPr/>
                    <a:lstStyle/>
                    <a:p>
                      <a:pPr indent="0" marL="0">
                        <a:buNone/>
                      </a:pPr>
                      <a:r>
                        <a:rPr lang="en-US" sz="1300" b="1" dirty="0">
                          <a:solidFill>
                            <a:srgbClr val="B3203A"/>
                          </a:solidFill>
                        </a:rPr>
                        <a:t>BLOOD_UNIT</a:t>
                      </a:r>
                      <a:endParaRPr lang="en-US" sz="13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FFFFF"/>
                    </a:solidFill>
                  </a:tcPr>
                </a:tc>
                <a:tc>
                  <a:txBody>
                    <a:bodyPr/>
                    <a:lstStyle/>
                    <a:p>
                      <a:pPr indent="0" marL="0">
                        <a:buNone/>
                      </a:pPr>
                      <a:r>
                        <a:rPr lang="en-US" sz="1300" dirty="0">
                          <a:solidFill>
                            <a:srgbClr val="1F1A1B"/>
                          </a:solidFill>
                        </a:rPr>
                        <a:t>unit_id → donation_id, component, expiry_date, status</a:t>
                      </a:r>
                      <a:endParaRPr lang="en-US" sz="13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FFFFF"/>
                    </a:solidFill>
                  </a:tcPr>
                </a:tc>
                <a:tc>
                  <a:txBody>
                    <a:bodyPr/>
                    <a:lstStyle/>
                    <a:p>
                      <a:pPr indent="0" marL="0">
                        <a:buNone/>
                      </a:pPr>
                      <a:r>
                        <a:rPr lang="en-US" sz="1300" dirty="0">
                          <a:solidFill>
                            <a:srgbClr val="1F1A1B"/>
                          </a:solidFill>
                        </a:rPr>
                        <a:t>unit_id</a:t>
                      </a:r>
                      <a:endParaRPr lang="en-US" sz="13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FFFFF"/>
                    </a:solidFill>
                  </a:tcPr>
                </a:tc>
              </a:tr>
              <a:tr h="530352">
                <a:tc>
                  <a:txBody>
                    <a:bodyPr/>
                    <a:lstStyle/>
                    <a:p>
                      <a:pPr indent="0" marL="0">
                        <a:buNone/>
                      </a:pPr>
                      <a:r>
                        <a:rPr lang="en-US" sz="1300" b="1" dirty="0">
                          <a:solidFill>
                            <a:srgbClr val="B3203A"/>
                          </a:solidFill>
                        </a:rPr>
                        <a:t>HOSPITAL</a:t>
                      </a:r>
                      <a:endParaRPr lang="en-US" sz="13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BEFF1"/>
                    </a:solidFill>
                  </a:tcPr>
                </a:tc>
                <a:tc>
                  <a:txBody>
                    <a:bodyPr/>
                    <a:lstStyle/>
                    <a:p>
                      <a:pPr indent="0" marL="0">
                        <a:buNone/>
                      </a:pPr>
                      <a:r>
                        <a:rPr lang="en-US" sz="1300" dirty="0">
                          <a:solidFill>
                            <a:srgbClr val="1F1A1B"/>
                          </a:solidFill>
                        </a:rPr>
                        <a:t>hospital_id → hospital_name, license_no, contact_person, phone, city</a:t>
                      </a:r>
                      <a:endParaRPr lang="en-US" sz="13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BEFF1"/>
                    </a:solidFill>
                  </a:tcPr>
                </a:tc>
                <a:tc>
                  <a:txBody>
                    <a:bodyPr/>
                    <a:lstStyle/>
                    <a:p>
                      <a:pPr indent="0" marL="0">
                        <a:buNone/>
                      </a:pPr>
                      <a:r>
                        <a:rPr lang="en-US" sz="1300" dirty="0">
                          <a:solidFill>
                            <a:srgbClr val="1F1A1B"/>
                          </a:solidFill>
                        </a:rPr>
                        <a:t>hospital_id, license_no</a:t>
                      </a:r>
                      <a:endParaRPr lang="en-US" sz="13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BEFF1"/>
                    </a:solidFill>
                  </a:tcPr>
                </a:tc>
              </a:tr>
              <a:tr h="530352">
                <a:tc>
                  <a:txBody>
                    <a:bodyPr/>
                    <a:lstStyle/>
                    <a:p>
                      <a:pPr indent="0" marL="0">
                        <a:buNone/>
                      </a:pPr>
                      <a:r>
                        <a:rPr lang="en-US" sz="1300" b="1" dirty="0">
                          <a:solidFill>
                            <a:srgbClr val="B3203A"/>
                          </a:solidFill>
                        </a:rPr>
                        <a:t>BLOOD_REQUEST</a:t>
                      </a:r>
                      <a:endParaRPr lang="en-US" sz="13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FFFFF"/>
                    </a:solidFill>
                  </a:tcPr>
                </a:tc>
                <a:tc>
                  <a:txBody>
                    <a:bodyPr/>
                    <a:lstStyle/>
                    <a:p>
                      <a:pPr indent="0" marL="0">
                        <a:buNone/>
                      </a:pPr>
                      <a:r>
                        <a:rPr lang="en-US" sz="1300" dirty="0">
                          <a:solidFill>
                            <a:srgbClr val="1F1A1B"/>
                          </a:solidFill>
                        </a:rPr>
                        <a:t>request_id → hospital_id, blood_group, component, units_required, urgency, request_date, status</a:t>
                      </a:r>
                      <a:endParaRPr lang="en-US" sz="13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FFFFF"/>
                    </a:solidFill>
                  </a:tcPr>
                </a:tc>
                <a:tc>
                  <a:txBody>
                    <a:bodyPr/>
                    <a:lstStyle/>
                    <a:p>
                      <a:pPr indent="0" marL="0">
                        <a:buNone/>
                      </a:pPr>
                      <a:r>
                        <a:rPr lang="en-US" sz="1300" dirty="0">
                          <a:solidFill>
                            <a:srgbClr val="1F1A1B"/>
                          </a:solidFill>
                        </a:rPr>
                        <a:t>request_id</a:t>
                      </a:r>
                      <a:endParaRPr lang="en-US" sz="13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FFFFF"/>
                    </a:solidFill>
                  </a:tcPr>
                </a:tc>
              </a:tr>
              <a:tr h="530352">
                <a:tc>
                  <a:txBody>
                    <a:bodyPr/>
                    <a:lstStyle/>
                    <a:p>
                      <a:pPr indent="0" marL="0">
                        <a:buNone/>
                      </a:pPr>
                      <a:r>
                        <a:rPr lang="en-US" sz="1300" b="1" dirty="0">
                          <a:solidFill>
                            <a:srgbClr val="B3203A"/>
                          </a:solidFill>
                        </a:rPr>
                        <a:t>BLOOD_ISSUE</a:t>
                      </a:r>
                      <a:endParaRPr lang="en-US" sz="13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BEFF1"/>
                    </a:solidFill>
                  </a:tcPr>
                </a:tc>
                <a:tc>
                  <a:txBody>
                    <a:bodyPr/>
                    <a:lstStyle/>
                    <a:p>
                      <a:pPr indent="0" marL="0">
                        <a:buNone/>
                      </a:pPr>
                      <a:r>
                        <a:rPr lang="en-US" sz="1300" dirty="0">
                          <a:solidFill>
                            <a:srgbClr val="1F1A1B"/>
                          </a:solidFill>
                        </a:rPr>
                        <a:t>issue_id → request_id, unit_id, issue_date, issued_by, remarks</a:t>
                      </a:r>
                      <a:endParaRPr lang="en-US" sz="13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BEFF1"/>
                    </a:solidFill>
                  </a:tcPr>
                </a:tc>
                <a:tc>
                  <a:txBody>
                    <a:bodyPr/>
                    <a:lstStyle/>
                    <a:p>
                      <a:pPr indent="0" marL="0">
                        <a:buNone/>
                      </a:pPr>
                      <a:r>
                        <a:rPr lang="en-US" sz="1300" dirty="0">
                          <a:solidFill>
                            <a:srgbClr val="1F1A1B"/>
                          </a:solidFill>
                        </a:rPr>
                        <a:t>issue_id, unit_id</a:t>
                      </a:r>
                      <a:endParaRPr lang="en-US" sz="13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BEFF1"/>
                    </a:solidFill>
                  </a:tcPr>
                </a:tc>
              </a:tr>
            </a:tbl>
          </a:graphicData>
        </a:graphic>
      </p:graphicFrame>
      <p:sp>
        <p:nvSpPr>
          <p:cNvPr id="25" name="Slide Number Placeholder 0"/>
          <p:cNvSpPr>
            <a:spLocks noGrp="1"/>
          </p:cNvSpPr>
          <p:nvPr>
            <p:ph type="sldNum" sz="quarter" idx="4294967295"/>
          </p:nvPr>
        </p:nvSpPr>
        <p:spPr>
          <a:xfrm>
            <a:off x="11064240" y="647395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731520"/>
          </a:xfrm>
          <a:prstGeom prst="rect">
            <a:avLst/>
          </a:prstGeom>
          <a:noFill/>
          <a:ln/>
        </p:spPr>
        <p:txBody>
          <a:bodyPr wrap="square" lIns="0" tIns="0" rIns="0" bIns="0" rtlCol="0" anchor="ctr"/>
          <a:lstStyle/>
          <a:p>
            <a:pPr algn="l" indent="0" marL="0">
              <a:buNone/>
            </a:pPr>
            <a:r>
              <a:rPr lang="en-US" sz="3400" b="1" dirty="0">
                <a:solidFill>
                  <a:schemeClr val="tx2"/>
                </a:solidFill>
              </a:rPr>
              <a:t>Data Dictionary</a:t>
            </a:r>
            <a:endParaRPr lang="en-US" sz="3400" dirty="0"/>
          </a:p>
        </p:txBody>
      </p:sp>
      <p:sp>
        <p:nvSpPr>
          <p:cNvPr id="3" name="Review tag"/>
          <p:cNvSpPr/>
          <p:nvPr/>
        </p:nvSpPr>
        <p:spPr>
          <a:xfrm>
            <a:off x="9079992" y="420624"/>
            <a:ext cx="2560320" cy="329184"/>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9079992" y="420624"/>
            <a:ext cx="2560320" cy="329184"/>
          </a:xfrm>
          <a:prstGeom prst="rect">
            <a:avLst/>
          </a:prstGeom>
          <a:noFill/>
          <a:ln/>
        </p:spPr>
        <p:txBody>
          <a:bodyPr wrap="square" lIns="0" tIns="0" rIns="0" bIns="0" rtlCol="0" anchor="ctr"/>
          <a:lstStyle/>
          <a:p>
            <a:pPr algn="ctr" indent="0" marL="0">
              <a:buNone/>
            </a:pPr>
            <a:r>
              <a:rPr lang="en-US" sz="1200" b="1" spc="100" kern="0" dirty="0">
                <a:solidFill>
                  <a:schemeClr val="accent1"/>
                </a:solidFill>
              </a:rPr>
              <a:t>REVIEW 2  |  WEEK 11</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091672" cy="914400"/>
        </p:xfrm>
        <a:graphic>
          <a:graphicData uri="http://schemas.openxmlformats.org/drawingml/2006/table">
            <a:tbl>
              <a:tblPr/>
              <a:tblGrid>
                <a:gridCol w="1645920"/>
                <a:gridCol w="1737360"/>
                <a:gridCol w="1554480"/>
                <a:gridCol w="2286000"/>
                <a:gridCol w="3867912"/>
              </a:tblGrid>
              <a:tr h="365760">
                <a:tc>
                  <a:txBody>
                    <a:bodyPr/>
                    <a:lstStyle/>
                    <a:p>
                      <a:pPr indent="0" marL="0">
                        <a:buNone/>
                      </a:pPr>
                      <a:r>
                        <a:rPr lang="en-US" sz="1200" b="1" dirty="0">
                          <a:solidFill>
                            <a:srgbClr val="FFFFFF"/>
                          </a:solidFill>
                        </a:rPr>
                        <a:t>Table</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B3203A"/>
                    </a:solidFill>
                  </a:tcPr>
                </a:tc>
                <a:tc>
                  <a:txBody>
                    <a:bodyPr/>
                    <a:lstStyle/>
                    <a:p>
                      <a:pPr indent="0" marL="0">
                        <a:buNone/>
                      </a:pPr>
                      <a:r>
                        <a:rPr lang="en-US" sz="1200" b="1" dirty="0">
                          <a:solidFill>
                            <a:srgbClr val="FFFFFF"/>
                          </a:solidFill>
                        </a:rPr>
                        <a:t>Column</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B3203A"/>
                    </a:solidFill>
                  </a:tcPr>
                </a:tc>
                <a:tc>
                  <a:txBody>
                    <a:bodyPr/>
                    <a:lstStyle/>
                    <a:p>
                      <a:pPr indent="0" marL="0">
                        <a:buNone/>
                      </a:pPr>
                      <a:r>
                        <a:rPr lang="en-US" sz="1200" b="1" dirty="0">
                          <a:solidFill>
                            <a:srgbClr val="FFFFFF"/>
                          </a:solidFill>
                        </a:rPr>
                        <a:t>Type</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B3203A"/>
                    </a:solidFill>
                  </a:tcPr>
                </a:tc>
                <a:tc>
                  <a:txBody>
                    <a:bodyPr/>
                    <a:lstStyle/>
                    <a:p>
                      <a:pPr indent="0" marL="0">
                        <a:buNone/>
                      </a:pPr>
                      <a:r>
                        <a:rPr lang="en-US" sz="1200" b="1" dirty="0">
                          <a:solidFill>
                            <a:srgbClr val="FFFFFF"/>
                          </a:solidFill>
                        </a:rPr>
                        <a:t>Constraint</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B3203A"/>
                    </a:solidFill>
                  </a:tcPr>
                </a:tc>
                <a:tc>
                  <a:txBody>
                    <a:bodyPr/>
                    <a:lstStyle/>
                    <a:p>
                      <a:pPr indent="0" marL="0">
                        <a:buNone/>
                      </a:pPr>
                      <a:r>
                        <a:rPr lang="en-US" sz="1200" b="1" dirty="0">
                          <a:solidFill>
                            <a:srgbClr val="FFFFFF"/>
                          </a:solidFill>
                        </a:rPr>
                        <a:t>Description</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B3203A"/>
                    </a:solidFill>
                  </a:tcPr>
                </a:tc>
              </a:tr>
              <a:tr h="374904">
                <a:tc>
                  <a:txBody>
                    <a:bodyPr/>
                    <a:lstStyle/>
                    <a:p>
                      <a:pPr indent="0" marL="0">
                        <a:buNone/>
                      </a:pPr>
                      <a:r>
                        <a:rPr lang="en-US" sz="1200" b="1" dirty="0">
                          <a:solidFill>
                            <a:srgbClr val="B3203A"/>
                          </a:solidFill>
                        </a:rPr>
                        <a:t>DONOR</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FFFFF"/>
                    </a:solidFill>
                  </a:tcPr>
                </a:tc>
                <a:tc>
                  <a:txBody>
                    <a:bodyPr/>
                    <a:lstStyle/>
                    <a:p>
                      <a:pPr indent="0" marL="0">
                        <a:buNone/>
                      </a:pPr>
                      <a:r>
                        <a:rPr lang="en-US" sz="1200" dirty="0">
                          <a:solidFill>
                            <a:srgbClr val="1F1A1B"/>
                          </a:solidFill>
                        </a:rPr>
                        <a:t>donor_id</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FFFFF"/>
                    </a:solidFill>
                  </a:tcPr>
                </a:tc>
                <a:tc>
                  <a:txBody>
                    <a:bodyPr/>
                    <a:lstStyle/>
                    <a:p>
                      <a:pPr indent="0" marL="0">
                        <a:buNone/>
                      </a:pPr>
                      <a:r>
                        <a:rPr lang="en-US" sz="1200" dirty="0">
                          <a:solidFill>
                            <a:srgbClr val="1F1A1B"/>
                          </a:solidFill>
                        </a:rPr>
                        <a:t>INT</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FFFFF"/>
                    </a:solidFill>
                  </a:tcPr>
                </a:tc>
                <a:tc>
                  <a:txBody>
                    <a:bodyPr/>
                    <a:lstStyle/>
                    <a:p>
                      <a:pPr indent="0" marL="0">
                        <a:buNone/>
                      </a:pPr>
                      <a:r>
                        <a:rPr lang="en-US" sz="1200" dirty="0">
                          <a:solidFill>
                            <a:srgbClr val="1F1A1B"/>
                          </a:solidFill>
                        </a:rPr>
                        <a:t>PK, AUTO_INCREMENT</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FFFFF"/>
                    </a:solidFill>
                  </a:tcPr>
                </a:tc>
                <a:tc>
                  <a:txBody>
                    <a:bodyPr/>
                    <a:lstStyle/>
                    <a:p>
                      <a:pPr indent="0" marL="0">
                        <a:buNone/>
                      </a:pPr>
                      <a:r>
                        <a:rPr lang="en-US" sz="1200" dirty="0">
                          <a:solidFill>
                            <a:srgbClr val="1F1A1B"/>
                          </a:solidFill>
                        </a:rPr>
                        <a:t>Unique donor identifier</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FFFFF"/>
                    </a:solidFill>
                  </a:tcPr>
                </a:tc>
              </a:tr>
              <a:tr h="374904">
                <a:tc>
                  <a:txBody>
                    <a:bodyPr/>
                    <a:lstStyle/>
                    <a:p>
                      <a:pPr indent="0" marL="0">
                        <a:buNone/>
                      </a:pPr>
                      <a:r>
                        <a:rPr lang="en-US" sz="1200" b="1" dirty="0">
                          <a:solidFill>
                            <a:srgbClr val="B3203A"/>
                          </a:solidFill>
                        </a:rPr>
                        <a:t>DONOR</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BEFF1"/>
                    </a:solidFill>
                  </a:tcPr>
                </a:tc>
                <a:tc>
                  <a:txBody>
                    <a:bodyPr/>
                    <a:lstStyle/>
                    <a:p>
                      <a:pPr indent="0" marL="0">
                        <a:buNone/>
                      </a:pPr>
                      <a:r>
                        <a:rPr lang="en-US" sz="1200" dirty="0">
                          <a:solidFill>
                            <a:srgbClr val="1F1A1B"/>
                          </a:solidFill>
                        </a:rPr>
                        <a:t>blood_group</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BEFF1"/>
                    </a:solidFill>
                  </a:tcPr>
                </a:tc>
                <a:tc>
                  <a:txBody>
                    <a:bodyPr/>
                    <a:lstStyle/>
                    <a:p>
                      <a:pPr indent="0" marL="0">
                        <a:buNone/>
                      </a:pPr>
                      <a:r>
                        <a:rPr lang="en-US" sz="1200" dirty="0">
                          <a:solidFill>
                            <a:srgbClr val="1F1A1B"/>
                          </a:solidFill>
                        </a:rPr>
                        <a:t>VARCHAR(3)</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BEFF1"/>
                    </a:solidFill>
                  </a:tcPr>
                </a:tc>
                <a:tc>
                  <a:txBody>
                    <a:bodyPr/>
                    <a:lstStyle/>
                    <a:p>
                      <a:pPr indent="0" marL="0">
                        <a:buNone/>
                      </a:pPr>
                      <a:r>
                        <a:rPr lang="en-US" sz="1200" dirty="0">
                          <a:solidFill>
                            <a:srgbClr val="1F1A1B"/>
                          </a:solidFill>
                        </a:rPr>
                        <a:t>NOT NULL, CHECK</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BEFF1"/>
                    </a:solidFill>
                  </a:tcPr>
                </a:tc>
                <a:tc>
                  <a:txBody>
                    <a:bodyPr/>
                    <a:lstStyle/>
                    <a:p>
                      <a:pPr indent="0" marL="0">
                        <a:buNone/>
                      </a:pPr>
                      <a:r>
                        <a:rPr lang="en-US" sz="1200" dirty="0">
                          <a:solidFill>
                            <a:srgbClr val="1F1A1B"/>
                          </a:solidFill>
                        </a:rPr>
                        <a:t>One of the 8 ABO and Rh groups</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BEFF1"/>
                    </a:solidFill>
                  </a:tcPr>
                </a:tc>
              </a:tr>
              <a:tr h="374904">
                <a:tc>
                  <a:txBody>
                    <a:bodyPr/>
                    <a:lstStyle/>
                    <a:p>
                      <a:pPr indent="0" marL="0">
                        <a:buNone/>
                      </a:pPr>
                      <a:r>
                        <a:rPr lang="en-US" sz="1200" b="1" dirty="0">
                          <a:solidFill>
                            <a:srgbClr val="B3203A"/>
                          </a:solidFill>
                        </a:rPr>
                        <a:t>DONOR</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FFFFF"/>
                    </a:solidFill>
                  </a:tcPr>
                </a:tc>
                <a:tc>
                  <a:txBody>
                    <a:bodyPr/>
                    <a:lstStyle/>
                    <a:p>
                      <a:pPr indent="0" marL="0">
                        <a:buNone/>
                      </a:pPr>
                      <a:r>
                        <a:rPr lang="en-US" sz="1200" dirty="0">
                          <a:solidFill>
                            <a:srgbClr val="1F1A1B"/>
                          </a:solidFill>
                        </a:rPr>
                        <a:t>phone</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FFFFF"/>
                    </a:solidFill>
                  </a:tcPr>
                </a:tc>
                <a:tc>
                  <a:txBody>
                    <a:bodyPr/>
                    <a:lstStyle/>
                    <a:p>
                      <a:pPr indent="0" marL="0">
                        <a:buNone/>
                      </a:pPr>
                      <a:r>
                        <a:rPr lang="en-US" sz="1200" dirty="0">
                          <a:solidFill>
                            <a:srgbClr val="1F1A1B"/>
                          </a:solidFill>
                        </a:rPr>
                        <a:t>VARCHAR(15)</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FFFFF"/>
                    </a:solidFill>
                  </a:tcPr>
                </a:tc>
                <a:tc>
                  <a:txBody>
                    <a:bodyPr/>
                    <a:lstStyle/>
                    <a:p>
                      <a:pPr indent="0" marL="0">
                        <a:buNone/>
                      </a:pPr>
                      <a:r>
                        <a:rPr lang="en-US" sz="1200" dirty="0">
                          <a:solidFill>
                            <a:srgbClr val="1F1A1B"/>
                          </a:solidFill>
                        </a:rPr>
                        <a:t>NOT NULL, UNIQUE</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FFFFF"/>
                    </a:solidFill>
                  </a:tcPr>
                </a:tc>
                <a:tc>
                  <a:txBody>
                    <a:bodyPr/>
                    <a:lstStyle/>
                    <a:p>
                      <a:pPr indent="0" marL="0">
                        <a:buNone/>
                      </a:pPr>
                      <a:r>
                        <a:rPr lang="en-US" sz="1200" dirty="0">
                          <a:solidFill>
                            <a:srgbClr val="1F1A1B"/>
                          </a:solidFill>
                        </a:rPr>
                        <a:t>Contact number, no duplicates</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FFFFF"/>
                    </a:solidFill>
                  </a:tcPr>
                </a:tc>
              </a:tr>
              <a:tr h="374904">
                <a:tc>
                  <a:txBody>
                    <a:bodyPr/>
                    <a:lstStyle/>
                    <a:p>
                      <a:pPr indent="0" marL="0">
                        <a:buNone/>
                      </a:pPr>
                      <a:r>
                        <a:rPr lang="en-US" sz="1200" b="1" dirty="0">
                          <a:solidFill>
                            <a:srgbClr val="B3203A"/>
                          </a:solidFill>
                        </a:rPr>
                        <a:t>DONATION</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BEFF1"/>
                    </a:solidFill>
                  </a:tcPr>
                </a:tc>
                <a:tc>
                  <a:txBody>
                    <a:bodyPr/>
                    <a:lstStyle/>
                    <a:p>
                      <a:pPr indent="0" marL="0">
                        <a:buNone/>
                      </a:pPr>
                      <a:r>
                        <a:rPr lang="en-US" sz="1200" dirty="0">
                          <a:solidFill>
                            <a:srgbClr val="1F1A1B"/>
                          </a:solidFill>
                        </a:rPr>
                        <a:t>donor_id</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BEFF1"/>
                    </a:solidFill>
                  </a:tcPr>
                </a:tc>
                <a:tc>
                  <a:txBody>
                    <a:bodyPr/>
                    <a:lstStyle/>
                    <a:p>
                      <a:pPr indent="0" marL="0">
                        <a:buNone/>
                      </a:pPr>
                      <a:r>
                        <a:rPr lang="en-US" sz="1200" dirty="0">
                          <a:solidFill>
                            <a:srgbClr val="1F1A1B"/>
                          </a:solidFill>
                        </a:rPr>
                        <a:t>INT</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BEFF1"/>
                    </a:solidFill>
                  </a:tcPr>
                </a:tc>
                <a:tc>
                  <a:txBody>
                    <a:bodyPr/>
                    <a:lstStyle/>
                    <a:p>
                      <a:pPr indent="0" marL="0">
                        <a:buNone/>
                      </a:pPr>
                      <a:r>
                        <a:rPr lang="en-US" sz="1200" dirty="0">
                          <a:solidFill>
                            <a:srgbClr val="1F1A1B"/>
                          </a:solidFill>
                        </a:rPr>
                        <a:t>FK to DONOR</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BEFF1"/>
                    </a:solidFill>
                  </a:tcPr>
                </a:tc>
                <a:tc>
                  <a:txBody>
                    <a:bodyPr/>
                    <a:lstStyle/>
                    <a:p>
                      <a:pPr indent="0" marL="0">
                        <a:buNone/>
                      </a:pPr>
                      <a:r>
                        <a:rPr lang="en-US" sz="1200" dirty="0">
                          <a:solidFill>
                            <a:srgbClr val="1F1A1B"/>
                          </a:solidFill>
                        </a:rPr>
                        <a:t>Who donated</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BEFF1"/>
                    </a:solidFill>
                  </a:tcPr>
                </a:tc>
              </a:tr>
              <a:tr h="374904">
                <a:tc>
                  <a:txBody>
                    <a:bodyPr/>
                    <a:lstStyle/>
                    <a:p>
                      <a:pPr indent="0" marL="0">
                        <a:buNone/>
                      </a:pPr>
                      <a:r>
                        <a:rPr lang="en-US" sz="1200" b="1" dirty="0">
                          <a:solidFill>
                            <a:srgbClr val="B3203A"/>
                          </a:solidFill>
                        </a:rPr>
                        <a:t>DONATION</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FFFFF"/>
                    </a:solidFill>
                  </a:tcPr>
                </a:tc>
                <a:tc>
                  <a:txBody>
                    <a:bodyPr/>
                    <a:lstStyle/>
                    <a:p>
                      <a:pPr indent="0" marL="0">
                        <a:buNone/>
                      </a:pPr>
                      <a:r>
                        <a:rPr lang="en-US" sz="1200" dirty="0">
                          <a:solidFill>
                            <a:srgbClr val="1F1A1B"/>
                          </a:solidFill>
                        </a:rPr>
                        <a:t>volume_ml</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FFFFF"/>
                    </a:solidFill>
                  </a:tcPr>
                </a:tc>
                <a:tc>
                  <a:txBody>
                    <a:bodyPr/>
                    <a:lstStyle/>
                    <a:p>
                      <a:pPr indent="0" marL="0">
                        <a:buNone/>
                      </a:pPr>
                      <a:r>
                        <a:rPr lang="en-US" sz="1200" dirty="0">
                          <a:solidFill>
                            <a:srgbClr val="1F1A1B"/>
                          </a:solidFill>
                        </a:rPr>
                        <a:t>INT</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FFFFF"/>
                    </a:solidFill>
                  </a:tcPr>
                </a:tc>
                <a:tc>
                  <a:txBody>
                    <a:bodyPr/>
                    <a:lstStyle/>
                    <a:p>
                      <a:pPr indent="0" marL="0">
                        <a:buNone/>
                      </a:pPr>
                      <a:r>
                        <a:rPr lang="en-US" sz="1200" dirty="0">
                          <a:solidFill>
                            <a:srgbClr val="1F1A1B"/>
                          </a:solidFill>
                        </a:rPr>
                        <a:t>CHECK 300 to 500</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FFFFF"/>
                    </a:solidFill>
                  </a:tcPr>
                </a:tc>
                <a:tc>
                  <a:txBody>
                    <a:bodyPr/>
                    <a:lstStyle/>
                    <a:p>
                      <a:pPr indent="0" marL="0">
                        <a:buNone/>
                      </a:pPr>
                      <a:r>
                        <a:rPr lang="en-US" sz="1200" dirty="0">
                          <a:solidFill>
                            <a:srgbClr val="1F1A1B"/>
                          </a:solidFill>
                        </a:rPr>
                        <a:t>Volume collected</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FFFFF"/>
                    </a:solidFill>
                  </a:tcPr>
                </a:tc>
              </a:tr>
              <a:tr h="374904">
                <a:tc>
                  <a:txBody>
                    <a:bodyPr/>
                    <a:lstStyle/>
                    <a:p>
                      <a:pPr indent="0" marL="0">
                        <a:buNone/>
                      </a:pPr>
                      <a:r>
                        <a:rPr lang="en-US" sz="1200" b="1" dirty="0">
                          <a:solidFill>
                            <a:srgbClr val="B3203A"/>
                          </a:solidFill>
                        </a:rPr>
                        <a:t>DONATION</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BEFF1"/>
                    </a:solidFill>
                  </a:tcPr>
                </a:tc>
                <a:tc>
                  <a:txBody>
                    <a:bodyPr/>
                    <a:lstStyle/>
                    <a:p>
                      <a:pPr indent="0" marL="0">
                        <a:buNone/>
                      </a:pPr>
                      <a:r>
                        <a:rPr lang="en-US" sz="1200" dirty="0">
                          <a:solidFill>
                            <a:srgbClr val="1F1A1B"/>
                          </a:solidFill>
                        </a:rPr>
                        <a:t>hemoglobin_gdl</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BEFF1"/>
                    </a:solidFill>
                  </a:tcPr>
                </a:tc>
                <a:tc>
                  <a:txBody>
                    <a:bodyPr/>
                    <a:lstStyle/>
                    <a:p>
                      <a:pPr indent="0" marL="0">
                        <a:buNone/>
                      </a:pPr>
                      <a:r>
                        <a:rPr lang="en-US" sz="1200" dirty="0">
                          <a:solidFill>
                            <a:srgbClr val="1F1A1B"/>
                          </a:solidFill>
                        </a:rPr>
                        <a:t>DECIMAL(4,1)</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BEFF1"/>
                    </a:solidFill>
                  </a:tcPr>
                </a:tc>
                <a:tc>
                  <a:txBody>
                    <a:bodyPr/>
                    <a:lstStyle/>
                    <a:p>
                      <a:pPr indent="0" marL="0">
                        <a:buNone/>
                      </a:pPr>
                      <a:r>
                        <a:rPr lang="en-US" sz="1200" dirty="0">
                          <a:solidFill>
                            <a:srgbClr val="1F1A1B"/>
                          </a:solidFill>
                        </a:rPr>
                        <a:t>CHECK 12.5 to 20</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BEFF1"/>
                    </a:solidFill>
                  </a:tcPr>
                </a:tc>
                <a:tc>
                  <a:txBody>
                    <a:bodyPr/>
                    <a:lstStyle/>
                    <a:p>
                      <a:pPr indent="0" marL="0">
                        <a:buNone/>
                      </a:pPr>
                      <a:r>
                        <a:rPr lang="en-US" sz="1200" dirty="0">
                          <a:solidFill>
                            <a:srgbClr val="1F1A1B"/>
                          </a:solidFill>
                        </a:rPr>
                        <a:t>Screening haemoglobin</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BEFF1"/>
                    </a:solidFill>
                  </a:tcPr>
                </a:tc>
              </a:tr>
              <a:tr h="374904">
                <a:tc>
                  <a:txBody>
                    <a:bodyPr/>
                    <a:lstStyle/>
                    <a:p>
                      <a:pPr indent="0" marL="0">
                        <a:buNone/>
                      </a:pPr>
                      <a:r>
                        <a:rPr lang="en-US" sz="1200" b="1" dirty="0">
                          <a:solidFill>
                            <a:srgbClr val="B3203A"/>
                          </a:solidFill>
                        </a:rPr>
                        <a:t>BLOOD_UNIT</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FFFFF"/>
                    </a:solidFill>
                  </a:tcPr>
                </a:tc>
                <a:tc>
                  <a:txBody>
                    <a:bodyPr/>
                    <a:lstStyle/>
                    <a:p>
                      <a:pPr indent="0" marL="0">
                        <a:buNone/>
                      </a:pPr>
                      <a:r>
                        <a:rPr lang="en-US" sz="1200" dirty="0">
                          <a:solidFill>
                            <a:srgbClr val="1F1A1B"/>
                          </a:solidFill>
                        </a:rPr>
                        <a:t>component</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FFFFF"/>
                    </a:solidFill>
                  </a:tcPr>
                </a:tc>
                <a:tc>
                  <a:txBody>
                    <a:bodyPr/>
                    <a:lstStyle/>
                    <a:p>
                      <a:pPr indent="0" marL="0">
                        <a:buNone/>
                      </a:pPr>
                      <a:r>
                        <a:rPr lang="en-US" sz="1200" dirty="0">
                          <a:solidFill>
                            <a:srgbClr val="1F1A1B"/>
                          </a:solidFill>
                        </a:rPr>
                        <a:t>VARCHAR(20)</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FFFFF"/>
                    </a:solidFill>
                  </a:tcPr>
                </a:tc>
                <a:tc>
                  <a:txBody>
                    <a:bodyPr/>
                    <a:lstStyle/>
                    <a:p>
                      <a:pPr indent="0" marL="0">
                        <a:buNone/>
                      </a:pPr>
                      <a:r>
                        <a:rPr lang="en-US" sz="1200" dirty="0">
                          <a:solidFill>
                            <a:srgbClr val="1F1A1B"/>
                          </a:solidFill>
                        </a:rPr>
                        <a:t>NOT NULL</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FFFFF"/>
                    </a:solidFill>
                  </a:tcPr>
                </a:tc>
                <a:tc>
                  <a:txBody>
                    <a:bodyPr/>
                    <a:lstStyle/>
                    <a:p>
                      <a:pPr indent="0" marL="0">
                        <a:buNone/>
                      </a:pPr>
                      <a:r>
                        <a:rPr lang="en-US" sz="1200" dirty="0">
                          <a:solidFill>
                            <a:srgbClr val="1F1A1B"/>
                          </a:solidFill>
                        </a:rPr>
                        <a:t>Whole blood, plasma, platelets, RBC</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FFFFF"/>
                    </a:solidFill>
                  </a:tcPr>
                </a:tc>
              </a:tr>
              <a:tr h="374904">
                <a:tc>
                  <a:txBody>
                    <a:bodyPr/>
                    <a:lstStyle/>
                    <a:p>
                      <a:pPr indent="0" marL="0">
                        <a:buNone/>
                      </a:pPr>
                      <a:r>
                        <a:rPr lang="en-US" sz="1200" b="1" dirty="0">
                          <a:solidFill>
                            <a:srgbClr val="B3203A"/>
                          </a:solidFill>
                        </a:rPr>
                        <a:t>BLOOD_UNIT</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BEFF1"/>
                    </a:solidFill>
                  </a:tcPr>
                </a:tc>
                <a:tc>
                  <a:txBody>
                    <a:bodyPr/>
                    <a:lstStyle/>
                    <a:p>
                      <a:pPr indent="0" marL="0">
                        <a:buNone/>
                      </a:pPr>
                      <a:r>
                        <a:rPr lang="en-US" sz="1200" dirty="0">
                          <a:solidFill>
                            <a:srgbClr val="1F1A1B"/>
                          </a:solidFill>
                        </a:rPr>
                        <a:t>expiry_date</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BEFF1"/>
                    </a:solidFill>
                  </a:tcPr>
                </a:tc>
                <a:tc>
                  <a:txBody>
                    <a:bodyPr/>
                    <a:lstStyle/>
                    <a:p>
                      <a:pPr indent="0" marL="0">
                        <a:buNone/>
                      </a:pPr>
                      <a:r>
                        <a:rPr lang="en-US" sz="1200" dirty="0">
                          <a:solidFill>
                            <a:srgbClr val="1F1A1B"/>
                          </a:solidFill>
                        </a:rPr>
                        <a:t>DATE</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BEFF1"/>
                    </a:solidFill>
                  </a:tcPr>
                </a:tc>
                <a:tc>
                  <a:txBody>
                    <a:bodyPr/>
                    <a:lstStyle/>
                    <a:p>
                      <a:pPr indent="0" marL="0">
                        <a:buNone/>
                      </a:pPr>
                      <a:r>
                        <a:rPr lang="en-US" sz="1200" dirty="0">
                          <a:solidFill>
                            <a:srgbClr val="1F1A1B"/>
                          </a:solidFill>
                        </a:rPr>
                        <a:t>NOT NULL</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BEFF1"/>
                    </a:solidFill>
                  </a:tcPr>
                </a:tc>
                <a:tc>
                  <a:txBody>
                    <a:bodyPr/>
                    <a:lstStyle/>
                    <a:p>
                      <a:pPr indent="0" marL="0">
                        <a:buNone/>
                      </a:pPr>
                      <a:r>
                        <a:rPr lang="en-US" sz="1200" dirty="0">
                          <a:solidFill>
                            <a:srgbClr val="1F1A1B"/>
                          </a:solidFill>
                        </a:rPr>
                        <a:t>Date after which unit is unusable</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BEFF1"/>
                    </a:solidFill>
                  </a:tcPr>
                </a:tc>
              </a:tr>
              <a:tr h="374904">
                <a:tc>
                  <a:txBody>
                    <a:bodyPr/>
                    <a:lstStyle/>
                    <a:p>
                      <a:pPr indent="0" marL="0">
                        <a:buNone/>
                      </a:pPr>
                      <a:r>
                        <a:rPr lang="en-US" sz="1200" b="1" dirty="0">
                          <a:solidFill>
                            <a:srgbClr val="B3203A"/>
                          </a:solidFill>
                        </a:rPr>
                        <a:t>BLOOD_UNIT</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FFFFF"/>
                    </a:solidFill>
                  </a:tcPr>
                </a:tc>
                <a:tc>
                  <a:txBody>
                    <a:bodyPr/>
                    <a:lstStyle/>
                    <a:p>
                      <a:pPr indent="0" marL="0">
                        <a:buNone/>
                      </a:pPr>
                      <a:r>
                        <a:rPr lang="en-US" sz="1200" dirty="0">
                          <a:solidFill>
                            <a:srgbClr val="1F1A1B"/>
                          </a:solidFill>
                        </a:rPr>
                        <a:t>status</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FFFFF"/>
                    </a:solidFill>
                  </a:tcPr>
                </a:tc>
                <a:tc>
                  <a:txBody>
                    <a:bodyPr/>
                    <a:lstStyle/>
                    <a:p>
                      <a:pPr indent="0" marL="0">
                        <a:buNone/>
                      </a:pPr>
                      <a:r>
                        <a:rPr lang="en-US" sz="1200" dirty="0">
                          <a:solidFill>
                            <a:srgbClr val="1F1A1B"/>
                          </a:solidFill>
                        </a:rPr>
                        <a:t>VARCHAR(12)</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FFFFF"/>
                    </a:solidFill>
                  </a:tcPr>
                </a:tc>
                <a:tc>
                  <a:txBody>
                    <a:bodyPr/>
                    <a:lstStyle/>
                    <a:p>
                      <a:pPr indent="0" marL="0">
                        <a:buNone/>
                      </a:pPr>
                      <a:r>
                        <a:rPr lang="en-US" sz="1200" dirty="0">
                          <a:solidFill>
                            <a:srgbClr val="1F1A1B"/>
                          </a:solidFill>
                        </a:rPr>
                        <a:t>DEFAULT 'Available'</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FFFFF"/>
                    </a:solidFill>
                  </a:tcPr>
                </a:tc>
                <a:tc>
                  <a:txBody>
                    <a:bodyPr/>
                    <a:lstStyle/>
                    <a:p>
                      <a:pPr indent="0" marL="0">
                        <a:buNone/>
                      </a:pPr>
                      <a:r>
                        <a:rPr lang="en-US" sz="1200" dirty="0">
                          <a:solidFill>
                            <a:srgbClr val="1F1A1B"/>
                          </a:solidFill>
                        </a:rPr>
                        <a:t>Available, Issued or Expired</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FFFFF"/>
                    </a:solidFill>
                  </a:tcPr>
                </a:tc>
              </a:tr>
              <a:tr h="374904">
                <a:tc>
                  <a:txBody>
                    <a:bodyPr/>
                    <a:lstStyle/>
                    <a:p>
                      <a:pPr indent="0" marL="0">
                        <a:buNone/>
                      </a:pPr>
                      <a:r>
                        <a:rPr lang="en-US" sz="1200" b="1" dirty="0">
                          <a:solidFill>
                            <a:srgbClr val="B3203A"/>
                          </a:solidFill>
                        </a:rPr>
                        <a:t>HOSPITAL</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BEFF1"/>
                    </a:solidFill>
                  </a:tcPr>
                </a:tc>
                <a:tc>
                  <a:txBody>
                    <a:bodyPr/>
                    <a:lstStyle/>
                    <a:p>
                      <a:pPr indent="0" marL="0">
                        <a:buNone/>
                      </a:pPr>
                      <a:r>
                        <a:rPr lang="en-US" sz="1200" dirty="0">
                          <a:solidFill>
                            <a:srgbClr val="1F1A1B"/>
                          </a:solidFill>
                        </a:rPr>
                        <a:t>license_no</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BEFF1"/>
                    </a:solidFill>
                  </a:tcPr>
                </a:tc>
                <a:tc>
                  <a:txBody>
                    <a:bodyPr/>
                    <a:lstStyle/>
                    <a:p>
                      <a:pPr indent="0" marL="0">
                        <a:buNone/>
                      </a:pPr>
                      <a:r>
                        <a:rPr lang="en-US" sz="1200" dirty="0">
                          <a:solidFill>
                            <a:srgbClr val="1F1A1B"/>
                          </a:solidFill>
                        </a:rPr>
                        <a:t>VARCHAR(30)</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BEFF1"/>
                    </a:solidFill>
                  </a:tcPr>
                </a:tc>
                <a:tc>
                  <a:txBody>
                    <a:bodyPr/>
                    <a:lstStyle/>
                    <a:p>
                      <a:pPr indent="0" marL="0">
                        <a:buNone/>
                      </a:pPr>
                      <a:r>
                        <a:rPr lang="en-US" sz="1200" dirty="0">
                          <a:solidFill>
                            <a:srgbClr val="1F1A1B"/>
                          </a:solidFill>
                        </a:rPr>
                        <a:t>UNIQUE</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BEFF1"/>
                    </a:solidFill>
                  </a:tcPr>
                </a:tc>
                <a:tc>
                  <a:txBody>
                    <a:bodyPr/>
                    <a:lstStyle/>
                    <a:p>
                      <a:pPr indent="0" marL="0">
                        <a:buNone/>
                      </a:pPr>
                      <a:r>
                        <a:rPr lang="en-US" sz="1200" dirty="0">
                          <a:solidFill>
                            <a:srgbClr val="1F1A1B"/>
                          </a:solidFill>
                        </a:rPr>
                        <a:t>Hospital licence number</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BEFF1"/>
                    </a:solidFill>
                  </a:tcPr>
                </a:tc>
              </a:tr>
              <a:tr h="374904">
                <a:tc>
                  <a:txBody>
                    <a:bodyPr/>
                    <a:lstStyle/>
                    <a:p>
                      <a:pPr indent="0" marL="0">
                        <a:buNone/>
                      </a:pPr>
                      <a:r>
                        <a:rPr lang="en-US" sz="1200" b="1" dirty="0">
                          <a:solidFill>
                            <a:srgbClr val="B3203A"/>
                          </a:solidFill>
                        </a:rPr>
                        <a:t>BLOOD_REQUEST</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FFFFF"/>
                    </a:solidFill>
                  </a:tcPr>
                </a:tc>
                <a:tc>
                  <a:txBody>
                    <a:bodyPr/>
                    <a:lstStyle/>
                    <a:p>
                      <a:pPr indent="0" marL="0">
                        <a:buNone/>
                      </a:pPr>
                      <a:r>
                        <a:rPr lang="en-US" sz="1200" dirty="0">
                          <a:solidFill>
                            <a:srgbClr val="1F1A1B"/>
                          </a:solidFill>
                        </a:rPr>
                        <a:t>units_required</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FFFFF"/>
                    </a:solidFill>
                  </a:tcPr>
                </a:tc>
                <a:tc>
                  <a:txBody>
                    <a:bodyPr/>
                    <a:lstStyle/>
                    <a:p>
                      <a:pPr indent="0" marL="0">
                        <a:buNone/>
                      </a:pPr>
                      <a:r>
                        <a:rPr lang="en-US" sz="1200" dirty="0">
                          <a:solidFill>
                            <a:srgbClr val="1F1A1B"/>
                          </a:solidFill>
                        </a:rPr>
                        <a:t>INT</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FFFFF"/>
                    </a:solidFill>
                  </a:tcPr>
                </a:tc>
                <a:tc>
                  <a:txBody>
                    <a:bodyPr/>
                    <a:lstStyle/>
                    <a:p>
                      <a:pPr indent="0" marL="0">
                        <a:buNone/>
                      </a:pPr>
                      <a:r>
                        <a:rPr lang="en-US" sz="1200" dirty="0">
                          <a:solidFill>
                            <a:srgbClr val="1F1A1B"/>
                          </a:solidFill>
                        </a:rPr>
                        <a:t>CHECK 1 to 10</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FFFFF"/>
                    </a:solidFill>
                  </a:tcPr>
                </a:tc>
                <a:tc>
                  <a:txBody>
                    <a:bodyPr/>
                    <a:lstStyle/>
                    <a:p>
                      <a:pPr indent="0" marL="0">
                        <a:buNone/>
                      </a:pPr>
                      <a:r>
                        <a:rPr lang="en-US" sz="1200" dirty="0">
                          <a:solidFill>
                            <a:srgbClr val="1F1A1B"/>
                          </a:solidFill>
                        </a:rPr>
                        <a:t>Units asked for, capped per request</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FFFFF"/>
                    </a:solidFill>
                  </a:tcPr>
                </a:tc>
              </a:tr>
              <a:tr h="374904">
                <a:tc>
                  <a:txBody>
                    <a:bodyPr/>
                    <a:lstStyle/>
                    <a:p>
                      <a:pPr indent="0" marL="0">
                        <a:buNone/>
                      </a:pPr>
                      <a:r>
                        <a:rPr lang="en-US" sz="1200" b="1" dirty="0">
                          <a:solidFill>
                            <a:srgbClr val="B3203A"/>
                          </a:solidFill>
                        </a:rPr>
                        <a:t>BLOOD_ISSUE</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BEFF1"/>
                    </a:solidFill>
                  </a:tcPr>
                </a:tc>
                <a:tc>
                  <a:txBody>
                    <a:bodyPr/>
                    <a:lstStyle/>
                    <a:p>
                      <a:pPr indent="0" marL="0">
                        <a:buNone/>
                      </a:pPr>
                      <a:r>
                        <a:rPr lang="en-US" sz="1200" dirty="0">
                          <a:solidFill>
                            <a:srgbClr val="1F1A1B"/>
                          </a:solidFill>
                        </a:rPr>
                        <a:t>unit_id</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BEFF1"/>
                    </a:solidFill>
                  </a:tcPr>
                </a:tc>
                <a:tc>
                  <a:txBody>
                    <a:bodyPr/>
                    <a:lstStyle/>
                    <a:p>
                      <a:pPr indent="0" marL="0">
                        <a:buNone/>
                      </a:pPr>
                      <a:r>
                        <a:rPr lang="en-US" sz="1200" dirty="0">
                          <a:solidFill>
                            <a:srgbClr val="1F1A1B"/>
                          </a:solidFill>
                        </a:rPr>
                        <a:t>INT</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BEFF1"/>
                    </a:solidFill>
                  </a:tcPr>
                </a:tc>
                <a:tc>
                  <a:txBody>
                    <a:bodyPr/>
                    <a:lstStyle/>
                    <a:p>
                      <a:pPr indent="0" marL="0">
                        <a:buNone/>
                      </a:pPr>
                      <a:r>
                        <a:rPr lang="en-US" sz="1200" dirty="0">
                          <a:solidFill>
                            <a:srgbClr val="1F1A1B"/>
                          </a:solidFill>
                        </a:rPr>
                        <a:t>FK, UNIQUE</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BEFF1"/>
                    </a:solidFill>
                  </a:tcPr>
                </a:tc>
                <a:tc>
                  <a:txBody>
                    <a:bodyPr/>
                    <a:lstStyle/>
                    <a:p>
                      <a:pPr indent="0" marL="0">
                        <a:buNone/>
                      </a:pPr>
                      <a:r>
                        <a:rPr lang="en-US" sz="1200" dirty="0">
                          <a:solidFill>
                            <a:srgbClr val="1F1A1B"/>
                          </a:solidFill>
                        </a:rPr>
                        <a:t>Each unit issued at most once</a:t>
                      </a:r>
                      <a:endParaRPr lang="en-US" sz="1200" dirty="0"/>
                    </a:p>
                  </a:txBody>
                  <a:tcPr marL="91440" marR="91440" marT="45720" marB="45720" anchor="ctr">
                    <a:lnL w="9525" cap="flat" cmpd="sng" algn="ctr">
                      <a:solidFill>
                        <a:srgbClr val="F2B8C0"/>
                      </a:solidFill>
                      <a:prstDash val="solid"/>
                      <a:round/>
                      <a:headEnd type="none" w="med" len="med"/>
                      <a:tailEnd type="none" w="med" len="med"/>
                    </a:lnL>
                    <a:lnR w="9525" cap="flat" cmpd="sng" algn="ctr">
                      <a:solidFill>
                        <a:srgbClr val="F2B8C0"/>
                      </a:solidFill>
                      <a:prstDash val="solid"/>
                      <a:round/>
                      <a:headEnd type="none" w="med" len="med"/>
                      <a:tailEnd type="none" w="med" len="med"/>
                    </a:lnR>
                    <a:lnT w="9525" cap="flat" cmpd="sng" algn="ctr">
                      <a:solidFill>
                        <a:srgbClr val="F2B8C0"/>
                      </a:solidFill>
                      <a:prstDash val="solid"/>
                      <a:round/>
                      <a:headEnd type="none" w="med" len="med"/>
                      <a:tailEnd type="none" w="med" len="med"/>
                    </a:lnT>
                    <a:lnB w="9525" cap="flat" cmpd="sng" algn="ctr">
                      <a:solidFill>
                        <a:srgbClr val="F2B8C0"/>
                      </a:solidFill>
                      <a:prstDash val="solid"/>
                      <a:round/>
                      <a:headEnd type="none" w="med" len="med"/>
                      <a:tailEnd type="none" w="med" len="med"/>
                    </a:lnB>
                    <a:solidFill>
                      <a:srgbClr val="FBEFF1"/>
                    </a:solidFill>
                  </a:tcPr>
                </a:tc>
              </a:tr>
            </a:tbl>
          </a:graphicData>
        </a:graphic>
      </p:graphicFrame>
      <p:sp>
        <p:nvSpPr>
          <p:cNvPr id="25" name="Slide Number Placeholder 0"/>
          <p:cNvSpPr>
            <a:spLocks noGrp="1"/>
          </p:cNvSpPr>
          <p:nvPr>
            <p:ph type="sldNum" sz="quarter" idx="4294967295"/>
          </p:nvPr>
        </p:nvSpPr>
        <p:spPr>
          <a:xfrm>
            <a:off x="11064240" y="647395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731520"/>
          </a:xfrm>
          <a:prstGeom prst="rect">
            <a:avLst/>
          </a:prstGeom>
          <a:noFill/>
          <a:ln/>
        </p:spPr>
        <p:txBody>
          <a:bodyPr wrap="square" lIns="0" tIns="0" rIns="0" bIns="0" rtlCol="0" anchor="ctr"/>
          <a:lstStyle/>
          <a:p>
            <a:pPr algn="l" indent="0" marL="0">
              <a:buNone/>
            </a:pPr>
            <a:r>
              <a:rPr lang="en-US" sz="3400" b="1" dirty="0">
                <a:solidFill>
                  <a:schemeClr val="tx2"/>
                </a:solidFill>
              </a:rPr>
              <a:t>DDL and Integrity Constraints</a:t>
            </a:r>
            <a:endParaRPr lang="en-US" sz="3400" dirty="0"/>
          </a:p>
        </p:txBody>
      </p:sp>
      <p:sp>
        <p:nvSpPr>
          <p:cNvPr id="3" name="Review tag"/>
          <p:cNvSpPr/>
          <p:nvPr/>
        </p:nvSpPr>
        <p:spPr>
          <a:xfrm>
            <a:off x="9079992" y="420624"/>
            <a:ext cx="2560320" cy="329184"/>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9079992" y="420624"/>
            <a:ext cx="2560320" cy="329184"/>
          </a:xfrm>
          <a:prstGeom prst="rect">
            <a:avLst/>
          </a:prstGeom>
          <a:noFill/>
          <a:ln/>
        </p:spPr>
        <p:txBody>
          <a:bodyPr wrap="square" lIns="0" tIns="0" rIns="0" bIns="0" rtlCol="0" anchor="ctr"/>
          <a:lstStyle/>
          <a:p>
            <a:pPr algn="ctr" indent="0" marL="0">
              <a:buNone/>
            </a:pPr>
            <a:r>
              <a:rPr lang="en-US" sz="1200" b="1" spc="100" kern="0" dirty="0">
                <a:solidFill>
                  <a:schemeClr val="accent1"/>
                </a:solidFill>
              </a:rPr>
              <a:t>REVIEW 2  |  WEEK 11</a:t>
            </a:r>
            <a:endParaRPr lang="en-US" sz="1200" dirty="0"/>
          </a:p>
        </p:txBody>
      </p:sp>
      <p:sp>
        <p:nvSpPr>
          <p:cNvPr id="5" name="Code block"/>
          <p:cNvSpPr/>
          <p:nvPr/>
        </p:nvSpPr>
        <p:spPr>
          <a:xfrm>
            <a:off x="548640" y="1188720"/>
            <a:ext cx="5532120" cy="4160520"/>
          </a:xfrm>
          <a:prstGeom prst="rect">
            <a:avLst/>
          </a:prstGeom>
          <a:solidFill>
            <a:schemeClr val="tx1"/>
          </a:solidFill>
          <a:ln w="12700">
            <a:solidFill>
              <a:schemeClr val="tx1"/>
            </a:solidFill>
            <a:prstDash val="solid"/>
          </a:ln>
        </p:spPr>
      </p:sp>
      <p:sp>
        <p:nvSpPr>
          <p:cNvPr id="6" name="Text 4"/>
          <p:cNvSpPr txBox="1"/>
          <p:nvPr/>
        </p:nvSpPr>
        <p:spPr>
          <a:xfrm>
            <a:off x="685800" y="1280160"/>
            <a:ext cx="5257800" cy="3977640"/>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CREATE TABLE donor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donor_id INT AUTO_INCREMENT PRIMARY KEY,</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full_name VARCHAR(100) NOT NULL,</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date_of_birth DATE NOT NULL,</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gender CHAR(1) CHECK (gender IN ('M','F','O')),</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blood_group VARCHAR(3) NOT NULL CHECK (blood_group IN</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('A+','A-','B+','B-','AB+','AB-','O+','O-')),</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phone VARCHAR(15) NOT NULL UNIQUE,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city VARCHAR(60)</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CREATE TABLE donation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donation_id INT AUTO_INCREMENT PRIMARY KEY,</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donor_id INT NOT NULL,</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donation_date DATE NOT NULL,</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volume_ml INT CHECK (volume_ml BETWEEN 300 AND 500),</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hemoglobin_gdl DECIMAL(4,1)</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CHECK (hemoglobin_gdl BETWEEN 12.5 AND 20),</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FOREIGN KEY (donor_id) REFERENCES donor(donor_id)</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p:txBody>
      </p:sp>
      <p:sp>
        <p:nvSpPr>
          <p:cNvPr id="7" name="Code block"/>
          <p:cNvSpPr/>
          <p:nvPr/>
        </p:nvSpPr>
        <p:spPr>
          <a:xfrm>
            <a:off x="6108192" y="1188720"/>
            <a:ext cx="5532120" cy="4160520"/>
          </a:xfrm>
          <a:prstGeom prst="rect">
            <a:avLst/>
          </a:prstGeom>
          <a:solidFill>
            <a:schemeClr val="tx1"/>
          </a:solidFill>
          <a:ln w="12700">
            <a:solidFill>
              <a:schemeClr val="tx1"/>
            </a:solidFill>
            <a:prstDash val="solid"/>
          </a:ln>
        </p:spPr>
      </p:sp>
      <p:sp>
        <p:nvSpPr>
          <p:cNvPr id="8" name="Text 6"/>
          <p:cNvSpPr txBox="1"/>
          <p:nvPr/>
        </p:nvSpPr>
        <p:spPr>
          <a:xfrm>
            <a:off x="6245352" y="1280160"/>
            <a:ext cx="5257800" cy="3977640"/>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CREATE TABLE blood_unit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unit_id INT AUTO_INCREMENT PRIMARY KEY,</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donation_id INT NOT NULL,</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component VARCHAR(20) NOT NULL,</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expiry_date DATE NOT NULL,</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status VARCHAR(12) DEFAULT 'Available',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FOREIGN KEY (donation_id)</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REFERENCES donation(donation_id)</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CREATE TABLE blood_issue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issue_id INT AUTO_INCREMENT PRIMARY KEY,</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request_id INT NOT NULL,</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unit_id INT NOT NULL UNIQUE,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issue_date DATE NOT NULL,</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FOREIGN KEY (request_id)</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REFERENCES blood_request(request_id),</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FOREIGN KEY (unit_id)</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REFERENCES blood_unit(unit_id)</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blood_request.units_required</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CHECK (units_required BETWEEN 1 AND 10)</a:t>
            </a:r>
            <a:endParaRPr lang="en-US" sz="1100" dirty="0"/>
          </a:p>
        </p:txBody>
      </p:sp>
      <p:sp>
        <p:nvSpPr>
          <p:cNvPr id="9" name="Rule chip 1"/>
          <p:cNvSpPr/>
          <p:nvPr/>
        </p:nvSpPr>
        <p:spPr>
          <a:xfrm>
            <a:off x="548640" y="5532120"/>
            <a:ext cx="2651760" cy="777240"/>
          </a:xfrm>
          <a:prstGeom prst="roundRect">
            <a:avLst>
              <a:gd name="adj" fmla="val 11765"/>
            </a:avLst>
          </a:prstGeom>
          <a:solidFill>
            <a:schemeClr val="bg2"/>
          </a:solidFill>
          <a:ln w="12700">
            <a:solidFill>
              <a:schemeClr val="bg2"/>
            </a:solidFill>
            <a:prstDash val="solid"/>
          </a:ln>
        </p:spPr>
      </p:sp>
      <p:sp>
        <p:nvSpPr>
          <p:cNvPr id="10" name="Text 8"/>
          <p:cNvSpPr txBox="1"/>
          <p:nvPr/>
        </p:nvSpPr>
        <p:spPr>
          <a:xfrm>
            <a:off x="685800" y="5532120"/>
            <a:ext cx="2377440" cy="777240"/>
          </a:xfrm>
          <a:prstGeom prst="rect">
            <a:avLst/>
          </a:prstGeom>
          <a:noFill/>
          <a:ln/>
        </p:spPr>
        <p:txBody>
          <a:bodyPr wrap="square" lIns="0" tIns="0" rIns="0" bIns="0" rtlCol="0" anchor="ctr"/>
          <a:lstStyle/>
          <a:p>
            <a:pPr indent="0" marL="0">
              <a:buNone/>
            </a:pPr>
            <a:r>
              <a:rPr lang="en-US" sz="1400" b="1" dirty="0">
                <a:solidFill>
                  <a:schemeClr val="tx2"/>
                </a:solidFill>
              </a:rPr>
              <a:t>UNIQUE donor phone and hospital licence</a:t>
            </a:r>
            <a:endParaRPr lang="en-US" sz="1400" dirty="0"/>
          </a:p>
        </p:txBody>
      </p:sp>
      <p:sp>
        <p:nvSpPr>
          <p:cNvPr id="11" name="Rule chip 2"/>
          <p:cNvSpPr/>
          <p:nvPr/>
        </p:nvSpPr>
        <p:spPr>
          <a:xfrm>
            <a:off x="3362249" y="5532120"/>
            <a:ext cx="2651760" cy="777240"/>
          </a:xfrm>
          <a:prstGeom prst="roundRect">
            <a:avLst>
              <a:gd name="adj" fmla="val 11765"/>
            </a:avLst>
          </a:prstGeom>
          <a:solidFill>
            <a:schemeClr val="bg2"/>
          </a:solidFill>
          <a:ln w="12700">
            <a:solidFill>
              <a:schemeClr val="bg2"/>
            </a:solidFill>
            <a:prstDash val="solid"/>
          </a:ln>
        </p:spPr>
      </p:sp>
      <p:sp>
        <p:nvSpPr>
          <p:cNvPr id="12" name="Text 10"/>
          <p:cNvSpPr txBox="1"/>
          <p:nvPr/>
        </p:nvSpPr>
        <p:spPr>
          <a:xfrm>
            <a:off x="3499409" y="5532120"/>
            <a:ext cx="2377440" cy="777240"/>
          </a:xfrm>
          <a:prstGeom prst="rect">
            <a:avLst/>
          </a:prstGeom>
          <a:noFill/>
          <a:ln/>
        </p:spPr>
        <p:txBody>
          <a:bodyPr wrap="square" lIns="0" tIns="0" rIns="0" bIns="0" rtlCol="0" anchor="ctr"/>
          <a:lstStyle/>
          <a:p>
            <a:pPr indent="0" marL="0">
              <a:buNone/>
            </a:pPr>
            <a:r>
              <a:rPr lang="en-US" sz="1400" b="1" dirty="0">
                <a:solidFill>
                  <a:schemeClr val="tx2"/>
                </a:solidFill>
              </a:rPr>
              <a:t>CHECK on blood group, volume and haemoglobin</a:t>
            </a:r>
            <a:endParaRPr lang="en-US" sz="1400" dirty="0"/>
          </a:p>
        </p:txBody>
      </p:sp>
      <p:sp>
        <p:nvSpPr>
          <p:cNvPr id="13" name="Rule chip 3"/>
          <p:cNvSpPr/>
          <p:nvPr/>
        </p:nvSpPr>
        <p:spPr>
          <a:xfrm>
            <a:off x="6175858" y="5532120"/>
            <a:ext cx="2651760" cy="777240"/>
          </a:xfrm>
          <a:prstGeom prst="roundRect">
            <a:avLst>
              <a:gd name="adj" fmla="val 11765"/>
            </a:avLst>
          </a:prstGeom>
          <a:solidFill>
            <a:schemeClr val="bg2"/>
          </a:solidFill>
          <a:ln w="12700">
            <a:solidFill>
              <a:schemeClr val="bg2"/>
            </a:solidFill>
            <a:prstDash val="solid"/>
          </a:ln>
        </p:spPr>
      </p:sp>
      <p:sp>
        <p:nvSpPr>
          <p:cNvPr id="14" name="Text 12"/>
          <p:cNvSpPr txBox="1"/>
          <p:nvPr/>
        </p:nvSpPr>
        <p:spPr>
          <a:xfrm>
            <a:off x="6313018" y="5532120"/>
            <a:ext cx="2377440" cy="777240"/>
          </a:xfrm>
          <a:prstGeom prst="rect">
            <a:avLst/>
          </a:prstGeom>
          <a:noFill/>
          <a:ln/>
        </p:spPr>
        <p:txBody>
          <a:bodyPr wrap="square" lIns="0" tIns="0" rIns="0" bIns="0" rtlCol="0" anchor="ctr"/>
          <a:lstStyle/>
          <a:p>
            <a:pPr indent="0" marL="0">
              <a:buNone/>
            </a:pPr>
            <a:r>
              <a:rPr lang="en-US" sz="1400" b="1" dirty="0">
                <a:solidFill>
                  <a:schemeClr val="tx2"/>
                </a:solidFill>
              </a:rPr>
              <a:t>UNIQUE unit_id: no double issue</a:t>
            </a:r>
            <a:endParaRPr lang="en-US" sz="1400" dirty="0"/>
          </a:p>
        </p:txBody>
      </p:sp>
      <p:sp>
        <p:nvSpPr>
          <p:cNvPr id="15" name="Rule chip 4"/>
          <p:cNvSpPr/>
          <p:nvPr/>
        </p:nvSpPr>
        <p:spPr>
          <a:xfrm>
            <a:off x="8989466" y="5532120"/>
            <a:ext cx="2651760" cy="777240"/>
          </a:xfrm>
          <a:prstGeom prst="roundRect">
            <a:avLst>
              <a:gd name="adj" fmla="val 11765"/>
            </a:avLst>
          </a:prstGeom>
          <a:solidFill>
            <a:schemeClr val="bg2"/>
          </a:solidFill>
          <a:ln w="12700">
            <a:solidFill>
              <a:schemeClr val="bg2"/>
            </a:solidFill>
            <a:prstDash val="solid"/>
          </a:ln>
        </p:spPr>
      </p:sp>
      <p:sp>
        <p:nvSpPr>
          <p:cNvPr id="16" name="Text 14"/>
          <p:cNvSpPr txBox="1"/>
          <p:nvPr/>
        </p:nvSpPr>
        <p:spPr>
          <a:xfrm>
            <a:off x="9126626" y="5532120"/>
            <a:ext cx="2377440" cy="777240"/>
          </a:xfrm>
          <a:prstGeom prst="rect">
            <a:avLst/>
          </a:prstGeom>
          <a:noFill/>
          <a:ln/>
        </p:spPr>
        <p:txBody>
          <a:bodyPr wrap="square" lIns="0" tIns="0" rIns="0" bIns="0" rtlCol="0" anchor="ctr"/>
          <a:lstStyle/>
          <a:p>
            <a:pPr indent="0" marL="0">
              <a:buNone/>
            </a:pPr>
            <a:r>
              <a:rPr lang="en-US" sz="1400" b="1" dirty="0">
                <a:solidFill>
                  <a:schemeClr val="tx2"/>
                </a:solidFill>
              </a:rPr>
              <a:t>Request limit of 1 to 10 units</a:t>
            </a:r>
            <a:endParaRPr lang="en-US" sz="1400" dirty="0"/>
          </a:p>
        </p:txBody>
      </p:sp>
      <p:sp>
        <p:nvSpPr>
          <p:cNvPr id="25" name="Slide Number Placeholder 0"/>
          <p:cNvSpPr>
            <a:spLocks noGrp="1"/>
          </p:cNvSpPr>
          <p:nvPr>
            <p:ph type="sldNum" sz="quarter" idx="4294967295"/>
          </p:nvPr>
        </p:nvSpPr>
        <p:spPr>
          <a:xfrm>
            <a:off x="11064240" y="647395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731520"/>
          </a:xfrm>
          <a:prstGeom prst="rect">
            <a:avLst/>
          </a:prstGeom>
          <a:noFill/>
          <a:ln/>
        </p:spPr>
        <p:txBody>
          <a:bodyPr wrap="square" lIns="0" tIns="0" rIns="0" bIns="0" rtlCol="0" anchor="ctr"/>
          <a:lstStyle/>
          <a:p>
            <a:pPr algn="l" indent="0" marL="0">
              <a:buNone/>
            </a:pPr>
            <a:r>
              <a:rPr lang="en-US" sz="3400" b="1" dirty="0">
                <a:solidFill>
                  <a:schemeClr val="tx2"/>
                </a:solidFill>
              </a:rPr>
              <a:t>Sample SQL Queries and Views</a:t>
            </a:r>
            <a:endParaRPr lang="en-US" sz="3400" dirty="0"/>
          </a:p>
        </p:txBody>
      </p:sp>
      <p:sp>
        <p:nvSpPr>
          <p:cNvPr id="3" name="Review tag"/>
          <p:cNvSpPr/>
          <p:nvPr/>
        </p:nvSpPr>
        <p:spPr>
          <a:xfrm>
            <a:off x="9079992" y="420624"/>
            <a:ext cx="2560320" cy="329184"/>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9079992" y="420624"/>
            <a:ext cx="2560320" cy="329184"/>
          </a:xfrm>
          <a:prstGeom prst="rect">
            <a:avLst/>
          </a:prstGeom>
          <a:noFill/>
          <a:ln/>
        </p:spPr>
        <p:txBody>
          <a:bodyPr wrap="square" lIns="0" tIns="0" rIns="0" bIns="0" rtlCol="0" anchor="ctr"/>
          <a:lstStyle/>
          <a:p>
            <a:pPr algn="ctr" indent="0" marL="0">
              <a:buNone/>
            </a:pPr>
            <a:r>
              <a:rPr lang="en-US" sz="1200" b="1" spc="100" kern="0" dirty="0">
                <a:solidFill>
                  <a:schemeClr val="accent1"/>
                </a:solidFill>
              </a:rPr>
              <a:t>REVIEW 2  |  WEEK 11</a:t>
            </a:r>
            <a:endParaRPr lang="en-US" sz="1200" dirty="0"/>
          </a:p>
        </p:txBody>
      </p:sp>
      <p:sp>
        <p:nvSpPr>
          <p:cNvPr id="5" name="Query card 1"/>
          <p:cNvSpPr/>
          <p:nvPr/>
        </p:nvSpPr>
        <p:spPr>
          <a:xfrm>
            <a:off x="548640" y="1188720"/>
            <a:ext cx="5440680" cy="2377440"/>
          </a:xfrm>
          <a:prstGeom prst="roundRect">
            <a:avLst>
              <a:gd name="adj" fmla="val 3846"/>
            </a:avLst>
          </a:prstGeom>
          <a:solidFill>
            <a:schemeClr val="bg2"/>
          </a:solidFill>
          <a:ln w="12700">
            <a:solidFill>
              <a:schemeClr val="bg2"/>
            </a:solidFill>
            <a:prstDash val="solid"/>
          </a:ln>
        </p:spPr>
      </p:sp>
      <p:sp>
        <p:nvSpPr>
          <p:cNvPr id="6" name="Text 4"/>
          <p:cNvSpPr txBox="1"/>
          <p:nvPr/>
        </p:nvSpPr>
        <p:spPr>
          <a:xfrm>
            <a:off x="731520" y="1261872"/>
            <a:ext cx="5074920" cy="347472"/>
          </a:xfrm>
          <a:prstGeom prst="rect">
            <a:avLst/>
          </a:prstGeom>
          <a:noFill/>
          <a:ln/>
        </p:spPr>
        <p:txBody>
          <a:bodyPr wrap="square" lIns="0" tIns="0" rIns="0" bIns="0" rtlCol="0" anchor="ctr"/>
          <a:lstStyle/>
          <a:p>
            <a:pPr indent="0" marL="0">
              <a:buNone/>
            </a:pPr>
            <a:r>
              <a:rPr lang="en-US" sz="1400" b="1" dirty="0">
                <a:solidFill>
                  <a:schemeClr val="tx2"/>
                </a:solidFill>
              </a:rPr>
              <a:t>Join: donor-wise donation history</a:t>
            </a:r>
            <a:endParaRPr lang="en-US" sz="1400" dirty="0"/>
          </a:p>
        </p:txBody>
      </p:sp>
      <p:sp>
        <p:nvSpPr>
          <p:cNvPr id="7" name="Code block"/>
          <p:cNvSpPr/>
          <p:nvPr/>
        </p:nvSpPr>
        <p:spPr>
          <a:xfrm>
            <a:off x="731520" y="1645920"/>
            <a:ext cx="5074920" cy="1783080"/>
          </a:xfrm>
          <a:prstGeom prst="rect">
            <a:avLst/>
          </a:prstGeom>
          <a:solidFill>
            <a:schemeClr val="tx1"/>
          </a:solidFill>
          <a:ln w="12700">
            <a:solidFill>
              <a:schemeClr val="tx1"/>
            </a:solidFill>
            <a:prstDash val="solid"/>
          </a:ln>
        </p:spPr>
      </p:sp>
      <p:sp>
        <p:nvSpPr>
          <p:cNvPr id="8" name="Text 6"/>
          <p:cNvSpPr txBox="1"/>
          <p:nvPr/>
        </p:nvSpPr>
        <p:spPr>
          <a:xfrm>
            <a:off x="868680" y="1737360"/>
            <a:ext cx="4800600" cy="1600200"/>
          </a:xfrm>
          <a:prstGeom prst="rect">
            <a:avLst/>
          </a:prstGeom>
          <a:noFill/>
          <a:ln/>
        </p:spPr>
        <p:txBody>
          <a:bodyPr wrap="square" lIns="0" tIns="0" rIns="0" bIns="0" rtlCol="0" anchor="t"/>
          <a:lstStyle/>
          <a:p>
            <a:pPr indent="0" marL="0">
              <a:buNone/>
            </a:pPr>
            <a:r>
              <a:rPr lang="en-US" sz="1150" dirty="0">
                <a:solidFill>
                  <a:schemeClr val="bg1"/>
                </a:solidFill>
                <a:latin typeface="Courier New" pitchFamily="34" charset="0"/>
                <a:ea typeface="Courier New" pitchFamily="34" charset="-122"/>
                <a:cs typeface="Courier New" pitchFamily="34" charset="-120"/>
              </a:rPr>
              <a:t>SELECT d.full_name, d.blood_group,</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n.donation_date, n.volume_ml</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FROM donor d</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JOIN donation n ON n.donor_id = d.donor_id</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ORDER BY d.full_name, n.donation_date;</a:t>
            </a:r>
            <a:endParaRPr lang="en-US" sz="1150" dirty="0"/>
          </a:p>
        </p:txBody>
      </p:sp>
      <p:sp>
        <p:nvSpPr>
          <p:cNvPr id="9" name="Query card 2"/>
          <p:cNvSpPr/>
          <p:nvPr/>
        </p:nvSpPr>
        <p:spPr>
          <a:xfrm>
            <a:off x="6199632" y="1188720"/>
            <a:ext cx="5440680" cy="2377440"/>
          </a:xfrm>
          <a:prstGeom prst="roundRect">
            <a:avLst>
              <a:gd name="adj" fmla="val 3846"/>
            </a:avLst>
          </a:prstGeom>
          <a:solidFill>
            <a:schemeClr val="bg2"/>
          </a:solidFill>
          <a:ln w="12700">
            <a:solidFill>
              <a:schemeClr val="bg2"/>
            </a:solidFill>
            <a:prstDash val="solid"/>
          </a:ln>
        </p:spPr>
      </p:sp>
      <p:sp>
        <p:nvSpPr>
          <p:cNvPr id="10" name="Text 8"/>
          <p:cNvSpPr txBox="1"/>
          <p:nvPr/>
        </p:nvSpPr>
        <p:spPr>
          <a:xfrm>
            <a:off x="6382512" y="1261872"/>
            <a:ext cx="5074920" cy="347472"/>
          </a:xfrm>
          <a:prstGeom prst="rect">
            <a:avLst/>
          </a:prstGeom>
          <a:noFill/>
          <a:ln/>
        </p:spPr>
        <p:txBody>
          <a:bodyPr wrap="square" lIns="0" tIns="0" rIns="0" bIns="0" rtlCol="0" anchor="ctr"/>
          <a:lstStyle/>
          <a:p>
            <a:pPr indent="0" marL="0">
              <a:buNone/>
            </a:pPr>
            <a:r>
              <a:rPr lang="en-US" sz="1400" b="1" dirty="0">
                <a:solidFill>
                  <a:schemeClr val="tx2"/>
                </a:solidFill>
              </a:rPr>
              <a:t>Aggregation: available stock by group</a:t>
            </a:r>
            <a:endParaRPr lang="en-US" sz="1400" dirty="0"/>
          </a:p>
        </p:txBody>
      </p:sp>
      <p:sp>
        <p:nvSpPr>
          <p:cNvPr id="11" name="Code block"/>
          <p:cNvSpPr/>
          <p:nvPr/>
        </p:nvSpPr>
        <p:spPr>
          <a:xfrm>
            <a:off x="6382512" y="1645920"/>
            <a:ext cx="5074920" cy="1783080"/>
          </a:xfrm>
          <a:prstGeom prst="rect">
            <a:avLst/>
          </a:prstGeom>
          <a:solidFill>
            <a:schemeClr val="tx1"/>
          </a:solidFill>
          <a:ln w="12700">
            <a:solidFill>
              <a:schemeClr val="tx1"/>
            </a:solidFill>
            <a:prstDash val="solid"/>
          </a:ln>
        </p:spPr>
      </p:sp>
      <p:sp>
        <p:nvSpPr>
          <p:cNvPr id="12" name="Text 10"/>
          <p:cNvSpPr txBox="1"/>
          <p:nvPr/>
        </p:nvSpPr>
        <p:spPr>
          <a:xfrm>
            <a:off x="6519672" y="1737360"/>
            <a:ext cx="4800600" cy="1600200"/>
          </a:xfrm>
          <a:prstGeom prst="rect">
            <a:avLst/>
          </a:prstGeom>
          <a:noFill/>
          <a:ln/>
        </p:spPr>
        <p:txBody>
          <a:bodyPr wrap="square" lIns="0" tIns="0" rIns="0" bIns="0" rtlCol="0" anchor="t"/>
          <a:lstStyle/>
          <a:p>
            <a:pPr indent="0" marL="0">
              <a:buNone/>
            </a:pPr>
            <a:r>
              <a:rPr lang="en-US" sz="1150" dirty="0">
                <a:solidFill>
                  <a:schemeClr val="bg1"/>
                </a:solidFill>
                <a:latin typeface="Courier New" pitchFamily="34" charset="0"/>
                <a:ea typeface="Courier New" pitchFamily="34" charset="-122"/>
                <a:cs typeface="Courier New" pitchFamily="34" charset="-120"/>
              </a:rPr>
              <a:t>SELECT d.blood_group, u.component, COUNT(*) AS units</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FROM blood_unit u</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JOIN donation n ON n.donation_id = u.donation_id</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JOIN donor d ON d.donor_id = n.donor_id</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WHERE u.status = 'Available'</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AND u.expiry_date &gt;= CURDATE()</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GROUP BY d.blood_group, u.component;</a:t>
            </a:r>
            <a:endParaRPr lang="en-US" sz="1150" dirty="0"/>
          </a:p>
        </p:txBody>
      </p:sp>
      <p:sp>
        <p:nvSpPr>
          <p:cNvPr id="13" name="Query card 3"/>
          <p:cNvSpPr/>
          <p:nvPr/>
        </p:nvSpPr>
        <p:spPr>
          <a:xfrm>
            <a:off x="548640" y="3703320"/>
            <a:ext cx="5440680" cy="2377440"/>
          </a:xfrm>
          <a:prstGeom prst="roundRect">
            <a:avLst>
              <a:gd name="adj" fmla="val 3846"/>
            </a:avLst>
          </a:prstGeom>
          <a:solidFill>
            <a:schemeClr val="bg2"/>
          </a:solidFill>
          <a:ln w="12700">
            <a:solidFill>
              <a:schemeClr val="bg2"/>
            </a:solidFill>
            <a:prstDash val="solid"/>
          </a:ln>
        </p:spPr>
      </p:sp>
      <p:sp>
        <p:nvSpPr>
          <p:cNvPr id="14" name="Text 12"/>
          <p:cNvSpPr txBox="1"/>
          <p:nvPr/>
        </p:nvSpPr>
        <p:spPr>
          <a:xfrm>
            <a:off x="731520" y="3776472"/>
            <a:ext cx="5074920" cy="347472"/>
          </a:xfrm>
          <a:prstGeom prst="rect">
            <a:avLst/>
          </a:prstGeom>
          <a:noFill/>
          <a:ln/>
        </p:spPr>
        <p:txBody>
          <a:bodyPr wrap="square" lIns="0" tIns="0" rIns="0" bIns="0" rtlCol="0" anchor="ctr"/>
          <a:lstStyle/>
          <a:p>
            <a:pPr indent="0" marL="0">
              <a:buNone/>
            </a:pPr>
            <a:r>
              <a:rPr lang="en-US" sz="1400" b="1" dirty="0">
                <a:solidFill>
                  <a:schemeClr val="tx2"/>
                </a:solidFill>
              </a:rPr>
              <a:t>Subquery: donors eligible to donate again</a:t>
            </a:r>
            <a:endParaRPr lang="en-US" sz="1400" dirty="0"/>
          </a:p>
        </p:txBody>
      </p:sp>
      <p:sp>
        <p:nvSpPr>
          <p:cNvPr id="15" name="Code block"/>
          <p:cNvSpPr/>
          <p:nvPr/>
        </p:nvSpPr>
        <p:spPr>
          <a:xfrm>
            <a:off x="731520" y="4160520"/>
            <a:ext cx="5074920" cy="1783080"/>
          </a:xfrm>
          <a:prstGeom prst="rect">
            <a:avLst/>
          </a:prstGeom>
          <a:solidFill>
            <a:schemeClr val="tx1"/>
          </a:solidFill>
          <a:ln w="12700">
            <a:solidFill>
              <a:schemeClr val="tx1"/>
            </a:solidFill>
            <a:prstDash val="solid"/>
          </a:ln>
        </p:spPr>
      </p:sp>
      <p:sp>
        <p:nvSpPr>
          <p:cNvPr id="16" name="Text 14"/>
          <p:cNvSpPr txBox="1"/>
          <p:nvPr/>
        </p:nvSpPr>
        <p:spPr>
          <a:xfrm>
            <a:off x="868680" y="4251960"/>
            <a:ext cx="4800600" cy="1600200"/>
          </a:xfrm>
          <a:prstGeom prst="rect">
            <a:avLst/>
          </a:prstGeom>
          <a:noFill/>
          <a:ln/>
        </p:spPr>
        <p:txBody>
          <a:bodyPr wrap="square" lIns="0" tIns="0" rIns="0" bIns="0" rtlCol="0" anchor="t"/>
          <a:lstStyle/>
          <a:p>
            <a:pPr indent="0" marL="0">
              <a:buNone/>
            </a:pPr>
            <a:r>
              <a:rPr lang="en-US" sz="1150" dirty="0">
                <a:solidFill>
                  <a:schemeClr val="bg1"/>
                </a:solidFill>
                <a:latin typeface="Courier New" pitchFamily="34" charset="0"/>
                <a:ea typeface="Courier New" pitchFamily="34" charset="-122"/>
                <a:cs typeface="Courier New" pitchFamily="34" charset="-120"/>
              </a:rPr>
              <a:t>SELECT donor_id, full_name FROM donor</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WHERE donor_id NOT IN (</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SELECT donor_id FROM donation</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WHERE donation_date &gt;=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CURDATE() - INTERVAL 90 DAY</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p:txBody>
      </p:sp>
      <p:sp>
        <p:nvSpPr>
          <p:cNvPr id="17" name="Query card 4"/>
          <p:cNvSpPr/>
          <p:nvPr/>
        </p:nvSpPr>
        <p:spPr>
          <a:xfrm>
            <a:off x="6199632" y="3703320"/>
            <a:ext cx="5440680" cy="2377440"/>
          </a:xfrm>
          <a:prstGeom prst="roundRect">
            <a:avLst>
              <a:gd name="adj" fmla="val 3846"/>
            </a:avLst>
          </a:prstGeom>
          <a:solidFill>
            <a:schemeClr val="bg2"/>
          </a:solidFill>
          <a:ln w="12700">
            <a:solidFill>
              <a:schemeClr val="bg2"/>
            </a:solidFill>
            <a:prstDash val="solid"/>
          </a:ln>
        </p:spPr>
      </p:sp>
      <p:sp>
        <p:nvSpPr>
          <p:cNvPr id="18" name="Text 16"/>
          <p:cNvSpPr txBox="1"/>
          <p:nvPr/>
        </p:nvSpPr>
        <p:spPr>
          <a:xfrm>
            <a:off x="6382512" y="3776472"/>
            <a:ext cx="5074920" cy="347472"/>
          </a:xfrm>
          <a:prstGeom prst="rect">
            <a:avLst/>
          </a:prstGeom>
          <a:noFill/>
          <a:ln/>
        </p:spPr>
        <p:txBody>
          <a:bodyPr wrap="square" lIns="0" tIns="0" rIns="0" bIns="0" rtlCol="0" anchor="ctr"/>
          <a:lstStyle/>
          <a:p>
            <a:pPr indent="0" marL="0">
              <a:buNone/>
            </a:pPr>
            <a:r>
              <a:rPr lang="en-US" sz="1400" b="1" dirty="0">
                <a:solidFill>
                  <a:schemeClr val="tx2"/>
                </a:solidFill>
              </a:rPr>
              <a:t>View: units expiring within 7 days</a:t>
            </a:r>
            <a:endParaRPr lang="en-US" sz="1400" dirty="0"/>
          </a:p>
        </p:txBody>
      </p:sp>
      <p:sp>
        <p:nvSpPr>
          <p:cNvPr id="19" name="Code block"/>
          <p:cNvSpPr/>
          <p:nvPr/>
        </p:nvSpPr>
        <p:spPr>
          <a:xfrm>
            <a:off x="6382512" y="4160520"/>
            <a:ext cx="5074920" cy="1783080"/>
          </a:xfrm>
          <a:prstGeom prst="rect">
            <a:avLst/>
          </a:prstGeom>
          <a:solidFill>
            <a:schemeClr val="tx1"/>
          </a:solidFill>
          <a:ln w="12700">
            <a:solidFill>
              <a:schemeClr val="tx1"/>
            </a:solidFill>
            <a:prstDash val="solid"/>
          </a:ln>
        </p:spPr>
      </p:sp>
      <p:sp>
        <p:nvSpPr>
          <p:cNvPr id="20" name="Text 18"/>
          <p:cNvSpPr txBox="1"/>
          <p:nvPr/>
        </p:nvSpPr>
        <p:spPr>
          <a:xfrm>
            <a:off x="6519672" y="4251960"/>
            <a:ext cx="4800600" cy="1600200"/>
          </a:xfrm>
          <a:prstGeom prst="rect">
            <a:avLst/>
          </a:prstGeom>
          <a:noFill/>
          <a:ln/>
        </p:spPr>
        <p:txBody>
          <a:bodyPr wrap="square" lIns="0" tIns="0" rIns="0" bIns="0" rtlCol="0" anchor="t"/>
          <a:lstStyle/>
          <a:p>
            <a:pPr indent="0" marL="0">
              <a:buNone/>
            </a:pPr>
            <a:r>
              <a:rPr lang="en-US" sz="1150" dirty="0">
                <a:solidFill>
                  <a:schemeClr val="bg1"/>
                </a:solidFill>
                <a:latin typeface="Courier New" pitchFamily="34" charset="0"/>
                <a:ea typeface="Courier New" pitchFamily="34" charset="-122"/>
                <a:cs typeface="Courier New" pitchFamily="34" charset="-120"/>
              </a:rPr>
              <a:t>CREATE VIEW v_expiring_units AS</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SELECT unit_id, component, expiry_date</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FROM blood_unit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WHERE status = 'Available'</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AND expiry_date BETWEEN CURDATE()</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AND CURDATE() + INTERVAL 7 DAY;</a:t>
            </a:r>
            <a:endParaRPr lang="en-US" sz="1150" dirty="0"/>
          </a:p>
        </p:txBody>
      </p:sp>
      <p:sp>
        <p:nvSpPr>
          <p:cNvPr id="25" name="Slide Number Placeholder 0"/>
          <p:cNvSpPr>
            <a:spLocks noGrp="1"/>
          </p:cNvSpPr>
          <p:nvPr>
            <p:ph type="sldNum" sz="quarter" idx="4294967295"/>
          </p:nvPr>
        </p:nvSpPr>
        <p:spPr>
          <a:xfrm>
            <a:off x="11064240" y="647395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731520"/>
          </a:xfrm>
          <a:prstGeom prst="rect">
            <a:avLst/>
          </a:prstGeom>
          <a:noFill/>
          <a:ln/>
        </p:spPr>
        <p:txBody>
          <a:bodyPr wrap="square" lIns="0" tIns="0" rIns="0" bIns="0" rtlCol="0" anchor="ctr"/>
          <a:lstStyle/>
          <a:p>
            <a:pPr algn="l" indent="0" marL="0">
              <a:buNone/>
            </a:pPr>
            <a:r>
              <a:rPr lang="en-US" sz="3400" b="1" dirty="0">
                <a:solidFill>
                  <a:schemeClr val="tx2"/>
                </a:solidFill>
              </a:rPr>
              <a:t>Progress and Prototype</a:t>
            </a:r>
            <a:endParaRPr lang="en-US" sz="3400" dirty="0"/>
          </a:p>
        </p:txBody>
      </p:sp>
      <p:sp>
        <p:nvSpPr>
          <p:cNvPr id="3" name="Review tag"/>
          <p:cNvSpPr/>
          <p:nvPr/>
        </p:nvSpPr>
        <p:spPr>
          <a:xfrm>
            <a:off x="9079992" y="420624"/>
            <a:ext cx="2560320" cy="329184"/>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9079992" y="420624"/>
            <a:ext cx="2560320" cy="329184"/>
          </a:xfrm>
          <a:prstGeom prst="rect">
            <a:avLst/>
          </a:prstGeom>
          <a:noFill/>
          <a:ln/>
        </p:spPr>
        <p:txBody>
          <a:bodyPr wrap="square" lIns="0" tIns="0" rIns="0" bIns="0" rtlCol="0" anchor="ctr"/>
          <a:lstStyle/>
          <a:p>
            <a:pPr algn="ctr" indent="0" marL="0">
              <a:buNone/>
            </a:pPr>
            <a:r>
              <a:rPr lang="en-US" sz="1200" b="1" spc="100" kern="0" dirty="0">
                <a:solidFill>
                  <a:schemeClr val="accent1"/>
                </a:solidFill>
              </a:rPr>
              <a:t>REVIEW 2  |  WEEK 11</a:t>
            </a:r>
            <a:endParaRPr lang="en-US" sz="1200" dirty="0"/>
          </a:p>
        </p:txBody>
      </p:sp>
      <p:sp>
        <p:nvSpPr>
          <p:cNvPr id="5" name="Milestone marker"/>
          <p:cNvSpPr/>
          <p:nvPr/>
        </p:nvSpPr>
        <p:spPr>
          <a:xfrm>
            <a:off x="548640" y="1280160"/>
            <a:ext cx="548640" cy="548640"/>
          </a:xfrm>
          <a:prstGeom prst="ellipse">
            <a:avLst/>
          </a:prstGeom>
          <a:solidFill>
            <a:schemeClr val="accent6"/>
          </a:solidFill>
          <a:ln w="25400">
            <a:solidFill>
              <a:schemeClr val="accent6"/>
            </a:solidFill>
            <a:prstDash val="solid"/>
          </a:ln>
        </p:spPr>
      </p:sp>
      <p:pic>
        <p:nvPicPr>
          <p:cNvPr id="6" name="Image 0" descr="done">    </p:cNvPr>
          <p:cNvPicPr>
            <a:picLocks noChangeAspect="1"/>
          </p:cNvPicPr>
          <p:nvPr/>
        </p:nvPicPr>
        <p:blipFill>
          <a:blip r:embed="rId1"/>
          <a:stretch>
            <a:fillRect/>
          </a:stretch>
        </p:blipFill>
        <p:spPr>
          <a:xfrm>
            <a:off x="694944" y="1426464"/>
            <a:ext cx="256032" cy="256032"/>
          </a:xfrm>
          <a:prstGeom prst="rect">
            <a:avLst/>
          </a:prstGeom>
        </p:spPr>
      </p:pic>
      <p:sp>
        <p:nvSpPr>
          <p:cNvPr id="7" name="Text 4"/>
          <p:cNvSpPr txBox="1"/>
          <p:nvPr/>
        </p:nvSpPr>
        <p:spPr>
          <a:xfrm>
            <a:off x="1371600" y="1280160"/>
            <a:ext cx="4297680" cy="548640"/>
          </a:xfrm>
          <a:prstGeom prst="rect">
            <a:avLst/>
          </a:prstGeom>
          <a:noFill/>
          <a:ln/>
        </p:spPr>
        <p:txBody>
          <a:bodyPr wrap="square" lIns="0" tIns="0" rIns="0" bIns="0" rtlCol="0" anchor="ctr"/>
          <a:lstStyle/>
          <a:p>
            <a:pPr indent="0" marL="0">
              <a:buNone/>
            </a:pPr>
            <a:r>
              <a:rPr lang="en-US" sz="1400" dirty="0">
                <a:solidFill>
                  <a:schemeClr val="tx1"/>
                </a:solidFill>
              </a:rPr>
              <a:t>Database designed and normalised to 3NF</a:t>
            </a:r>
            <a:endParaRPr lang="en-US" sz="1400" dirty="0"/>
          </a:p>
        </p:txBody>
      </p:sp>
      <p:sp>
        <p:nvSpPr>
          <p:cNvPr id="8" name="Milestone marker"/>
          <p:cNvSpPr/>
          <p:nvPr/>
        </p:nvSpPr>
        <p:spPr>
          <a:xfrm>
            <a:off x="548640" y="2084832"/>
            <a:ext cx="548640" cy="548640"/>
          </a:xfrm>
          <a:prstGeom prst="ellipse">
            <a:avLst/>
          </a:prstGeom>
          <a:solidFill>
            <a:schemeClr val="accent6"/>
          </a:solidFill>
          <a:ln w="25400">
            <a:solidFill>
              <a:schemeClr val="accent6"/>
            </a:solidFill>
            <a:prstDash val="solid"/>
          </a:ln>
        </p:spPr>
      </p:sp>
      <p:pic>
        <p:nvPicPr>
          <p:cNvPr id="9" name="Image 1" descr="done">    </p:cNvPr>
          <p:cNvPicPr>
            <a:picLocks noChangeAspect="1"/>
          </p:cNvPicPr>
          <p:nvPr/>
        </p:nvPicPr>
        <p:blipFill>
          <a:blip r:embed="rId2"/>
          <a:stretch>
            <a:fillRect/>
          </a:stretch>
        </p:blipFill>
        <p:spPr>
          <a:xfrm>
            <a:off x="694944" y="2231136"/>
            <a:ext cx="256032" cy="256032"/>
          </a:xfrm>
          <a:prstGeom prst="rect">
            <a:avLst/>
          </a:prstGeom>
        </p:spPr>
      </p:pic>
      <p:sp>
        <p:nvSpPr>
          <p:cNvPr id="10" name="Text 6"/>
          <p:cNvSpPr txBox="1"/>
          <p:nvPr/>
        </p:nvSpPr>
        <p:spPr>
          <a:xfrm>
            <a:off x="1371600" y="2084832"/>
            <a:ext cx="4297680" cy="548640"/>
          </a:xfrm>
          <a:prstGeom prst="rect">
            <a:avLst/>
          </a:prstGeom>
          <a:noFill/>
          <a:ln/>
        </p:spPr>
        <p:txBody>
          <a:bodyPr wrap="square" lIns="0" tIns="0" rIns="0" bIns="0" rtlCol="0" anchor="ctr"/>
          <a:lstStyle/>
          <a:p>
            <a:pPr indent="0" marL="0">
              <a:buNone/>
            </a:pPr>
            <a:r>
              <a:rPr lang="en-US" sz="1400" dirty="0">
                <a:solidFill>
                  <a:schemeClr val="tx1"/>
                </a:solidFill>
              </a:rPr>
              <a:t>DDL executed with constraints in MySQL 8</a:t>
            </a:r>
            <a:endParaRPr lang="en-US" sz="1400" dirty="0"/>
          </a:p>
        </p:txBody>
      </p:sp>
      <p:sp>
        <p:nvSpPr>
          <p:cNvPr id="11" name="Milestone marker"/>
          <p:cNvSpPr/>
          <p:nvPr/>
        </p:nvSpPr>
        <p:spPr>
          <a:xfrm>
            <a:off x="548640" y="2889504"/>
            <a:ext cx="548640" cy="548640"/>
          </a:xfrm>
          <a:prstGeom prst="ellipse">
            <a:avLst/>
          </a:prstGeom>
          <a:solidFill>
            <a:schemeClr val="accent6"/>
          </a:solidFill>
          <a:ln w="25400">
            <a:solidFill>
              <a:schemeClr val="accent6"/>
            </a:solidFill>
            <a:prstDash val="solid"/>
          </a:ln>
        </p:spPr>
      </p:sp>
      <p:pic>
        <p:nvPicPr>
          <p:cNvPr id="12" name="Image 2" descr="done">    </p:cNvPr>
          <p:cNvPicPr>
            <a:picLocks noChangeAspect="1"/>
          </p:cNvPicPr>
          <p:nvPr/>
        </p:nvPicPr>
        <p:blipFill>
          <a:blip r:embed="rId3"/>
          <a:stretch>
            <a:fillRect/>
          </a:stretch>
        </p:blipFill>
        <p:spPr>
          <a:xfrm>
            <a:off x="694944" y="3035808"/>
            <a:ext cx="256032" cy="256032"/>
          </a:xfrm>
          <a:prstGeom prst="rect">
            <a:avLst/>
          </a:prstGeom>
        </p:spPr>
      </p:pic>
      <p:sp>
        <p:nvSpPr>
          <p:cNvPr id="13" name="Text 8"/>
          <p:cNvSpPr txBox="1"/>
          <p:nvPr/>
        </p:nvSpPr>
        <p:spPr>
          <a:xfrm>
            <a:off x="1371600" y="2889504"/>
            <a:ext cx="4297680" cy="548640"/>
          </a:xfrm>
          <a:prstGeom prst="rect">
            <a:avLst/>
          </a:prstGeom>
          <a:noFill/>
          <a:ln/>
        </p:spPr>
        <p:txBody>
          <a:bodyPr wrap="square" lIns="0" tIns="0" rIns="0" bIns="0" rtlCol="0" anchor="ctr"/>
          <a:lstStyle/>
          <a:p>
            <a:pPr indent="0" marL="0">
              <a:buNone/>
            </a:pPr>
            <a:r>
              <a:rPr lang="en-US" sz="1400" dirty="0">
                <a:solidFill>
                  <a:schemeClr val="tx1"/>
                </a:solidFill>
              </a:rPr>
              <a:t>Sample data loaded into all six tables</a:t>
            </a:r>
            <a:endParaRPr lang="en-US" sz="1400" dirty="0"/>
          </a:p>
        </p:txBody>
      </p:sp>
      <p:sp>
        <p:nvSpPr>
          <p:cNvPr id="14" name="Milestone marker"/>
          <p:cNvSpPr/>
          <p:nvPr/>
        </p:nvSpPr>
        <p:spPr>
          <a:xfrm>
            <a:off x="548640" y="3694176"/>
            <a:ext cx="548640" cy="548640"/>
          </a:xfrm>
          <a:prstGeom prst="ellipse">
            <a:avLst/>
          </a:prstGeom>
          <a:solidFill>
            <a:schemeClr val="accent6"/>
          </a:solidFill>
          <a:ln w="25400">
            <a:solidFill>
              <a:schemeClr val="accent6"/>
            </a:solidFill>
            <a:prstDash val="solid"/>
          </a:ln>
        </p:spPr>
      </p:sp>
      <p:pic>
        <p:nvPicPr>
          <p:cNvPr id="15" name="Image 3" descr="done">    </p:cNvPr>
          <p:cNvPicPr>
            <a:picLocks noChangeAspect="1"/>
          </p:cNvPicPr>
          <p:nvPr/>
        </p:nvPicPr>
        <p:blipFill>
          <a:blip r:embed="rId4"/>
          <a:stretch>
            <a:fillRect/>
          </a:stretch>
        </p:blipFill>
        <p:spPr>
          <a:xfrm>
            <a:off x="694944" y="3840480"/>
            <a:ext cx="256032" cy="256032"/>
          </a:xfrm>
          <a:prstGeom prst="rect">
            <a:avLst/>
          </a:prstGeom>
        </p:spPr>
      </p:pic>
      <p:sp>
        <p:nvSpPr>
          <p:cNvPr id="16" name="Text 10"/>
          <p:cNvSpPr txBox="1"/>
          <p:nvPr/>
        </p:nvSpPr>
        <p:spPr>
          <a:xfrm>
            <a:off x="1371600" y="3694176"/>
            <a:ext cx="4297680" cy="548640"/>
          </a:xfrm>
          <a:prstGeom prst="rect">
            <a:avLst/>
          </a:prstGeom>
          <a:noFill/>
          <a:ln/>
        </p:spPr>
        <p:txBody>
          <a:bodyPr wrap="square" lIns="0" tIns="0" rIns="0" bIns="0" rtlCol="0" anchor="ctr"/>
          <a:lstStyle/>
          <a:p>
            <a:pPr indent="0" marL="0">
              <a:buNone/>
            </a:pPr>
            <a:r>
              <a:rPr lang="en-US" sz="1400" dirty="0">
                <a:solidFill>
                  <a:schemeClr val="tx1"/>
                </a:solidFill>
              </a:rPr>
              <a:t>Joins, subqueries, aggregates and views tested</a:t>
            </a:r>
            <a:endParaRPr lang="en-US" sz="1400" dirty="0"/>
          </a:p>
        </p:txBody>
      </p:sp>
      <p:sp>
        <p:nvSpPr>
          <p:cNvPr id="17" name="Milestone marker"/>
          <p:cNvSpPr/>
          <p:nvPr/>
        </p:nvSpPr>
        <p:spPr>
          <a:xfrm>
            <a:off x="548640" y="4498848"/>
            <a:ext cx="548640" cy="548640"/>
          </a:xfrm>
          <a:prstGeom prst="ellipse">
            <a:avLst/>
          </a:prstGeom>
          <a:solidFill>
            <a:schemeClr val="accent6"/>
          </a:solidFill>
          <a:ln w="25400">
            <a:solidFill>
              <a:schemeClr val="accent6"/>
            </a:solidFill>
            <a:prstDash val="solid"/>
          </a:ln>
        </p:spPr>
      </p:sp>
      <p:pic>
        <p:nvPicPr>
          <p:cNvPr id="18" name="Image 4" descr="done">    </p:cNvPr>
          <p:cNvPicPr>
            <a:picLocks noChangeAspect="1"/>
          </p:cNvPicPr>
          <p:nvPr/>
        </p:nvPicPr>
        <p:blipFill>
          <a:blip r:embed="rId5"/>
          <a:stretch>
            <a:fillRect/>
          </a:stretch>
        </p:blipFill>
        <p:spPr>
          <a:xfrm>
            <a:off x="694944" y="4645152"/>
            <a:ext cx="256032" cy="256032"/>
          </a:xfrm>
          <a:prstGeom prst="rect">
            <a:avLst/>
          </a:prstGeom>
        </p:spPr>
      </p:pic>
      <p:sp>
        <p:nvSpPr>
          <p:cNvPr id="19" name="Text 12"/>
          <p:cNvSpPr txBox="1"/>
          <p:nvPr/>
        </p:nvSpPr>
        <p:spPr>
          <a:xfrm>
            <a:off x="1371600" y="4498848"/>
            <a:ext cx="4297680" cy="548640"/>
          </a:xfrm>
          <a:prstGeom prst="rect">
            <a:avLst/>
          </a:prstGeom>
          <a:noFill/>
          <a:ln/>
        </p:spPr>
        <p:txBody>
          <a:bodyPr wrap="square" lIns="0" tIns="0" rIns="0" bIns="0" rtlCol="0" anchor="ctr"/>
          <a:lstStyle/>
          <a:p>
            <a:pPr indent="0" marL="0">
              <a:buNone/>
            </a:pPr>
            <a:r>
              <a:rPr lang="en-US" sz="1400" dirty="0">
                <a:solidFill>
                  <a:schemeClr val="tx1"/>
                </a:solidFill>
              </a:rPr>
              <a:t>Flask prototype connected to the database</a:t>
            </a:r>
            <a:endParaRPr lang="en-US" sz="1400" dirty="0"/>
          </a:p>
        </p:txBody>
      </p:sp>
      <p:sp>
        <p:nvSpPr>
          <p:cNvPr id="20" name="Milestone marker"/>
          <p:cNvSpPr/>
          <p:nvPr/>
        </p:nvSpPr>
        <p:spPr>
          <a:xfrm>
            <a:off x="548640" y="5303520"/>
            <a:ext cx="548640" cy="548640"/>
          </a:xfrm>
          <a:prstGeom prst="ellipse">
            <a:avLst/>
          </a:prstGeom>
          <a:solidFill>
            <a:schemeClr val="bg1"/>
          </a:solidFill>
          <a:ln w="25400">
            <a:solidFill>
              <a:schemeClr val="accent1"/>
            </a:solidFill>
            <a:prstDash val="solid"/>
          </a:ln>
        </p:spPr>
      </p:sp>
      <p:sp>
        <p:nvSpPr>
          <p:cNvPr id="21" name="Text 14"/>
          <p:cNvSpPr txBox="1"/>
          <p:nvPr/>
        </p:nvSpPr>
        <p:spPr>
          <a:xfrm>
            <a:off x="1371600" y="5303520"/>
            <a:ext cx="4297680" cy="548640"/>
          </a:xfrm>
          <a:prstGeom prst="rect">
            <a:avLst/>
          </a:prstGeom>
          <a:noFill/>
          <a:ln/>
        </p:spPr>
        <p:txBody>
          <a:bodyPr wrap="square" lIns="0" tIns="0" rIns="0" bIns="0" rtlCol="0" anchor="ctr"/>
          <a:lstStyle/>
          <a:p>
            <a:pPr indent="0" marL="0">
              <a:buNone/>
            </a:pPr>
            <a:r>
              <a:rPr lang="en-US" sz="1400" b="1" dirty="0">
                <a:solidFill>
                  <a:schemeClr val="accent1"/>
                </a:solidFill>
              </a:rPr>
              <a:t>Prototype demonstration to the guide</a:t>
            </a:r>
            <a:endParaRPr lang="en-US" sz="1400" dirty="0"/>
          </a:p>
        </p:txBody>
      </p:sp>
      <p:pic>
        <p:nvPicPr>
          <p:cNvPr id="22" name="Image 5" descr="Prototype screenshot: Reports and analytics">    </p:cNvPr>
          <p:cNvPicPr>
            <a:picLocks noChangeAspect="1"/>
          </p:cNvPicPr>
          <p:nvPr/>
        </p:nvPicPr>
        <p:blipFill>
          <a:blip r:embed="rId6"/>
          <a:stretch>
            <a:fillRect/>
          </a:stretch>
        </p:blipFill>
        <p:spPr>
          <a:xfrm>
            <a:off x="6035040" y="1234440"/>
            <a:ext cx="5605272" cy="3008376"/>
          </a:xfrm>
          <a:prstGeom prst="rect">
            <a:avLst/>
          </a:prstGeom>
        </p:spPr>
      </p:pic>
      <p:sp>
        <p:nvSpPr>
          <p:cNvPr id="23" name="Screenshot caption chip"/>
          <p:cNvSpPr/>
          <p:nvPr/>
        </p:nvSpPr>
        <p:spPr>
          <a:xfrm>
            <a:off x="6126480" y="3895344"/>
            <a:ext cx="1906524" cy="256032"/>
          </a:xfrm>
          <a:prstGeom prst="roundRect">
            <a:avLst>
              <a:gd name="adj" fmla="val 50000"/>
            </a:avLst>
          </a:prstGeom>
          <a:solidFill>
            <a:schemeClr val="accent1"/>
          </a:solidFill>
          <a:ln w="12700">
            <a:solidFill>
              <a:schemeClr val="accent1"/>
            </a:solidFill>
            <a:prstDash val="solid"/>
          </a:ln>
        </p:spPr>
      </p:sp>
      <p:sp>
        <p:nvSpPr>
          <p:cNvPr id="24" name="Text 16"/>
          <p:cNvSpPr txBox="1"/>
          <p:nvPr/>
        </p:nvSpPr>
        <p:spPr>
          <a:xfrm>
            <a:off x="6126480" y="3895344"/>
            <a:ext cx="1906524" cy="256032"/>
          </a:xfrm>
          <a:prstGeom prst="rect">
            <a:avLst/>
          </a:prstGeom>
          <a:noFill/>
          <a:ln/>
        </p:spPr>
        <p:txBody>
          <a:bodyPr wrap="square" lIns="0" tIns="0" rIns="0" bIns="0" rtlCol="0" anchor="ctr"/>
          <a:lstStyle/>
          <a:p>
            <a:pPr algn="ctr" indent="0" marL="0">
              <a:buNone/>
            </a:pPr>
            <a:r>
              <a:rPr lang="en-US" sz="1000" b="1" dirty="0">
                <a:solidFill>
                  <a:schemeClr val="bg1"/>
                </a:solidFill>
              </a:rPr>
              <a:t>Reports and analytics</a:t>
            </a:r>
            <a:endParaRPr lang="en-US" sz="1000" dirty="0"/>
          </a:p>
        </p:txBody>
      </p:sp>
      <p:pic>
        <p:nvPicPr>
          <p:cNvPr id="25" name="Image 6" descr="Prototype screenshot: Blood requests">    </p:cNvPr>
          <p:cNvPicPr>
            <a:picLocks noChangeAspect="1"/>
          </p:cNvPicPr>
          <p:nvPr/>
        </p:nvPicPr>
        <p:blipFill>
          <a:blip r:embed="rId7"/>
          <a:stretch>
            <a:fillRect/>
          </a:stretch>
        </p:blipFill>
        <p:spPr>
          <a:xfrm>
            <a:off x="6035040" y="4379976"/>
            <a:ext cx="2651760" cy="1554480"/>
          </a:xfrm>
          <a:prstGeom prst="rect">
            <a:avLst/>
          </a:prstGeom>
        </p:spPr>
      </p:pic>
      <p:sp>
        <p:nvSpPr>
          <p:cNvPr id="26" name="Screenshot caption chip"/>
          <p:cNvSpPr/>
          <p:nvPr/>
        </p:nvSpPr>
        <p:spPr>
          <a:xfrm>
            <a:off x="6126480" y="5586984"/>
            <a:ext cx="1362456" cy="256032"/>
          </a:xfrm>
          <a:prstGeom prst="roundRect">
            <a:avLst>
              <a:gd name="adj" fmla="val 50000"/>
            </a:avLst>
          </a:prstGeom>
          <a:solidFill>
            <a:schemeClr val="accent1"/>
          </a:solidFill>
          <a:ln w="12700">
            <a:solidFill>
              <a:schemeClr val="accent1"/>
            </a:solidFill>
            <a:prstDash val="solid"/>
          </a:ln>
        </p:spPr>
      </p:sp>
      <p:sp>
        <p:nvSpPr>
          <p:cNvPr id="27" name="Text 18"/>
          <p:cNvSpPr txBox="1"/>
          <p:nvPr/>
        </p:nvSpPr>
        <p:spPr>
          <a:xfrm>
            <a:off x="6126480" y="5586984"/>
            <a:ext cx="1362456" cy="256032"/>
          </a:xfrm>
          <a:prstGeom prst="rect">
            <a:avLst/>
          </a:prstGeom>
          <a:noFill/>
          <a:ln/>
        </p:spPr>
        <p:txBody>
          <a:bodyPr wrap="square" lIns="0" tIns="0" rIns="0" bIns="0" rtlCol="0" anchor="ctr"/>
          <a:lstStyle/>
          <a:p>
            <a:pPr algn="ctr" indent="0" marL="0">
              <a:buNone/>
            </a:pPr>
            <a:r>
              <a:rPr lang="en-US" sz="1000" b="1" dirty="0">
                <a:solidFill>
                  <a:schemeClr val="bg1"/>
                </a:solidFill>
              </a:rPr>
              <a:t>Blood requests</a:t>
            </a:r>
            <a:endParaRPr lang="en-US" sz="1000" dirty="0"/>
          </a:p>
        </p:txBody>
      </p:sp>
      <p:pic>
        <p:nvPicPr>
          <p:cNvPr id="28" name="Image 7" descr="Prototype screenshot: Blood issues">    </p:cNvPr>
          <p:cNvPicPr>
            <a:picLocks noChangeAspect="1"/>
          </p:cNvPicPr>
          <p:nvPr/>
        </p:nvPicPr>
        <p:blipFill>
          <a:blip r:embed="rId8"/>
          <a:stretch>
            <a:fillRect/>
          </a:stretch>
        </p:blipFill>
        <p:spPr>
          <a:xfrm>
            <a:off x="8988552" y="4379976"/>
            <a:ext cx="2651760" cy="1554480"/>
          </a:xfrm>
          <a:prstGeom prst="rect">
            <a:avLst/>
          </a:prstGeom>
        </p:spPr>
      </p:pic>
      <p:sp>
        <p:nvSpPr>
          <p:cNvPr id="29" name="Screenshot caption chip"/>
          <p:cNvSpPr/>
          <p:nvPr/>
        </p:nvSpPr>
        <p:spPr>
          <a:xfrm>
            <a:off x="9079992" y="5586984"/>
            <a:ext cx="1207008" cy="256032"/>
          </a:xfrm>
          <a:prstGeom prst="roundRect">
            <a:avLst>
              <a:gd name="adj" fmla="val 50000"/>
            </a:avLst>
          </a:prstGeom>
          <a:solidFill>
            <a:schemeClr val="accent1"/>
          </a:solidFill>
          <a:ln w="12700">
            <a:solidFill>
              <a:schemeClr val="accent1"/>
            </a:solidFill>
            <a:prstDash val="solid"/>
          </a:ln>
        </p:spPr>
      </p:sp>
      <p:sp>
        <p:nvSpPr>
          <p:cNvPr id="30" name="Text 20"/>
          <p:cNvSpPr txBox="1"/>
          <p:nvPr/>
        </p:nvSpPr>
        <p:spPr>
          <a:xfrm>
            <a:off x="9079992" y="5586984"/>
            <a:ext cx="1207008" cy="256032"/>
          </a:xfrm>
          <a:prstGeom prst="rect">
            <a:avLst/>
          </a:prstGeom>
          <a:noFill/>
          <a:ln/>
        </p:spPr>
        <p:txBody>
          <a:bodyPr wrap="square" lIns="0" tIns="0" rIns="0" bIns="0" rtlCol="0" anchor="ctr"/>
          <a:lstStyle/>
          <a:p>
            <a:pPr algn="ctr" indent="0" marL="0">
              <a:buNone/>
            </a:pPr>
            <a:r>
              <a:rPr lang="en-US" sz="1000" b="1" dirty="0">
                <a:solidFill>
                  <a:schemeClr val="bg1"/>
                </a:solidFill>
              </a:rPr>
              <a:t>Blood issues</a:t>
            </a:r>
            <a:endParaRPr lang="en-US" sz="1000" dirty="0"/>
          </a:p>
        </p:txBody>
      </p:sp>
      <p:sp>
        <p:nvSpPr>
          <p:cNvPr id="25" name="Slide Number Placeholder 0"/>
          <p:cNvSpPr>
            <a:spLocks noGrp="1"/>
          </p:cNvSpPr>
          <p:nvPr>
            <p:ph type="sldNum" sz="quarter" idx="4294967295"/>
          </p:nvPr>
        </p:nvSpPr>
        <p:spPr>
          <a:xfrm>
            <a:off x="11064240" y="647395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731520"/>
          </a:xfrm>
          <a:prstGeom prst="rect">
            <a:avLst/>
          </a:prstGeom>
          <a:noFill/>
          <a:ln/>
        </p:spPr>
        <p:txBody>
          <a:bodyPr wrap="square" lIns="0" tIns="0" rIns="0" bIns="0" rtlCol="0" anchor="ctr"/>
          <a:lstStyle/>
          <a:p>
            <a:pPr algn="l" indent="0" marL="0">
              <a:buNone/>
            </a:pPr>
            <a:r>
              <a:rPr lang="en-US" sz="3400" b="1" dirty="0">
                <a:solidFill>
                  <a:schemeClr val="tx2"/>
                </a:solidFill>
              </a:rPr>
              <a:t>Application Architecture</a:t>
            </a:r>
            <a:endParaRPr lang="en-US" sz="3400" dirty="0"/>
          </a:p>
        </p:txBody>
      </p:sp>
      <p:sp>
        <p:nvSpPr>
          <p:cNvPr id="3" name="Review tag"/>
          <p:cNvSpPr/>
          <p:nvPr/>
        </p:nvSpPr>
        <p:spPr>
          <a:xfrm>
            <a:off x="9079992" y="420624"/>
            <a:ext cx="2560320" cy="329184"/>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9079992" y="420624"/>
            <a:ext cx="2560320" cy="329184"/>
          </a:xfrm>
          <a:prstGeom prst="rect">
            <a:avLst/>
          </a:prstGeom>
          <a:noFill/>
          <a:ln/>
        </p:spPr>
        <p:txBody>
          <a:bodyPr wrap="square" lIns="0" tIns="0" rIns="0" bIns="0" rtlCol="0" anchor="ctr"/>
          <a:lstStyle/>
          <a:p>
            <a:pPr algn="ctr" indent="0" marL="0">
              <a:buNone/>
            </a:pPr>
            <a:r>
              <a:rPr lang="en-US" sz="1200" b="1" spc="100" kern="0" dirty="0">
                <a:solidFill>
                  <a:schemeClr val="accent1"/>
                </a:solidFill>
              </a:rPr>
              <a:t>REVIEW 3  |  WEEK 16</a:t>
            </a:r>
            <a:endParaRPr lang="en-US" sz="1200" dirty="0"/>
          </a:p>
        </p:txBody>
      </p:sp>
      <p:sp>
        <p:nvSpPr>
          <p:cNvPr id="5" name="Browser interface tier"/>
          <p:cNvSpPr/>
          <p:nvPr/>
        </p:nvSpPr>
        <p:spPr>
          <a:xfrm>
            <a:off x="548640" y="1280160"/>
            <a:ext cx="3108960" cy="1965960"/>
          </a:xfrm>
          <a:prstGeom prst="roundRect">
            <a:avLst>
              <a:gd name="adj" fmla="val 4651"/>
            </a:avLst>
          </a:prstGeom>
          <a:solidFill>
            <a:schemeClr val="accent1"/>
          </a:solidFill>
          <a:ln w="12700">
            <a:solidFill>
              <a:schemeClr val="accent1"/>
            </a:solidFill>
            <a:prstDash val="solid"/>
          </a:ln>
        </p:spPr>
      </p:sp>
      <p:sp>
        <p:nvSpPr>
          <p:cNvPr id="6" name="Tier icon circle"/>
          <p:cNvSpPr/>
          <p:nvPr/>
        </p:nvSpPr>
        <p:spPr>
          <a:xfrm>
            <a:off x="822960" y="1508760"/>
            <a:ext cx="731520" cy="731520"/>
          </a:xfrm>
          <a:prstGeom prst="ellipse">
            <a:avLst/>
          </a:prstGeom>
          <a:solidFill>
            <a:schemeClr val="bg1"/>
          </a:solidFill>
          <a:ln w="12700">
            <a:solidFill>
              <a:schemeClr val="bg1"/>
            </a:solidFill>
            <a:prstDash val="solid"/>
          </a:ln>
        </p:spPr>
      </p:sp>
      <p:pic>
        <p:nvPicPr>
          <p:cNvPr id="7" name="Image 0" descr="Browser interface">    </p:cNvPr>
          <p:cNvPicPr>
            <a:picLocks noChangeAspect="1"/>
          </p:cNvPicPr>
          <p:nvPr/>
        </p:nvPicPr>
        <p:blipFill>
          <a:blip r:embed="rId1"/>
          <a:stretch>
            <a:fillRect/>
          </a:stretch>
        </p:blipFill>
        <p:spPr>
          <a:xfrm>
            <a:off x="1005840" y="1691640"/>
            <a:ext cx="365760" cy="365760"/>
          </a:xfrm>
          <a:prstGeom prst="rect">
            <a:avLst/>
          </a:prstGeom>
        </p:spPr>
      </p:pic>
      <p:sp>
        <p:nvSpPr>
          <p:cNvPr id="8" name="Text 5"/>
          <p:cNvSpPr txBox="1"/>
          <p:nvPr/>
        </p:nvSpPr>
        <p:spPr>
          <a:xfrm>
            <a:off x="822960" y="2331720"/>
            <a:ext cx="2651760" cy="365760"/>
          </a:xfrm>
          <a:prstGeom prst="rect">
            <a:avLst/>
          </a:prstGeom>
          <a:noFill/>
          <a:ln/>
        </p:spPr>
        <p:txBody>
          <a:bodyPr wrap="square" lIns="0" tIns="0" rIns="0" bIns="0" rtlCol="0" anchor="t"/>
          <a:lstStyle/>
          <a:p>
            <a:pPr indent="0" marL="0">
              <a:buNone/>
            </a:pPr>
            <a:r>
              <a:rPr lang="en-US" sz="1800" b="1" dirty="0">
                <a:solidFill>
                  <a:schemeClr val="bg1"/>
                </a:solidFill>
              </a:rPr>
              <a:t>Browser interface</a:t>
            </a:r>
            <a:endParaRPr lang="en-US" sz="1800" dirty="0"/>
          </a:p>
        </p:txBody>
      </p:sp>
      <p:sp>
        <p:nvSpPr>
          <p:cNvPr id="9" name="Text 6"/>
          <p:cNvSpPr txBox="1"/>
          <p:nvPr/>
        </p:nvSpPr>
        <p:spPr>
          <a:xfrm>
            <a:off x="822960" y="2697480"/>
            <a:ext cx="2651760" cy="502920"/>
          </a:xfrm>
          <a:prstGeom prst="rect">
            <a:avLst/>
          </a:prstGeom>
          <a:noFill/>
          <a:ln/>
        </p:spPr>
        <p:txBody>
          <a:bodyPr wrap="square" lIns="0" tIns="0" rIns="0" bIns="0" rtlCol="0" anchor="t"/>
          <a:lstStyle/>
          <a:p>
            <a:pPr indent="0" marL="0">
              <a:buNone/>
            </a:pPr>
            <a:r>
              <a:rPr lang="en-US" sz="1400" dirty="0">
                <a:solidFill>
                  <a:schemeClr val="bg1"/>
                </a:solidFill>
              </a:rPr>
              <a:t>HTML, CSS and JavaScript forms and tables</a:t>
            </a:r>
            <a:endParaRPr lang="en-US" sz="1400" dirty="0"/>
          </a:p>
        </p:txBody>
      </p:sp>
      <p:pic>
        <p:nvPicPr>
          <p:cNvPr id="10" name="Image 1" descr="connects to">    </p:cNvPr>
          <p:cNvPicPr>
            <a:picLocks noChangeAspect="1"/>
          </p:cNvPicPr>
          <p:nvPr/>
        </p:nvPicPr>
        <p:blipFill>
          <a:blip r:embed="rId2"/>
          <a:stretch>
            <a:fillRect/>
          </a:stretch>
        </p:blipFill>
        <p:spPr>
          <a:xfrm>
            <a:off x="3858768" y="2057400"/>
            <a:ext cx="457200" cy="457200"/>
          </a:xfrm>
          <a:prstGeom prst="rect">
            <a:avLst/>
          </a:prstGeom>
        </p:spPr>
      </p:pic>
      <p:sp>
        <p:nvSpPr>
          <p:cNvPr id="11" name="Flask application tier"/>
          <p:cNvSpPr/>
          <p:nvPr/>
        </p:nvSpPr>
        <p:spPr>
          <a:xfrm>
            <a:off x="4507992" y="1280160"/>
            <a:ext cx="3108960" cy="1965960"/>
          </a:xfrm>
          <a:prstGeom prst="roundRect">
            <a:avLst>
              <a:gd name="adj" fmla="val 4651"/>
            </a:avLst>
          </a:prstGeom>
          <a:solidFill>
            <a:schemeClr val="accent1"/>
          </a:solidFill>
          <a:ln w="12700">
            <a:solidFill>
              <a:schemeClr val="accent1"/>
            </a:solidFill>
            <a:prstDash val="solid"/>
          </a:ln>
        </p:spPr>
      </p:sp>
      <p:sp>
        <p:nvSpPr>
          <p:cNvPr id="12" name="Tier icon circle"/>
          <p:cNvSpPr/>
          <p:nvPr/>
        </p:nvSpPr>
        <p:spPr>
          <a:xfrm>
            <a:off x="4782312" y="1508760"/>
            <a:ext cx="731520" cy="731520"/>
          </a:xfrm>
          <a:prstGeom prst="ellipse">
            <a:avLst/>
          </a:prstGeom>
          <a:solidFill>
            <a:schemeClr val="bg1"/>
          </a:solidFill>
          <a:ln w="12700">
            <a:solidFill>
              <a:schemeClr val="bg1"/>
            </a:solidFill>
            <a:prstDash val="solid"/>
          </a:ln>
        </p:spPr>
      </p:sp>
      <p:pic>
        <p:nvPicPr>
          <p:cNvPr id="13" name="Image 2" descr="Flask application">    </p:cNvPr>
          <p:cNvPicPr>
            <a:picLocks noChangeAspect="1"/>
          </p:cNvPicPr>
          <p:nvPr/>
        </p:nvPicPr>
        <p:blipFill>
          <a:blip r:embed="rId3"/>
          <a:stretch>
            <a:fillRect/>
          </a:stretch>
        </p:blipFill>
        <p:spPr>
          <a:xfrm>
            <a:off x="4965192" y="1691640"/>
            <a:ext cx="365760" cy="365760"/>
          </a:xfrm>
          <a:prstGeom prst="rect">
            <a:avLst/>
          </a:prstGeom>
        </p:spPr>
      </p:pic>
      <p:sp>
        <p:nvSpPr>
          <p:cNvPr id="14" name="Text 9"/>
          <p:cNvSpPr txBox="1"/>
          <p:nvPr/>
        </p:nvSpPr>
        <p:spPr>
          <a:xfrm>
            <a:off x="4782312" y="2331720"/>
            <a:ext cx="2651760" cy="365760"/>
          </a:xfrm>
          <a:prstGeom prst="rect">
            <a:avLst/>
          </a:prstGeom>
          <a:noFill/>
          <a:ln/>
        </p:spPr>
        <p:txBody>
          <a:bodyPr wrap="square" lIns="0" tIns="0" rIns="0" bIns="0" rtlCol="0" anchor="t"/>
          <a:lstStyle/>
          <a:p>
            <a:pPr indent="0" marL="0">
              <a:buNone/>
            </a:pPr>
            <a:r>
              <a:rPr lang="en-US" sz="1800" b="1" dirty="0">
                <a:solidFill>
                  <a:schemeClr val="bg1"/>
                </a:solidFill>
              </a:rPr>
              <a:t>Flask application</a:t>
            </a:r>
            <a:endParaRPr lang="en-US" sz="1800" dirty="0"/>
          </a:p>
        </p:txBody>
      </p:sp>
      <p:sp>
        <p:nvSpPr>
          <p:cNvPr id="15" name="Text 10"/>
          <p:cNvSpPr txBox="1"/>
          <p:nvPr/>
        </p:nvSpPr>
        <p:spPr>
          <a:xfrm>
            <a:off x="4782312" y="2697480"/>
            <a:ext cx="2651760" cy="502920"/>
          </a:xfrm>
          <a:prstGeom prst="rect">
            <a:avLst/>
          </a:prstGeom>
          <a:noFill/>
          <a:ln/>
        </p:spPr>
        <p:txBody>
          <a:bodyPr wrap="square" lIns="0" tIns="0" rIns="0" bIns="0" rtlCol="0" anchor="t"/>
          <a:lstStyle/>
          <a:p>
            <a:pPr indent="0" marL="0">
              <a:buNone/>
            </a:pPr>
            <a:r>
              <a:rPr lang="en-US" sz="1400" dirty="0">
                <a:solidFill>
                  <a:schemeClr val="bg1"/>
                </a:solidFill>
              </a:rPr>
              <a:t>Routes, input validation and error handling</a:t>
            </a:r>
            <a:endParaRPr lang="en-US" sz="1400" dirty="0"/>
          </a:p>
        </p:txBody>
      </p:sp>
      <p:pic>
        <p:nvPicPr>
          <p:cNvPr id="16" name="Image 3" descr="connects to">    </p:cNvPr>
          <p:cNvPicPr>
            <a:picLocks noChangeAspect="1"/>
          </p:cNvPicPr>
          <p:nvPr/>
        </p:nvPicPr>
        <p:blipFill>
          <a:blip r:embed="rId4"/>
          <a:stretch>
            <a:fillRect/>
          </a:stretch>
        </p:blipFill>
        <p:spPr>
          <a:xfrm>
            <a:off x="7818120" y="2057400"/>
            <a:ext cx="457200" cy="457200"/>
          </a:xfrm>
          <a:prstGeom prst="rect">
            <a:avLst/>
          </a:prstGeom>
        </p:spPr>
      </p:pic>
      <p:sp>
        <p:nvSpPr>
          <p:cNvPr id="17" name="MySQL 8 database tier"/>
          <p:cNvSpPr/>
          <p:nvPr/>
        </p:nvSpPr>
        <p:spPr>
          <a:xfrm>
            <a:off x="8467344" y="1280160"/>
            <a:ext cx="3108960" cy="1965960"/>
          </a:xfrm>
          <a:prstGeom prst="roundRect">
            <a:avLst>
              <a:gd name="adj" fmla="val 4651"/>
            </a:avLst>
          </a:prstGeom>
          <a:solidFill>
            <a:schemeClr val="accent1"/>
          </a:solidFill>
          <a:ln w="12700">
            <a:solidFill>
              <a:schemeClr val="accent1"/>
            </a:solidFill>
            <a:prstDash val="solid"/>
          </a:ln>
        </p:spPr>
      </p:sp>
      <p:sp>
        <p:nvSpPr>
          <p:cNvPr id="18" name="Tier icon circle"/>
          <p:cNvSpPr/>
          <p:nvPr/>
        </p:nvSpPr>
        <p:spPr>
          <a:xfrm>
            <a:off x="8741664" y="1508760"/>
            <a:ext cx="731520" cy="731520"/>
          </a:xfrm>
          <a:prstGeom prst="ellipse">
            <a:avLst/>
          </a:prstGeom>
          <a:solidFill>
            <a:schemeClr val="bg1"/>
          </a:solidFill>
          <a:ln w="12700">
            <a:solidFill>
              <a:schemeClr val="bg1"/>
            </a:solidFill>
            <a:prstDash val="solid"/>
          </a:ln>
        </p:spPr>
      </p:sp>
      <p:pic>
        <p:nvPicPr>
          <p:cNvPr id="19" name="Image 4" descr="MySQL 8 database">    </p:cNvPr>
          <p:cNvPicPr>
            <a:picLocks noChangeAspect="1"/>
          </p:cNvPicPr>
          <p:nvPr/>
        </p:nvPicPr>
        <p:blipFill>
          <a:blip r:embed="rId5"/>
          <a:stretch>
            <a:fillRect/>
          </a:stretch>
        </p:blipFill>
        <p:spPr>
          <a:xfrm>
            <a:off x="8924544" y="1691640"/>
            <a:ext cx="365760" cy="365760"/>
          </a:xfrm>
          <a:prstGeom prst="rect">
            <a:avLst/>
          </a:prstGeom>
        </p:spPr>
      </p:pic>
      <p:sp>
        <p:nvSpPr>
          <p:cNvPr id="20" name="Text 13"/>
          <p:cNvSpPr txBox="1"/>
          <p:nvPr/>
        </p:nvSpPr>
        <p:spPr>
          <a:xfrm>
            <a:off x="8741664" y="2331720"/>
            <a:ext cx="2651760" cy="365760"/>
          </a:xfrm>
          <a:prstGeom prst="rect">
            <a:avLst/>
          </a:prstGeom>
          <a:noFill/>
          <a:ln/>
        </p:spPr>
        <p:txBody>
          <a:bodyPr wrap="square" lIns="0" tIns="0" rIns="0" bIns="0" rtlCol="0" anchor="t"/>
          <a:lstStyle/>
          <a:p>
            <a:pPr indent="0" marL="0">
              <a:buNone/>
            </a:pPr>
            <a:r>
              <a:rPr lang="en-US" sz="1800" b="1" dirty="0">
                <a:solidFill>
                  <a:schemeClr val="bg1"/>
                </a:solidFill>
              </a:rPr>
              <a:t>MySQL 8 database</a:t>
            </a:r>
            <a:endParaRPr lang="en-US" sz="1800" dirty="0"/>
          </a:p>
        </p:txBody>
      </p:sp>
      <p:sp>
        <p:nvSpPr>
          <p:cNvPr id="21" name="Text 14"/>
          <p:cNvSpPr txBox="1"/>
          <p:nvPr/>
        </p:nvSpPr>
        <p:spPr>
          <a:xfrm>
            <a:off x="8741664" y="2697480"/>
            <a:ext cx="2651760" cy="502920"/>
          </a:xfrm>
          <a:prstGeom prst="rect">
            <a:avLst/>
          </a:prstGeom>
          <a:noFill/>
          <a:ln/>
        </p:spPr>
        <p:txBody>
          <a:bodyPr wrap="square" lIns="0" tIns="0" rIns="0" bIns="0" rtlCol="0" anchor="t"/>
          <a:lstStyle/>
          <a:p>
            <a:pPr indent="0" marL="0">
              <a:buNone/>
            </a:pPr>
            <a:r>
              <a:rPr lang="en-US" sz="1400" dirty="0">
                <a:solidFill>
                  <a:schemeClr val="bg1"/>
                </a:solidFill>
              </a:rPr>
              <a:t>Six 3NF tables, constraints and views</a:t>
            </a:r>
            <a:endParaRPr lang="en-US" sz="1400" dirty="0"/>
          </a:p>
        </p:txBody>
      </p:sp>
      <p:sp>
        <p:nvSpPr>
          <p:cNvPr id="22" name="Text 15"/>
          <p:cNvSpPr txBox="1"/>
          <p:nvPr/>
        </p:nvSpPr>
        <p:spPr>
          <a:xfrm>
            <a:off x="548640" y="3566160"/>
            <a:ext cx="5486400" cy="320040"/>
          </a:xfrm>
          <a:prstGeom prst="rect">
            <a:avLst/>
          </a:prstGeom>
          <a:noFill/>
          <a:ln/>
        </p:spPr>
        <p:txBody>
          <a:bodyPr wrap="square" lIns="0" tIns="0" rIns="0" bIns="0" rtlCol="0" anchor="t"/>
          <a:lstStyle/>
          <a:p>
            <a:pPr indent="0" marL="0">
              <a:buNone/>
            </a:pPr>
            <a:r>
              <a:rPr lang="en-US" sz="1400" b="1" spc="200" kern="0" dirty="0">
                <a:solidFill>
                  <a:schemeClr val="accent5"/>
                </a:solidFill>
              </a:rPr>
              <a:t>APPLICATION MODULES</a:t>
            </a:r>
            <a:endParaRPr lang="en-US" sz="1400" dirty="0"/>
          </a:p>
        </p:txBody>
      </p:sp>
      <p:sp>
        <p:nvSpPr>
          <p:cNvPr id="23" name="Donor registration module"/>
          <p:cNvSpPr/>
          <p:nvPr/>
        </p:nvSpPr>
        <p:spPr>
          <a:xfrm>
            <a:off x="548640" y="4023360"/>
            <a:ext cx="2651760" cy="822960"/>
          </a:xfrm>
          <a:prstGeom prst="roundRect">
            <a:avLst>
              <a:gd name="adj" fmla="val 11111"/>
            </a:avLst>
          </a:prstGeom>
          <a:solidFill>
            <a:schemeClr val="bg2"/>
          </a:solidFill>
          <a:ln w="12700">
            <a:solidFill>
              <a:schemeClr val="bg2"/>
            </a:solidFill>
            <a:prstDash val="solid"/>
          </a:ln>
        </p:spPr>
      </p:sp>
      <p:sp>
        <p:nvSpPr>
          <p:cNvPr id="24" name="Text 17"/>
          <p:cNvSpPr txBox="1"/>
          <p:nvPr/>
        </p:nvSpPr>
        <p:spPr>
          <a:xfrm>
            <a:off x="731520" y="4023360"/>
            <a:ext cx="2286000" cy="822960"/>
          </a:xfrm>
          <a:prstGeom prst="rect">
            <a:avLst/>
          </a:prstGeom>
          <a:noFill/>
          <a:ln/>
        </p:spPr>
        <p:txBody>
          <a:bodyPr wrap="square" lIns="0" tIns="0" rIns="0" bIns="0" rtlCol="0" anchor="ctr"/>
          <a:lstStyle/>
          <a:p>
            <a:pPr indent="0" marL="0">
              <a:buNone/>
            </a:pPr>
            <a:r>
              <a:rPr lang="en-US" sz="1500" b="1" dirty="0">
                <a:solidFill>
                  <a:schemeClr val="tx2"/>
                </a:solidFill>
              </a:rPr>
              <a:t>Donor registration</a:t>
            </a:r>
            <a:endParaRPr lang="en-US" sz="1500" dirty="0"/>
          </a:p>
        </p:txBody>
      </p:sp>
      <p:sp>
        <p:nvSpPr>
          <p:cNvPr id="25" name="Donation entry module"/>
          <p:cNvSpPr/>
          <p:nvPr/>
        </p:nvSpPr>
        <p:spPr>
          <a:xfrm>
            <a:off x="3362249" y="4023360"/>
            <a:ext cx="2651760" cy="822960"/>
          </a:xfrm>
          <a:prstGeom prst="roundRect">
            <a:avLst>
              <a:gd name="adj" fmla="val 11111"/>
            </a:avLst>
          </a:prstGeom>
          <a:solidFill>
            <a:schemeClr val="bg2"/>
          </a:solidFill>
          <a:ln w="12700">
            <a:solidFill>
              <a:schemeClr val="bg2"/>
            </a:solidFill>
            <a:prstDash val="solid"/>
          </a:ln>
        </p:spPr>
      </p:sp>
      <p:sp>
        <p:nvSpPr>
          <p:cNvPr id="26" name="Text 19"/>
          <p:cNvSpPr txBox="1"/>
          <p:nvPr/>
        </p:nvSpPr>
        <p:spPr>
          <a:xfrm>
            <a:off x="3545129" y="4023360"/>
            <a:ext cx="2286000" cy="822960"/>
          </a:xfrm>
          <a:prstGeom prst="rect">
            <a:avLst/>
          </a:prstGeom>
          <a:noFill/>
          <a:ln/>
        </p:spPr>
        <p:txBody>
          <a:bodyPr wrap="square" lIns="0" tIns="0" rIns="0" bIns="0" rtlCol="0" anchor="ctr"/>
          <a:lstStyle/>
          <a:p>
            <a:pPr indent="0" marL="0">
              <a:buNone/>
            </a:pPr>
            <a:r>
              <a:rPr lang="en-US" sz="1500" b="1" dirty="0">
                <a:solidFill>
                  <a:schemeClr val="tx2"/>
                </a:solidFill>
              </a:rPr>
              <a:t>Donation entry</a:t>
            </a:r>
            <a:endParaRPr lang="en-US" sz="1500" dirty="0"/>
          </a:p>
        </p:txBody>
      </p:sp>
      <p:sp>
        <p:nvSpPr>
          <p:cNvPr id="27" name="Inventory management module"/>
          <p:cNvSpPr/>
          <p:nvPr/>
        </p:nvSpPr>
        <p:spPr>
          <a:xfrm>
            <a:off x="6175858" y="4023360"/>
            <a:ext cx="2651760" cy="822960"/>
          </a:xfrm>
          <a:prstGeom prst="roundRect">
            <a:avLst>
              <a:gd name="adj" fmla="val 11111"/>
            </a:avLst>
          </a:prstGeom>
          <a:solidFill>
            <a:schemeClr val="bg2"/>
          </a:solidFill>
          <a:ln w="12700">
            <a:solidFill>
              <a:schemeClr val="bg2"/>
            </a:solidFill>
            <a:prstDash val="solid"/>
          </a:ln>
        </p:spPr>
      </p:sp>
      <p:sp>
        <p:nvSpPr>
          <p:cNvPr id="28" name="Text 21"/>
          <p:cNvSpPr txBox="1"/>
          <p:nvPr/>
        </p:nvSpPr>
        <p:spPr>
          <a:xfrm>
            <a:off x="6358738" y="4023360"/>
            <a:ext cx="2286000" cy="822960"/>
          </a:xfrm>
          <a:prstGeom prst="rect">
            <a:avLst/>
          </a:prstGeom>
          <a:noFill/>
          <a:ln/>
        </p:spPr>
        <p:txBody>
          <a:bodyPr wrap="square" lIns="0" tIns="0" rIns="0" bIns="0" rtlCol="0" anchor="ctr"/>
          <a:lstStyle/>
          <a:p>
            <a:pPr indent="0" marL="0">
              <a:buNone/>
            </a:pPr>
            <a:r>
              <a:rPr lang="en-US" sz="1500" b="1" dirty="0">
                <a:solidFill>
                  <a:schemeClr val="tx2"/>
                </a:solidFill>
              </a:rPr>
              <a:t>Inventory management</a:t>
            </a:r>
            <a:endParaRPr lang="en-US" sz="1500" dirty="0"/>
          </a:p>
        </p:txBody>
      </p:sp>
      <p:sp>
        <p:nvSpPr>
          <p:cNvPr id="29" name="Hospital requests module"/>
          <p:cNvSpPr/>
          <p:nvPr/>
        </p:nvSpPr>
        <p:spPr>
          <a:xfrm>
            <a:off x="8989466" y="4023360"/>
            <a:ext cx="2651760" cy="822960"/>
          </a:xfrm>
          <a:prstGeom prst="roundRect">
            <a:avLst>
              <a:gd name="adj" fmla="val 11111"/>
            </a:avLst>
          </a:prstGeom>
          <a:solidFill>
            <a:schemeClr val="bg2"/>
          </a:solidFill>
          <a:ln w="12700">
            <a:solidFill>
              <a:schemeClr val="bg2"/>
            </a:solidFill>
            <a:prstDash val="solid"/>
          </a:ln>
        </p:spPr>
      </p:sp>
      <p:sp>
        <p:nvSpPr>
          <p:cNvPr id="30" name="Text 23"/>
          <p:cNvSpPr txBox="1"/>
          <p:nvPr/>
        </p:nvSpPr>
        <p:spPr>
          <a:xfrm>
            <a:off x="9172346" y="4023360"/>
            <a:ext cx="2286000" cy="822960"/>
          </a:xfrm>
          <a:prstGeom prst="rect">
            <a:avLst/>
          </a:prstGeom>
          <a:noFill/>
          <a:ln/>
        </p:spPr>
        <p:txBody>
          <a:bodyPr wrap="square" lIns="0" tIns="0" rIns="0" bIns="0" rtlCol="0" anchor="ctr"/>
          <a:lstStyle/>
          <a:p>
            <a:pPr indent="0" marL="0">
              <a:buNone/>
            </a:pPr>
            <a:r>
              <a:rPr lang="en-US" sz="1500" b="1" dirty="0">
                <a:solidFill>
                  <a:schemeClr val="tx2"/>
                </a:solidFill>
              </a:rPr>
              <a:t>Hospital requests</a:t>
            </a:r>
            <a:endParaRPr lang="en-US" sz="1500" dirty="0"/>
          </a:p>
        </p:txBody>
      </p:sp>
      <p:sp>
        <p:nvSpPr>
          <p:cNvPr id="31" name="Issue processing module"/>
          <p:cNvSpPr/>
          <p:nvPr/>
        </p:nvSpPr>
        <p:spPr>
          <a:xfrm>
            <a:off x="548640" y="5029200"/>
            <a:ext cx="2651760" cy="822960"/>
          </a:xfrm>
          <a:prstGeom prst="roundRect">
            <a:avLst>
              <a:gd name="adj" fmla="val 11111"/>
            </a:avLst>
          </a:prstGeom>
          <a:solidFill>
            <a:schemeClr val="bg2"/>
          </a:solidFill>
          <a:ln w="12700">
            <a:solidFill>
              <a:schemeClr val="bg2"/>
            </a:solidFill>
            <a:prstDash val="solid"/>
          </a:ln>
        </p:spPr>
      </p:sp>
      <p:sp>
        <p:nvSpPr>
          <p:cNvPr id="32" name="Text 25"/>
          <p:cNvSpPr txBox="1"/>
          <p:nvPr/>
        </p:nvSpPr>
        <p:spPr>
          <a:xfrm>
            <a:off x="731520" y="5029200"/>
            <a:ext cx="2286000" cy="822960"/>
          </a:xfrm>
          <a:prstGeom prst="rect">
            <a:avLst/>
          </a:prstGeom>
          <a:noFill/>
          <a:ln/>
        </p:spPr>
        <p:txBody>
          <a:bodyPr wrap="square" lIns="0" tIns="0" rIns="0" bIns="0" rtlCol="0" anchor="ctr"/>
          <a:lstStyle/>
          <a:p>
            <a:pPr indent="0" marL="0">
              <a:buNone/>
            </a:pPr>
            <a:r>
              <a:rPr lang="en-US" sz="1500" b="1" dirty="0">
                <a:solidFill>
                  <a:schemeClr val="tx2"/>
                </a:solidFill>
              </a:rPr>
              <a:t>Issue processing</a:t>
            </a:r>
            <a:endParaRPr lang="en-US" sz="1500" dirty="0"/>
          </a:p>
        </p:txBody>
      </p:sp>
      <p:sp>
        <p:nvSpPr>
          <p:cNvPr id="33" name="Search module"/>
          <p:cNvSpPr/>
          <p:nvPr/>
        </p:nvSpPr>
        <p:spPr>
          <a:xfrm>
            <a:off x="3362249" y="5029200"/>
            <a:ext cx="2651760" cy="822960"/>
          </a:xfrm>
          <a:prstGeom prst="roundRect">
            <a:avLst>
              <a:gd name="adj" fmla="val 11111"/>
            </a:avLst>
          </a:prstGeom>
          <a:solidFill>
            <a:schemeClr val="bg2"/>
          </a:solidFill>
          <a:ln w="12700">
            <a:solidFill>
              <a:schemeClr val="bg2"/>
            </a:solidFill>
            <a:prstDash val="solid"/>
          </a:ln>
        </p:spPr>
      </p:sp>
      <p:sp>
        <p:nvSpPr>
          <p:cNvPr id="34" name="Text 27"/>
          <p:cNvSpPr txBox="1"/>
          <p:nvPr/>
        </p:nvSpPr>
        <p:spPr>
          <a:xfrm>
            <a:off x="3545129" y="5029200"/>
            <a:ext cx="2286000" cy="822960"/>
          </a:xfrm>
          <a:prstGeom prst="rect">
            <a:avLst/>
          </a:prstGeom>
          <a:noFill/>
          <a:ln/>
        </p:spPr>
        <p:txBody>
          <a:bodyPr wrap="square" lIns="0" tIns="0" rIns="0" bIns="0" rtlCol="0" anchor="ctr"/>
          <a:lstStyle/>
          <a:p>
            <a:pPr indent="0" marL="0">
              <a:buNone/>
            </a:pPr>
            <a:r>
              <a:rPr lang="en-US" sz="1500" b="1" dirty="0">
                <a:solidFill>
                  <a:schemeClr val="tx2"/>
                </a:solidFill>
              </a:rPr>
              <a:t>Search</a:t>
            </a:r>
            <a:endParaRPr lang="en-US" sz="1500" dirty="0"/>
          </a:p>
        </p:txBody>
      </p:sp>
      <p:sp>
        <p:nvSpPr>
          <p:cNvPr id="35" name="Reports and views module"/>
          <p:cNvSpPr/>
          <p:nvPr/>
        </p:nvSpPr>
        <p:spPr>
          <a:xfrm>
            <a:off x="6175858" y="5029200"/>
            <a:ext cx="2651760" cy="822960"/>
          </a:xfrm>
          <a:prstGeom prst="roundRect">
            <a:avLst>
              <a:gd name="adj" fmla="val 11111"/>
            </a:avLst>
          </a:prstGeom>
          <a:solidFill>
            <a:schemeClr val="bg2"/>
          </a:solidFill>
          <a:ln w="12700">
            <a:solidFill>
              <a:schemeClr val="bg2"/>
            </a:solidFill>
            <a:prstDash val="solid"/>
          </a:ln>
        </p:spPr>
      </p:sp>
      <p:sp>
        <p:nvSpPr>
          <p:cNvPr id="36" name="Text 29"/>
          <p:cNvSpPr txBox="1"/>
          <p:nvPr/>
        </p:nvSpPr>
        <p:spPr>
          <a:xfrm>
            <a:off x="6358738" y="5029200"/>
            <a:ext cx="2286000" cy="822960"/>
          </a:xfrm>
          <a:prstGeom prst="rect">
            <a:avLst/>
          </a:prstGeom>
          <a:noFill/>
          <a:ln/>
        </p:spPr>
        <p:txBody>
          <a:bodyPr wrap="square" lIns="0" tIns="0" rIns="0" bIns="0" rtlCol="0" anchor="ctr"/>
          <a:lstStyle/>
          <a:p>
            <a:pPr indent="0" marL="0">
              <a:buNone/>
            </a:pPr>
            <a:r>
              <a:rPr lang="en-US" sz="1500" b="1" dirty="0">
                <a:solidFill>
                  <a:schemeClr val="tx2"/>
                </a:solidFill>
              </a:rPr>
              <a:t>Reports and views</a:t>
            </a:r>
            <a:endParaRPr lang="en-US" sz="1500" dirty="0"/>
          </a:p>
        </p:txBody>
      </p:sp>
      <p:sp>
        <p:nvSpPr>
          <p:cNvPr id="37" name="Validation and errors module"/>
          <p:cNvSpPr/>
          <p:nvPr/>
        </p:nvSpPr>
        <p:spPr>
          <a:xfrm>
            <a:off x="8989466" y="5029200"/>
            <a:ext cx="2651760" cy="822960"/>
          </a:xfrm>
          <a:prstGeom prst="roundRect">
            <a:avLst>
              <a:gd name="adj" fmla="val 11111"/>
            </a:avLst>
          </a:prstGeom>
          <a:solidFill>
            <a:schemeClr val="bg2"/>
          </a:solidFill>
          <a:ln w="12700">
            <a:solidFill>
              <a:schemeClr val="bg2"/>
            </a:solidFill>
            <a:prstDash val="solid"/>
          </a:ln>
        </p:spPr>
      </p:sp>
      <p:sp>
        <p:nvSpPr>
          <p:cNvPr id="38" name="Text 31"/>
          <p:cNvSpPr txBox="1"/>
          <p:nvPr/>
        </p:nvSpPr>
        <p:spPr>
          <a:xfrm>
            <a:off x="9172346" y="5029200"/>
            <a:ext cx="2286000" cy="822960"/>
          </a:xfrm>
          <a:prstGeom prst="rect">
            <a:avLst/>
          </a:prstGeom>
          <a:noFill/>
          <a:ln/>
        </p:spPr>
        <p:txBody>
          <a:bodyPr wrap="square" lIns="0" tIns="0" rIns="0" bIns="0" rtlCol="0" anchor="ctr"/>
          <a:lstStyle/>
          <a:p>
            <a:pPr indent="0" marL="0">
              <a:buNone/>
            </a:pPr>
            <a:r>
              <a:rPr lang="en-US" sz="1500" b="1" dirty="0">
                <a:solidFill>
                  <a:schemeClr val="tx2"/>
                </a:solidFill>
              </a:rPr>
              <a:t>Validation and errors</a:t>
            </a:r>
            <a:endParaRPr lang="en-US" sz="1500" dirty="0"/>
          </a:p>
        </p:txBody>
      </p:sp>
      <p:sp>
        <p:nvSpPr>
          <p:cNvPr id="25" name="Slide Number Placeholder 0"/>
          <p:cNvSpPr>
            <a:spLocks noGrp="1"/>
          </p:cNvSpPr>
          <p:nvPr>
            <p:ph type="sldNum" sz="quarter" idx="4294967295"/>
          </p:nvPr>
        </p:nvSpPr>
        <p:spPr>
          <a:xfrm>
            <a:off x="11064240" y="647395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91672" cy="731520"/>
          </a:xfrm>
          <a:prstGeom prst="rect">
            <a:avLst/>
          </a:prstGeom>
          <a:noFill/>
          <a:ln/>
        </p:spPr>
        <p:txBody>
          <a:bodyPr wrap="square" lIns="0" tIns="0" rIns="0" bIns="0" rtlCol="0" anchor="ctr"/>
          <a:lstStyle/>
          <a:p>
            <a:pPr algn="l" indent="0" marL="0">
              <a:buNone/>
            </a:pPr>
            <a:r>
              <a:rPr lang="en-US" sz="3400" b="1" dirty="0">
                <a:solidFill>
                  <a:schemeClr val="tx2"/>
                </a:solidFill>
              </a:rPr>
              <a:t>Final Demonstration</a:t>
            </a:r>
            <a:endParaRPr lang="en-US" sz="3400" dirty="0"/>
          </a:p>
        </p:txBody>
      </p:sp>
      <p:sp>
        <p:nvSpPr>
          <p:cNvPr id="3" name="Review tag"/>
          <p:cNvSpPr/>
          <p:nvPr/>
        </p:nvSpPr>
        <p:spPr>
          <a:xfrm>
            <a:off x="9079992" y="420624"/>
            <a:ext cx="2560320" cy="329184"/>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9079992" y="420624"/>
            <a:ext cx="2560320" cy="329184"/>
          </a:xfrm>
          <a:prstGeom prst="rect">
            <a:avLst/>
          </a:prstGeom>
          <a:noFill/>
          <a:ln/>
        </p:spPr>
        <p:txBody>
          <a:bodyPr wrap="square" lIns="0" tIns="0" rIns="0" bIns="0" rtlCol="0" anchor="ctr"/>
          <a:lstStyle/>
          <a:p>
            <a:pPr algn="ctr" indent="0" marL="0">
              <a:buNone/>
            </a:pPr>
            <a:r>
              <a:rPr lang="en-US" sz="1200" b="1" spc="100" kern="0" dirty="0">
                <a:solidFill>
                  <a:schemeClr val="accent1"/>
                </a:solidFill>
              </a:rPr>
              <a:t>REVIEW 3  |  WEEK 16</a:t>
            </a:r>
            <a:endParaRPr lang="en-US" sz="1200" dirty="0"/>
          </a:p>
        </p:txBody>
      </p:sp>
      <p:sp>
        <p:nvSpPr>
          <p:cNvPr id="5" name="Demo flow card"/>
          <p:cNvSpPr/>
          <p:nvPr/>
        </p:nvSpPr>
        <p:spPr>
          <a:xfrm>
            <a:off x="548640" y="1234440"/>
            <a:ext cx="6583680" cy="4937760"/>
          </a:xfrm>
          <a:prstGeom prst="roundRect">
            <a:avLst>
              <a:gd name="adj" fmla="val 1852"/>
            </a:avLst>
          </a:prstGeom>
          <a:solidFill>
            <a:schemeClr val="bg2"/>
          </a:solidFill>
          <a:ln w="12700">
            <a:solidFill>
              <a:schemeClr val="bg2"/>
            </a:solidFill>
            <a:prstDash val="solid"/>
          </a:ln>
        </p:spPr>
      </p:sp>
      <p:sp>
        <p:nvSpPr>
          <p:cNvPr id="6" name="CRUD operations circle"/>
          <p:cNvSpPr/>
          <p:nvPr/>
        </p:nvSpPr>
        <p:spPr>
          <a:xfrm>
            <a:off x="822960" y="1490472"/>
            <a:ext cx="658368" cy="658368"/>
          </a:xfrm>
          <a:prstGeom prst="ellipse">
            <a:avLst/>
          </a:prstGeom>
          <a:solidFill>
            <a:schemeClr val="accent1"/>
          </a:solidFill>
          <a:ln w="12700">
            <a:solidFill>
              <a:schemeClr val="accent1"/>
            </a:solidFill>
            <a:prstDash val="solid"/>
          </a:ln>
        </p:spPr>
      </p:sp>
      <p:pic>
        <p:nvPicPr>
          <p:cNvPr id="7" name="Image 0" descr="CRUD operations">    </p:cNvPr>
          <p:cNvPicPr>
            <a:picLocks noChangeAspect="1"/>
          </p:cNvPicPr>
          <p:nvPr/>
        </p:nvPicPr>
        <p:blipFill>
          <a:blip r:embed="rId1"/>
          <a:stretch>
            <a:fillRect/>
          </a:stretch>
        </p:blipFill>
        <p:spPr>
          <a:xfrm>
            <a:off x="987552" y="1655064"/>
            <a:ext cx="329184" cy="329184"/>
          </a:xfrm>
          <a:prstGeom prst="rect">
            <a:avLst/>
          </a:prstGeom>
        </p:spPr>
      </p:pic>
      <p:sp>
        <p:nvSpPr>
          <p:cNvPr id="8" name="Text 5"/>
          <p:cNvSpPr txBox="1"/>
          <p:nvPr/>
        </p:nvSpPr>
        <p:spPr>
          <a:xfrm>
            <a:off x="1737360" y="1463040"/>
            <a:ext cx="5120640" cy="320040"/>
          </a:xfrm>
          <a:prstGeom prst="rect">
            <a:avLst/>
          </a:prstGeom>
          <a:noFill/>
          <a:ln/>
        </p:spPr>
        <p:txBody>
          <a:bodyPr wrap="square" lIns="0" tIns="0" rIns="0" bIns="0" rtlCol="0" anchor="t"/>
          <a:lstStyle/>
          <a:p>
            <a:pPr indent="0" marL="0">
              <a:buNone/>
            </a:pPr>
            <a:r>
              <a:rPr lang="en-US" sz="1600" b="1" dirty="0">
                <a:solidFill>
                  <a:schemeClr val="tx2"/>
                </a:solidFill>
              </a:rPr>
              <a:t>CRUD operations</a:t>
            </a:r>
            <a:endParaRPr lang="en-US" sz="1600" dirty="0"/>
          </a:p>
        </p:txBody>
      </p:sp>
      <p:sp>
        <p:nvSpPr>
          <p:cNvPr id="9" name="Text 6"/>
          <p:cNvSpPr txBox="1"/>
          <p:nvPr/>
        </p:nvSpPr>
        <p:spPr>
          <a:xfrm>
            <a:off x="1737360" y="1801368"/>
            <a:ext cx="5120640" cy="411480"/>
          </a:xfrm>
          <a:prstGeom prst="rect">
            <a:avLst/>
          </a:prstGeom>
          <a:noFill/>
          <a:ln/>
        </p:spPr>
        <p:txBody>
          <a:bodyPr wrap="square" lIns="0" tIns="0" rIns="0" bIns="0" rtlCol="0" anchor="t"/>
          <a:lstStyle/>
          <a:p>
            <a:pPr indent="0" marL="0">
              <a:buNone/>
            </a:pPr>
            <a:r>
              <a:rPr lang="en-US" sz="1400" dirty="0">
                <a:solidFill>
                  <a:schemeClr val="tx1"/>
                </a:solidFill>
              </a:rPr>
              <a:t>Add, view, update and delete donors, units and requests</a:t>
            </a:r>
            <a:endParaRPr lang="en-US" sz="1400" dirty="0"/>
          </a:p>
        </p:txBody>
      </p:sp>
      <p:sp>
        <p:nvSpPr>
          <p:cNvPr id="10" name="Search circle"/>
          <p:cNvSpPr/>
          <p:nvPr/>
        </p:nvSpPr>
        <p:spPr>
          <a:xfrm>
            <a:off x="822960" y="2432304"/>
            <a:ext cx="658368" cy="658368"/>
          </a:xfrm>
          <a:prstGeom prst="ellipse">
            <a:avLst/>
          </a:prstGeom>
          <a:solidFill>
            <a:schemeClr val="accent1"/>
          </a:solidFill>
          <a:ln w="12700">
            <a:solidFill>
              <a:schemeClr val="accent1"/>
            </a:solidFill>
            <a:prstDash val="solid"/>
          </a:ln>
        </p:spPr>
      </p:sp>
      <p:pic>
        <p:nvPicPr>
          <p:cNvPr id="11" name="Image 1" descr="Search">    </p:cNvPr>
          <p:cNvPicPr>
            <a:picLocks noChangeAspect="1"/>
          </p:cNvPicPr>
          <p:nvPr/>
        </p:nvPicPr>
        <p:blipFill>
          <a:blip r:embed="rId2"/>
          <a:stretch>
            <a:fillRect/>
          </a:stretch>
        </p:blipFill>
        <p:spPr>
          <a:xfrm>
            <a:off x="987552" y="2596896"/>
            <a:ext cx="329184" cy="329184"/>
          </a:xfrm>
          <a:prstGeom prst="rect">
            <a:avLst/>
          </a:prstGeom>
        </p:spPr>
      </p:pic>
      <p:sp>
        <p:nvSpPr>
          <p:cNvPr id="12" name="Text 8"/>
          <p:cNvSpPr txBox="1"/>
          <p:nvPr/>
        </p:nvSpPr>
        <p:spPr>
          <a:xfrm>
            <a:off x="1737360" y="2404872"/>
            <a:ext cx="5120640" cy="320040"/>
          </a:xfrm>
          <a:prstGeom prst="rect">
            <a:avLst/>
          </a:prstGeom>
          <a:noFill/>
          <a:ln/>
        </p:spPr>
        <p:txBody>
          <a:bodyPr wrap="square" lIns="0" tIns="0" rIns="0" bIns="0" rtlCol="0" anchor="t"/>
          <a:lstStyle/>
          <a:p>
            <a:pPr indent="0" marL="0">
              <a:buNone/>
            </a:pPr>
            <a:r>
              <a:rPr lang="en-US" sz="1600" b="1" dirty="0">
                <a:solidFill>
                  <a:schemeClr val="tx2"/>
                </a:solidFill>
              </a:rPr>
              <a:t>Search</a:t>
            </a:r>
            <a:endParaRPr lang="en-US" sz="1600" dirty="0"/>
          </a:p>
        </p:txBody>
      </p:sp>
      <p:sp>
        <p:nvSpPr>
          <p:cNvPr id="13" name="Text 9"/>
          <p:cNvSpPr txBox="1"/>
          <p:nvPr/>
        </p:nvSpPr>
        <p:spPr>
          <a:xfrm>
            <a:off x="1737360" y="2743200"/>
            <a:ext cx="5120640" cy="411480"/>
          </a:xfrm>
          <a:prstGeom prst="rect">
            <a:avLst/>
          </a:prstGeom>
          <a:noFill/>
          <a:ln/>
        </p:spPr>
        <p:txBody>
          <a:bodyPr wrap="square" lIns="0" tIns="0" rIns="0" bIns="0" rtlCol="0" anchor="t"/>
          <a:lstStyle/>
          <a:p>
            <a:pPr indent="0" marL="0">
              <a:buNone/>
            </a:pPr>
            <a:r>
              <a:rPr lang="en-US" sz="1400" dirty="0">
                <a:solidFill>
                  <a:schemeClr val="tx1"/>
                </a:solidFill>
              </a:rPr>
              <a:t>By donor name, blood group, phone or hospital</a:t>
            </a:r>
            <a:endParaRPr lang="en-US" sz="1400" dirty="0"/>
          </a:p>
        </p:txBody>
      </p:sp>
      <p:sp>
        <p:nvSpPr>
          <p:cNvPr id="14" name="Validation circle"/>
          <p:cNvSpPr/>
          <p:nvPr/>
        </p:nvSpPr>
        <p:spPr>
          <a:xfrm>
            <a:off x="822960" y="3374136"/>
            <a:ext cx="658368" cy="658368"/>
          </a:xfrm>
          <a:prstGeom prst="ellipse">
            <a:avLst/>
          </a:prstGeom>
          <a:solidFill>
            <a:schemeClr val="accent1"/>
          </a:solidFill>
          <a:ln w="12700">
            <a:solidFill>
              <a:schemeClr val="accent1"/>
            </a:solidFill>
            <a:prstDash val="solid"/>
          </a:ln>
        </p:spPr>
      </p:sp>
      <p:pic>
        <p:nvPicPr>
          <p:cNvPr id="15" name="Image 2" descr="Validation">    </p:cNvPr>
          <p:cNvPicPr>
            <a:picLocks noChangeAspect="1"/>
          </p:cNvPicPr>
          <p:nvPr/>
        </p:nvPicPr>
        <p:blipFill>
          <a:blip r:embed="rId3"/>
          <a:stretch>
            <a:fillRect/>
          </a:stretch>
        </p:blipFill>
        <p:spPr>
          <a:xfrm>
            <a:off x="987552" y="3538728"/>
            <a:ext cx="329184" cy="329184"/>
          </a:xfrm>
          <a:prstGeom prst="rect">
            <a:avLst/>
          </a:prstGeom>
        </p:spPr>
      </p:pic>
      <p:sp>
        <p:nvSpPr>
          <p:cNvPr id="16" name="Text 11"/>
          <p:cNvSpPr txBox="1"/>
          <p:nvPr/>
        </p:nvSpPr>
        <p:spPr>
          <a:xfrm>
            <a:off x="1737360" y="3346704"/>
            <a:ext cx="5120640" cy="320040"/>
          </a:xfrm>
          <a:prstGeom prst="rect">
            <a:avLst/>
          </a:prstGeom>
          <a:noFill/>
          <a:ln/>
        </p:spPr>
        <p:txBody>
          <a:bodyPr wrap="square" lIns="0" tIns="0" rIns="0" bIns="0" rtlCol="0" anchor="t"/>
          <a:lstStyle/>
          <a:p>
            <a:pPr indent="0" marL="0">
              <a:buNone/>
            </a:pPr>
            <a:r>
              <a:rPr lang="en-US" sz="1600" b="1" dirty="0">
                <a:solidFill>
                  <a:schemeClr val="tx2"/>
                </a:solidFill>
              </a:rPr>
              <a:t>Validation</a:t>
            </a:r>
            <a:endParaRPr lang="en-US" sz="1600" dirty="0"/>
          </a:p>
        </p:txBody>
      </p:sp>
      <p:sp>
        <p:nvSpPr>
          <p:cNvPr id="17" name="Text 12"/>
          <p:cNvSpPr txBox="1"/>
          <p:nvPr/>
        </p:nvSpPr>
        <p:spPr>
          <a:xfrm>
            <a:off x="1737360" y="3685032"/>
            <a:ext cx="5120640" cy="411480"/>
          </a:xfrm>
          <a:prstGeom prst="rect">
            <a:avLst/>
          </a:prstGeom>
          <a:noFill/>
          <a:ln/>
        </p:spPr>
        <p:txBody>
          <a:bodyPr wrap="square" lIns="0" tIns="0" rIns="0" bIns="0" rtlCol="0" anchor="t"/>
          <a:lstStyle/>
          <a:p>
            <a:pPr indent="0" marL="0">
              <a:buNone/>
            </a:pPr>
            <a:r>
              <a:rPr lang="en-US" sz="1400" dirty="0">
                <a:solidFill>
                  <a:schemeClr val="tx1"/>
                </a:solidFill>
              </a:rPr>
              <a:t>Rejects invalid groups, ranges and duplicate phones</a:t>
            </a:r>
            <a:endParaRPr lang="en-US" sz="1400" dirty="0"/>
          </a:p>
        </p:txBody>
      </p:sp>
      <p:sp>
        <p:nvSpPr>
          <p:cNvPr id="18" name="Reports circle"/>
          <p:cNvSpPr/>
          <p:nvPr/>
        </p:nvSpPr>
        <p:spPr>
          <a:xfrm>
            <a:off x="822960" y="4315968"/>
            <a:ext cx="658368" cy="658368"/>
          </a:xfrm>
          <a:prstGeom prst="ellipse">
            <a:avLst/>
          </a:prstGeom>
          <a:solidFill>
            <a:schemeClr val="accent1"/>
          </a:solidFill>
          <a:ln w="12700">
            <a:solidFill>
              <a:schemeClr val="accent1"/>
            </a:solidFill>
            <a:prstDash val="solid"/>
          </a:ln>
        </p:spPr>
      </p:sp>
      <p:pic>
        <p:nvPicPr>
          <p:cNvPr id="19" name="Image 3" descr="Reports">    </p:cNvPr>
          <p:cNvPicPr>
            <a:picLocks noChangeAspect="1"/>
          </p:cNvPicPr>
          <p:nvPr/>
        </p:nvPicPr>
        <p:blipFill>
          <a:blip r:embed="rId4"/>
          <a:stretch>
            <a:fillRect/>
          </a:stretch>
        </p:blipFill>
        <p:spPr>
          <a:xfrm>
            <a:off x="987552" y="4480560"/>
            <a:ext cx="329184" cy="329184"/>
          </a:xfrm>
          <a:prstGeom prst="rect">
            <a:avLst/>
          </a:prstGeom>
        </p:spPr>
      </p:pic>
      <p:sp>
        <p:nvSpPr>
          <p:cNvPr id="20" name="Text 14"/>
          <p:cNvSpPr txBox="1"/>
          <p:nvPr/>
        </p:nvSpPr>
        <p:spPr>
          <a:xfrm>
            <a:off x="1737360" y="4288536"/>
            <a:ext cx="5120640" cy="320040"/>
          </a:xfrm>
          <a:prstGeom prst="rect">
            <a:avLst/>
          </a:prstGeom>
          <a:noFill/>
          <a:ln/>
        </p:spPr>
        <p:txBody>
          <a:bodyPr wrap="square" lIns="0" tIns="0" rIns="0" bIns="0" rtlCol="0" anchor="t"/>
          <a:lstStyle/>
          <a:p>
            <a:pPr indent="0" marL="0">
              <a:buNone/>
            </a:pPr>
            <a:r>
              <a:rPr lang="en-US" sz="1600" b="1" dirty="0">
                <a:solidFill>
                  <a:schemeClr val="tx2"/>
                </a:solidFill>
              </a:rPr>
              <a:t>Reports</a:t>
            </a:r>
            <a:endParaRPr lang="en-US" sz="1600" dirty="0"/>
          </a:p>
        </p:txBody>
      </p:sp>
      <p:sp>
        <p:nvSpPr>
          <p:cNvPr id="21" name="Text 15"/>
          <p:cNvSpPr txBox="1"/>
          <p:nvPr/>
        </p:nvSpPr>
        <p:spPr>
          <a:xfrm>
            <a:off x="1737360" y="4626864"/>
            <a:ext cx="5120640" cy="411480"/>
          </a:xfrm>
          <a:prstGeom prst="rect">
            <a:avLst/>
          </a:prstGeom>
          <a:noFill/>
          <a:ln/>
        </p:spPr>
        <p:txBody>
          <a:bodyPr wrap="square" lIns="0" tIns="0" rIns="0" bIns="0" rtlCol="0" anchor="t"/>
          <a:lstStyle/>
          <a:p>
            <a:pPr indent="0" marL="0">
              <a:buNone/>
            </a:pPr>
            <a:r>
              <a:rPr lang="en-US" sz="1400" dirty="0">
                <a:solidFill>
                  <a:schemeClr val="tx1"/>
                </a:solidFill>
              </a:rPr>
              <a:t>Stock summary, donor history and issue log</a:t>
            </a:r>
            <a:endParaRPr lang="en-US" sz="1400" dirty="0"/>
          </a:p>
        </p:txBody>
      </p:sp>
      <p:sp>
        <p:nvSpPr>
          <p:cNvPr id="22" name="Error handling circle"/>
          <p:cNvSpPr/>
          <p:nvPr/>
        </p:nvSpPr>
        <p:spPr>
          <a:xfrm>
            <a:off x="822960" y="5257800"/>
            <a:ext cx="658368" cy="658368"/>
          </a:xfrm>
          <a:prstGeom prst="ellipse">
            <a:avLst/>
          </a:prstGeom>
          <a:solidFill>
            <a:schemeClr val="accent1"/>
          </a:solidFill>
          <a:ln w="12700">
            <a:solidFill>
              <a:schemeClr val="accent1"/>
            </a:solidFill>
            <a:prstDash val="solid"/>
          </a:ln>
        </p:spPr>
      </p:sp>
      <p:pic>
        <p:nvPicPr>
          <p:cNvPr id="23" name="Image 4" descr="Error handling">    </p:cNvPr>
          <p:cNvPicPr>
            <a:picLocks noChangeAspect="1"/>
          </p:cNvPicPr>
          <p:nvPr/>
        </p:nvPicPr>
        <p:blipFill>
          <a:blip r:embed="rId5"/>
          <a:stretch>
            <a:fillRect/>
          </a:stretch>
        </p:blipFill>
        <p:spPr>
          <a:xfrm>
            <a:off x="987552" y="5422392"/>
            <a:ext cx="329184" cy="329184"/>
          </a:xfrm>
          <a:prstGeom prst="rect">
            <a:avLst/>
          </a:prstGeom>
        </p:spPr>
      </p:pic>
      <p:sp>
        <p:nvSpPr>
          <p:cNvPr id="24" name="Text 17"/>
          <p:cNvSpPr txBox="1"/>
          <p:nvPr/>
        </p:nvSpPr>
        <p:spPr>
          <a:xfrm>
            <a:off x="1737360" y="5230368"/>
            <a:ext cx="5120640" cy="320040"/>
          </a:xfrm>
          <a:prstGeom prst="rect">
            <a:avLst/>
          </a:prstGeom>
          <a:noFill/>
          <a:ln/>
        </p:spPr>
        <p:txBody>
          <a:bodyPr wrap="square" lIns="0" tIns="0" rIns="0" bIns="0" rtlCol="0" anchor="t"/>
          <a:lstStyle/>
          <a:p>
            <a:pPr indent="0" marL="0">
              <a:buNone/>
            </a:pPr>
            <a:r>
              <a:rPr lang="en-US" sz="1600" b="1" dirty="0">
                <a:solidFill>
                  <a:schemeClr val="tx2"/>
                </a:solidFill>
              </a:rPr>
              <a:t>Error handling</a:t>
            </a:r>
            <a:endParaRPr lang="en-US" sz="1600" dirty="0"/>
          </a:p>
        </p:txBody>
      </p:sp>
      <p:sp>
        <p:nvSpPr>
          <p:cNvPr id="25" name="Text 18"/>
          <p:cNvSpPr txBox="1"/>
          <p:nvPr/>
        </p:nvSpPr>
        <p:spPr>
          <a:xfrm>
            <a:off x="1737360" y="5568696"/>
            <a:ext cx="5120640" cy="411480"/>
          </a:xfrm>
          <a:prstGeom prst="rect">
            <a:avLst/>
          </a:prstGeom>
          <a:noFill/>
          <a:ln/>
        </p:spPr>
        <p:txBody>
          <a:bodyPr wrap="square" lIns="0" tIns="0" rIns="0" bIns="0" rtlCol="0" anchor="t"/>
          <a:lstStyle/>
          <a:p>
            <a:pPr indent="0" marL="0">
              <a:buNone/>
            </a:pPr>
            <a:r>
              <a:rPr lang="en-US" sz="1400" dirty="0">
                <a:solidFill>
                  <a:schemeClr val="tx1"/>
                </a:solidFill>
              </a:rPr>
              <a:t>Clear messages for failed or blocked actions</a:t>
            </a:r>
            <a:endParaRPr lang="en-US" sz="1400" dirty="0"/>
          </a:p>
        </p:txBody>
      </p:sp>
      <p:sp>
        <p:nvSpPr>
          <p:cNvPr id="26" name="Submission card"/>
          <p:cNvSpPr/>
          <p:nvPr/>
        </p:nvSpPr>
        <p:spPr>
          <a:xfrm>
            <a:off x="7406640" y="1234440"/>
            <a:ext cx="4233672" cy="4937760"/>
          </a:xfrm>
          <a:prstGeom prst="roundRect">
            <a:avLst>
              <a:gd name="adj" fmla="val 2160"/>
            </a:avLst>
          </a:prstGeom>
          <a:solidFill>
            <a:schemeClr val="accent1"/>
          </a:solidFill>
          <a:ln w="12700">
            <a:solidFill>
              <a:schemeClr val="accent1"/>
            </a:solidFill>
            <a:prstDash val="solid"/>
          </a:ln>
        </p:spPr>
      </p:sp>
      <p:sp>
        <p:nvSpPr>
          <p:cNvPr id="27" name="Text 20"/>
          <p:cNvSpPr txBox="1"/>
          <p:nvPr/>
        </p:nvSpPr>
        <p:spPr>
          <a:xfrm>
            <a:off x="7680960" y="1417320"/>
            <a:ext cx="3657600" cy="411480"/>
          </a:xfrm>
          <a:prstGeom prst="rect">
            <a:avLst/>
          </a:prstGeom>
          <a:noFill/>
          <a:ln/>
        </p:spPr>
        <p:txBody>
          <a:bodyPr wrap="square" lIns="0" tIns="0" rIns="0" bIns="0" rtlCol="0" anchor="t"/>
          <a:lstStyle/>
          <a:p>
            <a:pPr indent="0" marL="0">
              <a:buNone/>
            </a:pPr>
            <a:r>
              <a:rPr lang="en-US" sz="2000" b="1" dirty="0">
                <a:solidFill>
                  <a:schemeClr val="bg1"/>
                </a:solidFill>
              </a:rPr>
              <a:t>Submission package</a:t>
            </a:r>
            <a:endParaRPr lang="en-US" sz="2000" dirty="0"/>
          </a:p>
        </p:txBody>
      </p:sp>
      <p:sp>
        <p:nvSpPr>
          <p:cNvPr id="28" name="check circle"/>
          <p:cNvSpPr/>
          <p:nvPr/>
        </p:nvSpPr>
        <p:spPr>
          <a:xfrm>
            <a:off x="7680960" y="2103120"/>
            <a:ext cx="347472" cy="347472"/>
          </a:xfrm>
          <a:prstGeom prst="ellipse">
            <a:avLst/>
          </a:prstGeom>
          <a:solidFill>
            <a:schemeClr val="bg1"/>
          </a:solidFill>
          <a:ln w="12700">
            <a:solidFill>
              <a:schemeClr val="bg1"/>
            </a:solidFill>
            <a:prstDash val="solid"/>
          </a:ln>
        </p:spPr>
      </p:sp>
      <p:pic>
        <p:nvPicPr>
          <p:cNvPr id="29" name="Image 5" descr="item">    </p:cNvPr>
          <p:cNvPicPr>
            <a:picLocks noChangeAspect="1"/>
          </p:cNvPicPr>
          <p:nvPr/>
        </p:nvPicPr>
        <p:blipFill>
          <a:blip r:embed="rId6"/>
          <a:stretch>
            <a:fillRect/>
          </a:stretch>
        </p:blipFill>
        <p:spPr>
          <a:xfrm>
            <a:off x="7763256" y="2185416"/>
            <a:ext cx="182880" cy="182880"/>
          </a:xfrm>
          <a:prstGeom prst="rect">
            <a:avLst/>
          </a:prstGeom>
        </p:spPr>
      </p:pic>
      <p:sp>
        <p:nvSpPr>
          <p:cNvPr id="30" name="Text 22"/>
          <p:cNvSpPr txBox="1"/>
          <p:nvPr/>
        </p:nvSpPr>
        <p:spPr>
          <a:xfrm>
            <a:off x="8229600" y="2057400"/>
            <a:ext cx="3246120" cy="438912"/>
          </a:xfrm>
          <a:prstGeom prst="rect">
            <a:avLst/>
          </a:prstGeom>
          <a:noFill/>
          <a:ln/>
        </p:spPr>
        <p:txBody>
          <a:bodyPr wrap="square" lIns="0" tIns="0" rIns="0" bIns="0" rtlCol="0" anchor="ctr"/>
          <a:lstStyle/>
          <a:p>
            <a:pPr indent="0" marL="0">
              <a:buNone/>
            </a:pPr>
            <a:r>
              <a:rPr lang="en-US" sz="1400" dirty="0">
                <a:solidFill>
                  <a:schemeClr val="bg1"/>
                </a:solidFill>
              </a:rPr>
              <a:t>Source code (GitHub repo DBMS_PBL)</a:t>
            </a:r>
            <a:endParaRPr lang="en-US" sz="1400" dirty="0"/>
          </a:p>
        </p:txBody>
      </p:sp>
      <p:sp>
        <p:nvSpPr>
          <p:cNvPr id="31" name="check circle"/>
          <p:cNvSpPr/>
          <p:nvPr/>
        </p:nvSpPr>
        <p:spPr>
          <a:xfrm>
            <a:off x="7680960" y="2743200"/>
            <a:ext cx="347472" cy="347472"/>
          </a:xfrm>
          <a:prstGeom prst="ellipse">
            <a:avLst/>
          </a:prstGeom>
          <a:solidFill>
            <a:schemeClr val="bg1"/>
          </a:solidFill>
          <a:ln w="12700">
            <a:solidFill>
              <a:schemeClr val="bg1"/>
            </a:solidFill>
            <a:prstDash val="solid"/>
          </a:ln>
        </p:spPr>
      </p:sp>
      <p:pic>
        <p:nvPicPr>
          <p:cNvPr id="32" name="Image 6" descr="item">    </p:cNvPr>
          <p:cNvPicPr>
            <a:picLocks noChangeAspect="1"/>
          </p:cNvPicPr>
          <p:nvPr/>
        </p:nvPicPr>
        <p:blipFill>
          <a:blip r:embed="rId7"/>
          <a:stretch>
            <a:fillRect/>
          </a:stretch>
        </p:blipFill>
        <p:spPr>
          <a:xfrm>
            <a:off x="7763256" y="2825496"/>
            <a:ext cx="182880" cy="182880"/>
          </a:xfrm>
          <a:prstGeom prst="rect">
            <a:avLst/>
          </a:prstGeom>
        </p:spPr>
      </p:pic>
      <p:sp>
        <p:nvSpPr>
          <p:cNvPr id="33" name="Text 24"/>
          <p:cNvSpPr txBox="1"/>
          <p:nvPr/>
        </p:nvSpPr>
        <p:spPr>
          <a:xfrm>
            <a:off x="8229600" y="2697480"/>
            <a:ext cx="3246120" cy="438912"/>
          </a:xfrm>
          <a:prstGeom prst="rect">
            <a:avLst/>
          </a:prstGeom>
          <a:noFill/>
          <a:ln/>
        </p:spPr>
        <p:txBody>
          <a:bodyPr wrap="square" lIns="0" tIns="0" rIns="0" bIns="0" rtlCol="0" anchor="ctr"/>
          <a:lstStyle/>
          <a:p>
            <a:pPr indent="0" marL="0">
              <a:buNone/>
            </a:pPr>
            <a:r>
              <a:rPr lang="en-US" sz="1400" dirty="0">
                <a:solidFill>
                  <a:schemeClr val="bg1"/>
                </a:solidFill>
              </a:rPr>
              <a:t>Database script: DDL and sample data</a:t>
            </a:r>
            <a:endParaRPr lang="en-US" sz="1400" dirty="0"/>
          </a:p>
        </p:txBody>
      </p:sp>
      <p:sp>
        <p:nvSpPr>
          <p:cNvPr id="34" name="check circle"/>
          <p:cNvSpPr/>
          <p:nvPr/>
        </p:nvSpPr>
        <p:spPr>
          <a:xfrm>
            <a:off x="7680960" y="3383280"/>
            <a:ext cx="347472" cy="347472"/>
          </a:xfrm>
          <a:prstGeom prst="ellipse">
            <a:avLst/>
          </a:prstGeom>
          <a:solidFill>
            <a:schemeClr val="bg1"/>
          </a:solidFill>
          <a:ln w="12700">
            <a:solidFill>
              <a:schemeClr val="bg1"/>
            </a:solidFill>
            <a:prstDash val="solid"/>
          </a:ln>
        </p:spPr>
      </p:sp>
      <p:pic>
        <p:nvPicPr>
          <p:cNvPr id="35" name="Image 7" descr="item">    </p:cNvPr>
          <p:cNvPicPr>
            <a:picLocks noChangeAspect="1"/>
          </p:cNvPicPr>
          <p:nvPr/>
        </p:nvPicPr>
        <p:blipFill>
          <a:blip r:embed="rId8"/>
          <a:stretch>
            <a:fillRect/>
          </a:stretch>
        </p:blipFill>
        <p:spPr>
          <a:xfrm>
            <a:off x="7763256" y="3465576"/>
            <a:ext cx="182880" cy="182880"/>
          </a:xfrm>
          <a:prstGeom prst="rect">
            <a:avLst/>
          </a:prstGeom>
        </p:spPr>
      </p:pic>
      <p:sp>
        <p:nvSpPr>
          <p:cNvPr id="36" name="Text 26"/>
          <p:cNvSpPr txBox="1"/>
          <p:nvPr/>
        </p:nvSpPr>
        <p:spPr>
          <a:xfrm>
            <a:off x="8229600" y="3337560"/>
            <a:ext cx="3246120" cy="438912"/>
          </a:xfrm>
          <a:prstGeom prst="rect">
            <a:avLst/>
          </a:prstGeom>
          <a:noFill/>
          <a:ln/>
        </p:spPr>
        <p:txBody>
          <a:bodyPr wrap="square" lIns="0" tIns="0" rIns="0" bIns="0" rtlCol="0" anchor="ctr"/>
          <a:lstStyle/>
          <a:p>
            <a:pPr indent="0" marL="0">
              <a:buNone/>
            </a:pPr>
            <a:r>
              <a:rPr lang="en-US" sz="1400" dirty="0">
                <a:solidFill>
                  <a:schemeClr val="bg1"/>
                </a:solidFill>
              </a:rPr>
              <a:t>Test data</a:t>
            </a:r>
            <a:endParaRPr lang="en-US" sz="1400" dirty="0"/>
          </a:p>
        </p:txBody>
      </p:sp>
      <p:sp>
        <p:nvSpPr>
          <p:cNvPr id="37" name="check circle"/>
          <p:cNvSpPr/>
          <p:nvPr/>
        </p:nvSpPr>
        <p:spPr>
          <a:xfrm>
            <a:off x="7680960" y="4023360"/>
            <a:ext cx="347472" cy="347472"/>
          </a:xfrm>
          <a:prstGeom prst="ellipse">
            <a:avLst/>
          </a:prstGeom>
          <a:solidFill>
            <a:schemeClr val="bg1"/>
          </a:solidFill>
          <a:ln w="12700">
            <a:solidFill>
              <a:schemeClr val="bg1"/>
            </a:solidFill>
            <a:prstDash val="solid"/>
          </a:ln>
        </p:spPr>
      </p:sp>
      <p:pic>
        <p:nvPicPr>
          <p:cNvPr id="38" name="Image 8" descr="item">    </p:cNvPr>
          <p:cNvPicPr>
            <a:picLocks noChangeAspect="1"/>
          </p:cNvPicPr>
          <p:nvPr/>
        </p:nvPicPr>
        <p:blipFill>
          <a:blip r:embed="rId9"/>
          <a:stretch>
            <a:fillRect/>
          </a:stretch>
        </p:blipFill>
        <p:spPr>
          <a:xfrm>
            <a:off x="7763256" y="4105656"/>
            <a:ext cx="182880" cy="182880"/>
          </a:xfrm>
          <a:prstGeom prst="rect">
            <a:avLst/>
          </a:prstGeom>
        </p:spPr>
      </p:pic>
      <p:sp>
        <p:nvSpPr>
          <p:cNvPr id="39" name="Text 28"/>
          <p:cNvSpPr txBox="1"/>
          <p:nvPr/>
        </p:nvSpPr>
        <p:spPr>
          <a:xfrm>
            <a:off x="8229600" y="3977640"/>
            <a:ext cx="3246120" cy="438912"/>
          </a:xfrm>
          <a:prstGeom prst="rect">
            <a:avLst/>
          </a:prstGeom>
          <a:noFill/>
          <a:ln/>
        </p:spPr>
        <p:txBody>
          <a:bodyPr wrap="square" lIns="0" tIns="0" rIns="0" bIns="0" rtlCol="0" anchor="ctr"/>
          <a:lstStyle/>
          <a:p>
            <a:pPr indent="0" marL="0">
              <a:buNone/>
            </a:pPr>
            <a:r>
              <a:rPr lang="en-US" sz="1400" dirty="0">
                <a:solidFill>
                  <a:schemeClr val="bg1"/>
                </a:solidFill>
              </a:rPr>
              <a:t>Output screens</a:t>
            </a:r>
            <a:endParaRPr lang="en-US" sz="1400" dirty="0"/>
          </a:p>
        </p:txBody>
      </p:sp>
      <p:sp>
        <p:nvSpPr>
          <p:cNvPr id="40" name="check circle"/>
          <p:cNvSpPr/>
          <p:nvPr/>
        </p:nvSpPr>
        <p:spPr>
          <a:xfrm>
            <a:off x="7680960" y="4663440"/>
            <a:ext cx="347472" cy="347472"/>
          </a:xfrm>
          <a:prstGeom prst="ellipse">
            <a:avLst/>
          </a:prstGeom>
          <a:solidFill>
            <a:schemeClr val="bg1"/>
          </a:solidFill>
          <a:ln w="12700">
            <a:solidFill>
              <a:schemeClr val="bg1"/>
            </a:solidFill>
            <a:prstDash val="solid"/>
          </a:ln>
        </p:spPr>
      </p:sp>
      <p:pic>
        <p:nvPicPr>
          <p:cNvPr id="41" name="Image 9" descr="item">    </p:cNvPr>
          <p:cNvPicPr>
            <a:picLocks noChangeAspect="1"/>
          </p:cNvPicPr>
          <p:nvPr/>
        </p:nvPicPr>
        <p:blipFill>
          <a:blip r:embed="rId10"/>
          <a:stretch>
            <a:fillRect/>
          </a:stretch>
        </p:blipFill>
        <p:spPr>
          <a:xfrm>
            <a:off x="7763256" y="4745736"/>
            <a:ext cx="182880" cy="182880"/>
          </a:xfrm>
          <a:prstGeom prst="rect">
            <a:avLst/>
          </a:prstGeom>
        </p:spPr>
      </p:pic>
      <p:sp>
        <p:nvSpPr>
          <p:cNvPr id="42" name="Text 30"/>
          <p:cNvSpPr txBox="1"/>
          <p:nvPr/>
        </p:nvSpPr>
        <p:spPr>
          <a:xfrm>
            <a:off x="8229600" y="4617720"/>
            <a:ext cx="3246120" cy="438912"/>
          </a:xfrm>
          <a:prstGeom prst="rect">
            <a:avLst/>
          </a:prstGeom>
          <a:noFill/>
          <a:ln/>
        </p:spPr>
        <p:txBody>
          <a:bodyPr wrap="square" lIns="0" tIns="0" rIns="0" bIns="0" rtlCol="0" anchor="ctr"/>
          <a:lstStyle/>
          <a:p>
            <a:pPr indent="0" marL="0">
              <a:buNone/>
            </a:pPr>
            <a:r>
              <a:rPr lang="en-US" sz="1400" dirty="0">
                <a:solidFill>
                  <a:schemeClr val="bg1"/>
                </a:solidFill>
              </a:rPr>
              <a:t>Project report</a:t>
            </a:r>
            <a:endParaRPr lang="en-US" sz="1400" dirty="0"/>
          </a:p>
        </p:txBody>
      </p:sp>
      <p:sp>
        <p:nvSpPr>
          <p:cNvPr id="43" name="check circle"/>
          <p:cNvSpPr/>
          <p:nvPr/>
        </p:nvSpPr>
        <p:spPr>
          <a:xfrm>
            <a:off x="7680960" y="5303520"/>
            <a:ext cx="347472" cy="347472"/>
          </a:xfrm>
          <a:prstGeom prst="ellipse">
            <a:avLst/>
          </a:prstGeom>
          <a:solidFill>
            <a:schemeClr val="bg1"/>
          </a:solidFill>
          <a:ln w="12700">
            <a:solidFill>
              <a:schemeClr val="bg1"/>
            </a:solidFill>
            <a:prstDash val="solid"/>
          </a:ln>
        </p:spPr>
      </p:sp>
      <p:pic>
        <p:nvPicPr>
          <p:cNvPr id="44" name="Image 10" descr="item">    </p:cNvPr>
          <p:cNvPicPr>
            <a:picLocks noChangeAspect="1"/>
          </p:cNvPicPr>
          <p:nvPr/>
        </p:nvPicPr>
        <p:blipFill>
          <a:blip r:embed="rId11"/>
          <a:stretch>
            <a:fillRect/>
          </a:stretch>
        </p:blipFill>
        <p:spPr>
          <a:xfrm>
            <a:off x="7763256" y="5385816"/>
            <a:ext cx="182880" cy="182880"/>
          </a:xfrm>
          <a:prstGeom prst="rect">
            <a:avLst/>
          </a:prstGeom>
        </p:spPr>
      </p:pic>
      <p:sp>
        <p:nvSpPr>
          <p:cNvPr id="45" name="Text 32"/>
          <p:cNvSpPr txBox="1"/>
          <p:nvPr/>
        </p:nvSpPr>
        <p:spPr>
          <a:xfrm>
            <a:off x="8229600" y="5257800"/>
            <a:ext cx="3246120" cy="438912"/>
          </a:xfrm>
          <a:prstGeom prst="rect">
            <a:avLst/>
          </a:prstGeom>
          <a:noFill/>
          <a:ln/>
        </p:spPr>
        <p:txBody>
          <a:bodyPr wrap="square" lIns="0" tIns="0" rIns="0" bIns="0" rtlCol="0" anchor="ctr"/>
          <a:lstStyle/>
          <a:p>
            <a:pPr indent="0" marL="0">
              <a:buNone/>
            </a:pPr>
            <a:r>
              <a:rPr lang="en-US" sz="1400" dirty="0">
                <a:solidFill>
                  <a:schemeClr val="bg1"/>
                </a:solidFill>
              </a:rPr>
              <a:t>Viva-voce</a:t>
            </a:r>
            <a:endParaRPr lang="en-US" sz="1400" dirty="0"/>
          </a:p>
        </p:txBody>
      </p:sp>
      <p:sp>
        <p:nvSpPr>
          <p:cNvPr id="25" name="Slide Number Placeholder 0"/>
          <p:cNvSpPr>
            <a:spLocks noGrp="1"/>
          </p:cNvSpPr>
          <p:nvPr>
            <p:ph type="sldNum" sz="quarter" idx="4294967295"/>
          </p:nvPr>
        </p:nvSpPr>
        <p:spPr>
          <a:xfrm>
            <a:off x="11064240" y="6473952"/>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11091672" cy="731520"/>
          </a:xfrm>
          <a:prstGeom prst="rect">
            <a:avLst/>
          </a:prstGeom>
          <a:noFill/>
          <a:ln/>
        </p:spPr>
        <p:txBody>
          <a:bodyPr wrap="square" lIns="0" tIns="0" rIns="0" bIns="0" rtlCol="0" anchor="ctr"/>
          <a:lstStyle/>
          <a:p>
            <a:pPr algn="l" indent="0" marL="0">
              <a:buNone/>
            </a:pPr>
            <a:r>
              <a:rPr lang="en-US" sz="3400" b="1" dirty="0">
                <a:solidFill>
                  <a:schemeClr val="bg1"/>
                </a:solidFill>
              </a:rPr>
              <a:t>Summary</a:t>
            </a:r>
            <a:endParaRPr lang="en-US" sz="3400" dirty="0"/>
          </a:p>
        </p:txBody>
      </p:sp>
      <p:sp>
        <p:nvSpPr>
          <p:cNvPr id="3" name="Design card"/>
          <p:cNvSpPr/>
          <p:nvPr/>
        </p:nvSpPr>
        <p:spPr>
          <a:xfrm>
            <a:off x="548640" y="1325880"/>
            <a:ext cx="3566160" cy="3383280"/>
          </a:xfrm>
          <a:prstGeom prst="roundRect">
            <a:avLst>
              <a:gd name="adj" fmla="val 2703"/>
            </a:avLst>
          </a:prstGeom>
          <a:solidFill>
            <a:schemeClr val="accent1"/>
          </a:solidFill>
          <a:ln w="12700">
            <a:solidFill>
              <a:schemeClr val="accent1"/>
            </a:solidFill>
            <a:prstDash val="solid"/>
          </a:ln>
        </p:spPr>
      </p:sp>
      <p:sp>
        <p:nvSpPr>
          <p:cNvPr id="4" name="Text 2"/>
          <p:cNvSpPr txBox="1"/>
          <p:nvPr/>
        </p:nvSpPr>
        <p:spPr>
          <a:xfrm>
            <a:off x="822960" y="1554480"/>
            <a:ext cx="3017520" cy="274320"/>
          </a:xfrm>
          <a:prstGeom prst="rect">
            <a:avLst/>
          </a:prstGeom>
          <a:noFill/>
          <a:ln/>
        </p:spPr>
        <p:txBody>
          <a:bodyPr wrap="square" lIns="0" tIns="0" rIns="0" bIns="0" rtlCol="0" anchor="t"/>
          <a:lstStyle/>
          <a:p>
            <a:pPr indent="0" marL="0">
              <a:buNone/>
            </a:pPr>
            <a:r>
              <a:rPr lang="en-US" sz="1200" b="1" spc="200" kern="0" dirty="0">
                <a:solidFill>
                  <a:schemeClr val="accent4"/>
                </a:solidFill>
              </a:rPr>
              <a:t>REVIEW 1  |  WEEK 7</a:t>
            </a:r>
            <a:endParaRPr lang="en-US" sz="1200" dirty="0"/>
          </a:p>
        </p:txBody>
      </p:sp>
      <p:sp>
        <p:nvSpPr>
          <p:cNvPr id="5" name="Text 3"/>
          <p:cNvSpPr txBox="1"/>
          <p:nvPr/>
        </p:nvSpPr>
        <p:spPr>
          <a:xfrm>
            <a:off x="822960" y="1874520"/>
            <a:ext cx="3017520" cy="457200"/>
          </a:xfrm>
          <a:prstGeom prst="rect">
            <a:avLst/>
          </a:prstGeom>
          <a:noFill/>
          <a:ln/>
        </p:spPr>
        <p:txBody>
          <a:bodyPr wrap="square" lIns="0" tIns="0" rIns="0" bIns="0" rtlCol="0" anchor="t"/>
          <a:lstStyle/>
          <a:p>
            <a:pPr indent="0" marL="0">
              <a:buNone/>
            </a:pPr>
            <a:r>
              <a:rPr lang="en-US" sz="2400" b="1" dirty="0">
                <a:solidFill>
                  <a:schemeClr val="bg1"/>
                </a:solidFill>
              </a:rPr>
              <a:t>Design</a:t>
            </a:r>
            <a:endParaRPr lang="en-US" sz="2400" dirty="0"/>
          </a:p>
        </p:txBody>
      </p:sp>
      <p:sp>
        <p:nvSpPr>
          <p:cNvPr id="6" name="Text 4"/>
          <p:cNvSpPr txBox="1"/>
          <p:nvPr/>
        </p:nvSpPr>
        <p:spPr>
          <a:xfrm>
            <a:off x="822960" y="2606040"/>
            <a:ext cx="301752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Problem, scope and requirements</a:t>
            </a:r>
            <a:endParaRPr lang="en-US" sz="1400" dirty="0"/>
          </a:p>
          <a:p>
            <a:pPr marL="342900" indent="-342900">
              <a:spcAft>
                <a:spcPts val="600"/>
              </a:spcAft>
              <a:buSzPct val="100000"/>
              <a:buChar char="•"/>
            </a:pPr>
            <a:r>
              <a:rPr lang="en-US" sz="1400" dirty="0">
                <a:solidFill>
                  <a:schemeClr val="bg1"/>
                </a:solidFill>
              </a:rPr>
              <a:t>ER diagram of six entities</a:t>
            </a:r>
            <a:endParaRPr lang="en-US" sz="1400" dirty="0"/>
          </a:p>
          <a:p>
            <a:pPr marL="342900" indent="-342900">
              <a:spcAft>
                <a:spcPts val="600"/>
              </a:spcAft>
              <a:buSzPct val="100000"/>
              <a:buChar char="•"/>
            </a:pPr>
            <a:r>
              <a:rPr lang="en-US" sz="1400" dirty="0">
                <a:solidFill>
                  <a:schemeClr val="bg1"/>
                </a:solidFill>
              </a:rPr>
              <a:t>Initial relational schema</a:t>
            </a:r>
            <a:endParaRPr lang="en-US" sz="1400" dirty="0"/>
          </a:p>
        </p:txBody>
      </p:sp>
      <p:sp>
        <p:nvSpPr>
          <p:cNvPr id="7" name="Database card"/>
          <p:cNvSpPr/>
          <p:nvPr/>
        </p:nvSpPr>
        <p:spPr>
          <a:xfrm>
            <a:off x="4311396" y="1325880"/>
            <a:ext cx="3566160" cy="3383280"/>
          </a:xfrm>
          <a:prstGeom prst="roundRect">
            <a:avLst>
              <a:gd name="adj" fmla="val 2703"/>
            </a:avLst>
          </a:prstGeom>
          <a:solidFill>
            <a:schemeClr val="accent1"/>
          </a:solidFill>
          <a:ln w="12700">
            <a:solidFill>
              <a:schemeClr val="accent1"/>
            </a:solidFill>
            <a:prstDash val="solid"/>
          </a:ln>
        </p:spPr>
      </p:sp>
      <p:sp>
        <p:nvSpPr>
          <p:cNvPr id="8" name="Text 6"/>
          <p:cNvSpPr txBox="1"/>
          <p:nvPr/>
        </p:nvSpPr>
        <p:spPr>
          <a:xfrm>
            <a:off x="4585716" y="1554480"/>
            <a:ext cx="3017520" cy="274320"/>
          </a:xfrm>
          <a:prstGeom prst="rect">
            <a:avLst/>
          </a:prstGeom>
          <a:noFill/>
          <a:ln/>
        </p:spPr>
        <p:txBody>
          <a:bodyPr wrap="square" lIns="0" tIns="0" rIns="0" bIns="0" rtlCol="0" anchor="t"/>
          <a:lstStyle/>
          <a:p>
            <a:pPr indent="0" marL="0">
              <a:buNone/>
            </a:pPr>
            <a:r>
              <a:rPr lang="en-US" sz="1200" b="1" spc="200" kern="0" dirty="0">
                <a:solidFill>
                  <a:schemeClr val="accent4"/>
                </a:solidFill>
              </a:rPr>
              <a:t>REVIEW 2  |  WEEK 11</a:t>
            </a:r>
            <a:endParaRPr lang="en-US" sz="1200" dirty="0"/>
          </a:p>
        </p:txBody>
      </p:sp>
      <p:sp>
        <p:nvSpPr>
          <p:cNvPr id="9" name="Text 7"/>
          <p:cNvSpPr txBox="1"/>
          <p:nvPr/>
        </p:nvSpPr>
        <p:spPr>
          <a:xfrm>
            <a:off x="4585716" y="1874520"/>
            <a:ext cx="3017520" cy="457200"/>
          </a:xfrm>
          <a:prstGeom prst="rect">
            <a:avLst/>
          </a:prstGeom>
          <a:noFill/>
          <a:ln/>
        </p:spPr>
        <p:txBody>
          <a:bodyPr wrap="square" lIns="0" tIns="0" rIns="0" bIns="0" rtlCol="0" anchor="t"/>
          <a:lstStyle/>
          <a:p>
            <a:pPr indent="0" marL="0">
              <a:buNone/>
            </a:pPr>
            <a:r>
              <a:rPr lang="en-US" sz="2400" b="1" dirty="0">
                <a:solidFill>
                  <a:schemeClr val="bg1"/>
                </a:solidFill>
              </a:rPr>
              <a:t>Database</a:t>
            </a:r>
            <a:endParaRPr lang="en-US" sz="2400" dirty="0"/>
          </a:p>
        </p:txBody>
      </p:sp>
      <p:sp>
        <p:nvSpPr>
          <p:cNvPr id="10" name="Text 8"/>
          <p:cNvSpPr txBox="1"/>
          <p:nvPr/>
        </p:nvSpPr>
        <p:spPr>
          <a:xfrm>
            <a:off x="4585716" y="2606040"/>
            <a:ext cx="301752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3NF design and data dictionary</a:t>
            </a:r>
            <a:endParaRPr lang="en-US" sz="1400" dirty="0"/>
          </a:p>
          <a:p>
            <a:pPr marL="342900" indent="-342900">
              <a:spcAft>
                <a:spcPts val="600"/>
              </a:spcAft>
              <a:buSzPct val="100000"/>
              <a:buChar char="•"/>
            </a:pPr>
            <a:r>
              <a:rPr lang="en-US" sz="1400" dirty="0">
                <a:solidFill>
                  <a:schemeClr val="bg1"/>
                </a:solidFill>
              </a:rPr>
              <a:t>DDL with integrity constraints</a:t>
            </a:r>
            <a:endParaRPr lang="en-US" sz="1400" dirty="0"/>
          </a:p>
          <a:p>
            <a:pPr marL="342900" indent="-342900">
              <a:spcAft>
                <a:spcPts val="600"/>
              </a:spcAft>
              <a:buSzPct val="100000"/>
              <a:buChar char="•"/>
            </a:pPr>
            <a:r>
              <a:rPr lang="en-US" sz="1400" dirty="0">
                <a:solidFill>
                  <a:schemeClr val="bg1"/>
                </a:solidFill>
              </a:rPr>
              <a:t>Queries, views and prototype</a:t>
            </a:r>
            <a:endParaRPr lang="en-US" sz="1400" dirty="0"/>
          </a:p>
        </p:txBody>
      </p:sp>
      <p:sp>
        <p:nvSpPr>
          <p:cNvPr id="11" name="Application card"/>
          <p:cNvSpPr/>
          <p:nvPr/>
        </p:nvSpPr>
        <p:spPr>
          <a:xfrm>
            <a:off x="8074152" y="1325880"/>
            <a:ext cx="3566160" cy="3383280"/>
          </a:xfrm>
          <a:prstGeom prst="roundRect">
            <a:avLst>
              <a:gd name="adj" fmla="val 2703"/>
            </a:avLst>
          </a:prstGeom>
          <a:solidFill>
            <a:schemeClr val="accent1"/>
          </a:solidFill>
          <a:ln w="12700">
            <a:solidFill>
              <a:schemeClr val="accent1"/>
            </a:solidFill>
            <a:prstDash val="solid"/>
          </a:ln>
        </p:spPr>
      </p:sp>
      <p:sp>
        <p:nvSpPr>
          <p:cNvPr id="12" name="Text 10"/>
          <p:cNvSpPr txBox="1"/>
          <p:nvPr/>
        </p:nvSpPr>
        <p:spPr>
          <a:xfrm>
            <a:off x="8348472" y="1554480"/>
            <a:ext cx="3017520" cy="274320"/>
          </a:xfrm>
          <a:prstGeom prst="rect">
            <a:avLst/>
          </a:prstGeom>
          <a:noFill/>
          <a:ln/>
        </p:spPr>
        <p:txBody>
          <a:bodyPr wrap="square" lIns="0" tIns="0" rIns="0" bIns="0" rtlCol="0" anchor="t"/>
          <a:lstStyle/>
          <a:p>
            <a:pPr indent="0" marL="0">
              <a:buNone/>
            </a:pPr>
            <a:r>
              <a:rPr lang="en-US" sz="1200" b="1" spc="200" kern="0" dirty="0">
                <a:solidFill>
                  <a:schemeClr val="accent4"/>
                </a:solidFill>
              </a:rPr>
              <a:t>REVIEW 3  |  WEEK 16</a:t>
            </a:r>
            <a:endParaRPr lang="en-US" sz="1200" dirty="0"/>
          </a:p>
        </p:txBody>
      </p:sp>
      <p:sp>
        <p:nvSpPr>
          <p:cNvPr id="13" name="Text 11"/>
          <p:cNvSpPr txBox="1"/>
          <p:nvPr/>
        </p:nvSpPr>
        <p:spPr>
          <a:xfrm>
            <a:off x="8348472" y="1874520"/>
            <a:ext cx="3017520" cy="457200"/>
          </a:xfrm>
          <a:prstGeom prst="rect">
            <a:avLst/>
          </a:prstGeom>
          <a:noFill/>
          <a:ln/>
        </p:spPr>
        <p:txBody>
          <a:bodyPr wrap="square" lIns="0" tIns="0" rIns="0" bIns="0" rtlCol="0" anchor="t"/>
          <a:lstStyle/>
          <a:p>
            <a:pPr indent="0" marL="0">
              <a:buNone/>
            </a:pPr>
            <a:r>
              <a:rPr lang="en-US" sz="2400" b="1" dirty="0">
                <a:solidFill>
                  <a:schemeClr val="bg1"/>
                </a:solidFill>
              </a:rPr>
              <a:t>Application</a:t>
            </a:r>
            <a:endParaRPr lang="en-US" sz="2400" dirty="0"/>
          </a:p>
        </p:txBody>
      </p:sp>
      <p:sp>
        <p:nvSpPr>
          <p:cNvPr id="14" name="Text 12"/>
          <p:cNvSpPr txBox="1"/>
          <p:nvPr/>
        </p:nvSpPr>
        <p:spPr>
          <a:xfrm>
            <a:off x="8348472" y="2606040"/>
            <a:ext cx="301752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Flask and MySQL application</a:t>
            </a:r>
            <a:endParaRPr lang="en-US" sz="1400" dirty="0"/>
          </a:p>
          <a:p>
            <a:pPr marL="342900" indent="-342900">
              <a:spcAft>
                <a:spcPts val="600"/>
              </a:spcAft>
              <a:buSzPct val="100000"/>
              <a:buChar char="•"/>
            </a:pPr>
            <a:r>
              <a:rPr lang="en-US" sz="1400" dirty="0">
                <a:solidFill>
                  <a:schemeClr val="bg1"/>
                </a:solidFill>
              </a:rPr>
              <a:t>CRUD, search, validation, reports</a:t>
            </a:r>
            <a:endParaRPr lang="en-US" sz="1400" dirty="0"/>
          </a:p>
          <a:p>
            <a:pPr marL="342900" indent="-342900">
              <a:spcAft>
                <a:spcPts val="600"/>
              </a:spcAft>
              <a:buSzPct val="100000"/>
              <a:buChar char="•"/>
            </a:pPr>
            <a:r>
              <a:rPr lang="en-US" sz="1400" dirty="0">
                <a:solidFill>
                  <a:schemeClr val="bg1"/>
                </a:solidFill>
              </a:rPr>
              <a:t>Code, report and viva</a:t>
            </a:r>
            <a:endParaRPr lang="en-US" sz="1400" dirty="0"/>
          </a:p>
        </p:txBody>
      </p:sp>
      <p:sp>
        <p:nvSpPr>
          <p:cNvPr id="15" name="Text 13"/>
          <p:cNvSpPr txBox="1"/>
          <p:nvPr/>
        </p:nvSpPr>
        <p:spPr>
          <a:xfrm>
            <a:off x="548640" y="5212080"/>
            <a:ext cx="11064240" cy="731520"/>
          </a:xfrm>
          <a:prstGeom prst="rect">
            <a:avLst/>
          </a:prstGeom>
          <a:noFill/>
          <a:ln/>
        </p:spPr>
        <p:txBody>
          <a:bodyPr wrap="square" lIns="0" tIns="0" rIns="0" bIns="0" rtlCol="0" anchor="ctr"/>
          <a:lstStyle/>
          <a:p>
            <a:pPr indent="0" marL="0">
              <a:buNone/>
            </a:pPr>
            <a:r>
              <a:rPr lang="en-US" sz="3200" b="1" dirty="0">
                <a:solidFill>
                  <a:schemeClr val="bg1"/>
                </a:solidFill>
              </a:rPr>
              <a:t>Thank you  |  Questions?</a:t>
            </a:r>
            <a:endParaRPr lang="en-US" sz="3200" dirty="0"/>
          </a:p>
        </p:txBody>
      </p:sp>
    </p:spTree>
  </p:cSld>
  <p:clrMapOvr>
    <a:masterClrMapping/>
  </p:clrMapOvr>
</p:sld>
</file>

<file path=ppt/theme/theme1.xml><?xml version="1.0" encoding="utf-8"?>
<a:theme xmlns:a="http://schemas.openxmlformats.org/drawingml/2006/main" name="BloodBankCrimson">
  <a:themeElements>
    <a:clrScheme name="BloodBankCrimson">
      <a:dk1>
        <a:srgbClr val="1F1A1B"/>
      </a:dk1>
      <a:lt1>
        <a:srgbClr val="FFFFFF"/>
      </a:lt1>
      <a:dk2>
        <a:srgbClr val="7A1424"/>
      </a:dk2>
      <a:lt2>
        <a:srgbClr val="FBEFF1"/>
      </a:lt2>
      <a:accent1>
        <a:srgbClr val="B3203A"/>
      </a:accent1>
      <a:accent2>
        <a:srgbClr val="2A7F8E"/>
      </a:accent2>
      <a:accent3>
        <a:srgbClr val="E07A5F"/>
      </a:accent3>
      <a:accent4>
        <a:srgbClr val="F2B8C0"/>
      </a:accent4>
      <a:accent5>
        <a:srgbClr val="5C4B4F"/>
      </a:accent5>
      <a:accent6>
        <a:srgbClr val="3D8B5F"/>
      </a:accent6>
      <a:hlink>
        <a:srgbClr val="2A7F8E"/>
      </a:hlink>
      <a:folHlink>
        <a:srgbClr val="5C4B4F"/>
      </a:folHlink>
    </a:clrScheme>
    <a:fontScheme name="BloodBankCrims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Blood Bank Donation and Issue Management System - Review 1</dc:title>
  <dc:subject>PptxGenJS Presentation</dc:subject>
  <dc:creator>Andrew Devasani</dc:creator>
  <cp:lastModifiedBy>Andrew Devasani</cp:lastModifiedBy>
  <cp:revision>1</cp:revision>
  <dcterms:created xsi:type="dcterms:W3CDTF">2026-10-14T04:14:23Z</dcterms:created>
  <dcterms:modified xsi:type="dcterms:W3CDTF">2026-10-14T04:14:23Z</dcterms:modified>
</cp:coreProperties>
</file>